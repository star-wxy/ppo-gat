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22"/>
  </p:notesMasterIdLst>
  <p:sldIdLst>
    <p:sldId id="256" r:id="rId3"/>
    <p:sldId id="9520" r:id="rId4"/>
    <p:sldId id="9525" r:id="rId5"/>
    <p:sldId id="9296" r:id="rId6"/>
    <p:sldId id="9521" r:id="rId7"/>
    <p:sldId id="9372" r:id="rId8"/>
    <p:sldId id="9512" r:id="rId9"/>
    <p:sldId id="9435" r:id="rId10"/>
    <p:sldId id="9522" r:id="rId11"/>
    <p:sldId id="9198" r:id="rId12"/>
    <p:sldId id="9523" r:id="rId13"/>
    <p:sldId id="9498" r:id="rId14"/>
    <p:sldId id="9471" r:id="rId15"/>
    <p:sldId id="9472" r:id="rId16"/>
    <p:sldId id="9524" r:id="rId17"/>
    <p:sldId id="9439" r:id="rId18"/>
    <p:sldId id="9518" r:id="rId19"/>
    <p:sldId id="9519" r:id="rId20"/>
    <p:sldId id="277" r:id="rId21"/>
  </p:sldIdLst>
  <p:sldSz cx="12192000" cy="6858000"/>
  <p:notesSz cx="6797675" cy="9926638"/>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8" userDrawn="1">
          <p15:clr>
            <a:srgbClr val="A4A3A4"/>
          </p15:clr>
        </p15:guide>
        <p15:guide id="2" pos="2005" userDrawn="1">
          <p15:clr>
            <a:srgbClr val="A4A3A4"/>
          </p15:clr>
        </p15:guide>
        <p15:guide id="3" pos="413" userDrawn="1">
          <p15:clr>
            <a:srgbClr val="A4A3A4"/>
          </p15:clr>
        </p15:guide>
        <p15:guide id="4" pos="7526" userDrawn="1">
          <p15:clr>
            <a:srgbClr val="A4A3A4"/>
          </p15:clr>
        </p15:guide>
        <p15:guide id="5" orient="horz" pos="966" userDrawn="1">
          <p15:clr>
            <a:srgbClr val="A4A3A4"/>
          </p15:clr>
        </p15:guide>
        <p15:guide id="7" orient="horz" pos="1157" userDrawn="1">
          <p15:clr>
            <a:srgbClr val="A4A3A4"/>
          </p15:clr>
        </p15:guide>
        <p15:guide id="8" orient="horz" pos="228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hen Jian-Xin" initials="cjx" lastIdx="2" clrIdx="0"/>
  <p:cmAuthor id="1" name="guo xue" initials="gx" lastIdx="1" clrIdx="0"/>
  <p:cmAuthor id="2" name="王爱华" initials="w" lastIdx="3" clrIdx="1"/>
  <p:cmAuthor id="3" name="west" initials="w" lastIdx="1" clrIdx="2"/>
  <p:cmAuthor id="4" name="丰 诗朵" initials="丰" lastIdx="49" clrIdx="3"/>
  <p:cmAuthor id="5" name="彭 丹萍" initials="彭" lastIdx="2" clrIdx="4"/>
  <p:cmAuthor id="6" name="hanxu" initials="A" lastIdx="1" clrIdx="5"/>
  <p:cmAuthor id="7" name="LZW" initials="L" lastIdx="1" clrIdx="6"/>
  <p:cmAuthor id="8" name="姜伟光" initials="姜" lastIdx="1" clrIdx="0"/>
  <p:cmAuthor id="9" name="Lenovo" initials="L" lastIdx="2" clrIdx="8"/>
  <p:cmAuthor id="11" name="YangTing" initials="Y" lastIdx="3" clrIdx="10"/>
  <p:cmAuthor id="191251535" name="沈霄雷" initials="沈" lastIdx="833089" clrIdx="0"/>
  <p:cmAuthor id="191251536" name="SF" initials="S" lastIdx="6" clrIdx="11"/>
  <p:cmAuthor id="75" name="作者" initials="A" lastIdx="0" clrIdx="24"/>
  <p:cmAuthor id="191251537" name="sammi" initials="s" lastIdx="0" clrIdx="12"/>
  <p:cmAuthor id="76" name="丁冰冰" initials="丁冰冰" lastIdx="1" clrIdx="25"/>
  <p:cmAuthor id="191251538" name="zhangmh@httz.cc" initials="z" lastIdx="3" clrIdx="13"/>
  <p:cmAuthor id="191251539" name="wang" initials="wang" lastIdx="1" clrIdx="14"/>
  <p:cmAuthor id="191251540" name="Microsoft Office User" initials="MOU" lastIdx="1" clrIdx="15"/>
  <p:cmAuthor id="20" name="Z1520" initials="Z" lastIdx="1" clrIdx="19"/>
  <p:cmAuthor id="191251541" name="孙 笑庆" initials="孙" lastIdx="3" clrIdx="16"/>
  <p:cmAuthor id="191251542" name="yang.yuan" initials="y" lastIdx="0" clrIdx="1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558ED5"/>
    <a:srgbClr val="01135F"/>
    <a:srgbClr val="FFFFFF"/>
    <a:srgbClr val="C8ADCF"/>
    <a:srgbClr val="C759E3"/>
    <a:srgbClr val="E0A2EF"/>
    <a:srgbClr val="FFBDBD"/>
    <a:srgbClr val="003EAB"/>
    <a:srgbClr val="F17D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0F4F4-4B77-458D-85F1-1A7343E818DB}" styleName="{fb7de6f6-23be-4c27-bab1-75ee11fcb775}">
    <a:wholeTbl>
      <a:tcTxStyle>
        <a:fontRef idx="none">
          <a:prstClr val="black"/>
        </a:fontRef>
      </a:tcTxStyle>
      <a:tcStyle>
        <a:tcBdr>
          <a:left>
            <a:ln w="9525" cmpd="sng">
              <a:solidFill>
                <a:srgbClr val="859FCF"/>
              </a:solidFill>
            </a:ln>
          </a:left>
          <a:right>
            <a:ln w="9525" cmpd="sng">
              <a:solidFill>
                <a:srgbClr val="859FCF"/>
              </a:solidFill>
            </a:ln>
          </a:right>
          <a:top>
            <a:ln w="9525" cmpd="sng">
              <a:solidFill>
                <a:srgbClr val="859FCF"/>
              </a:solidFill>
            </a:ln>
          </a:top>
          <a:bottom>
            <a:ln w="9525" cmpd="sng">
              <a:solidFill>
                <a:srgbClr val="859FCF"/>
              </a:solidFill>
            </a:ln>
          </a:bottom>
          <a:insideV>
            <a:ln w="9525" cmpd="sng">
              <a:solidFill>
                <a:srgbClr val="859FCF"/>
              </a:solidFill>
            </a:ln>
          </a:insideV>
        </a:tcBdr>
        <a:fill>
          <a:solidFill>
            <a:srgbClr val="F3F3F3"/>
          </a:solidFill>
        </a:fill>
      </a:tcStyle>
    </a:wholeTbl>
    <a:firstCol>
      <a:tcTxStyle>
        <a:fontRef idx="none">
          <a:prstClr val="black"/>
        </a:fontRef>
      </a:tcTxStyle>
      <a:tcStyle>
        <a:tcBdr>
          <a:left>
            <a:ln w="9525" cmpd="sng">
              <a:solidFill>
                <a:srgbClr val="FFFFFF"/>
              </a:solidFill>
            </a:ln>
          </a:left>
          <a:top>
            <a:ln w="9525" cmpd="sng">
              <a:solidFill>
                <a:srgbClr val="FFFFFF"/>
              </a:solidFill>
            </a:ln>
          </a:top>
          <a:bottom>
            <a:ln w="9525" cmpd="sng">
              <a:solidFill>
                <a:srgbClr val="FFFFFF"/>
              </a:solidFill>
            </a:ln>
          </a:bottom>
          <a:insideH>
            <a:ln w="9525" cmpd="sng">
              <a:solidFill>
                <a:srgbClr val="FFFFFF"/>
              </a:solidFill>
            </a:ln>
          </a:insideH>
          <a:insideV>
            <a:ln w="9525" cmpd="sng">
              <a:solidFill>
                <a:srgbClr val="FFFFFF"/>
              </a:solidFill>
            </a:ln>
          </a:insideV>
        </a:tcBdr>
        <a:fill>
          <a:solidFill>
            <a:srgbClr val="E1E8F4"/>
          </a:solidFill>
        </a:fill>
      </a:tcStyle>
    </a:firstCol>
    <a:firstRow>
      <a:tcTxStyle>
        <a:fontRef idx="none">
          <a:prstClr val="black"/>
        </a:fontRef>
      </a:tcTxStyle>
      <a:tcStyle>
        <a:tcBdr>
          <a:bottom>
            <a:ln w="28575" cmpd="sng">
              <a:solidFill>
                <a:srgbClr val="FFFFFF"/>
              </a:solidFill>
            </a:ln>
          </a:bottom>
        </a:tcBdr>
        <a:fill>
          <a:solidFill>
            <a:srgbClr val="ABBCDE"/>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93438" autoAdjust="0"/>
  </p:normalViewPr>
  <p:slideViewPr>
    <p:cSldViewPr snapToGrid="0" showGuides="1">
      <p:cViewPr varScale="1">
        <p:scale>
          <a:sx n="69" d="100"/>
          <a:sy n="69" d="100"/>
        </p:scale>
        <p:origin x="560" y="52"/>
      </p:cViewPr>
      <p:guideLst>
        <p:guide orient="horz" pos="3468"/>
        <p:guide pos="2005"/>
        <p:guide pos="413"/>
        <p:guide pos="7526"/>
        <p:guide orient="horz" pos="966"/>
        <p:guide orient="horz" pos="1157"/>
        <p:guide orient="horz" pos="2283"/>
      </p:guideLst>
    </p:cSldViewPr>
  </p:slideViewPr>
  <p:notesTextViewPr>
    <p:cViewPr>
      <p:scale>
        <a:sx n="1" d="1"/>
        <a:sy n="1" d="1"/>
      </p:scale>
      <p:origin x="0" y="0"/>
    </p:cViewPr>
  </p:notesTextViewPr>
  <p:sorterViewPr>
    <p:cViewPr>
      <p:scale>
        <a:sx n="200" d="100"/>
        <a:sy n="200" d="100"/>
      </p:scale>
      <p:origin x="0" y="-44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2945659" cy="498056"/>
          </a:xfrm>
          <a:prstGeom prst="rect">
            <a:avLst/>
          </a:prstGeom>
        </p:spPr>
        <p:txBody>
          <a:bodyPr vert="horz" lIns="95551" tIns="47775" rIns="95551" bIns="47775" rtlCol="0"/>
          <a:lstStyle>
            <a:lvl1pPr algn="l">
              <a:defRPr sz="1200"/>
            </a:lvl1pPr>
          </a:lstStyle>
          <a:p>
            <a:endParaRPr lang="zh-CN" altLang="en-US"/>
          </a:p>
        </p:txBody>
      </p:sp>
      <p:sp>
        <p:nvSpPr>
          <p:cNvPr id="3" name="日期占位符 2"/>
          <p:cNvSpPr>
            <a:spLocks noGrp="1"/>
          </p:cNvSpPr>
          <p:nvPr>
            <p:ph type="dt" idx="1"/>
          </p:nvPr>
        </p:nvSpPr>
        <p:spPr>
          <a:xfrm>
            <a:off x="3850444" y="0"/>
            <a:ext cx="2945659" cy="498056"/>
          </a:xfrm>
          <a:prstGeom prst="rect">
            <a:avLst/>
          </a:prstGeom>
        </p:spPr>
        <p:txBody>
          <a:bodyPr vert="horz" lIns="95551" tIns="47775" rIns="95551" bIns="47775" rtlCol="0"/>
          <a:lstStyle>
            <a:lvl1pPr algn="r">
              <a:defRPr sz="1200"/>
            </a:lvl1pPr>
          </a:lstStyle>
          <a:p>
            <a:fld id="{411936A4-AD29-47F0-9F4B-251BAF7AC7C6}" type="datetimeFigureOut">
              <a:rPr lang="zh-CN" altLang="en-US" smtClean="0"/>
              <a:t>2026/5/28</a:t>
            </a:fld>
            <a:endParaRPr lang="zh-CN" altLang="en-US"/>
          </a:p>
        </p:txBody>
      </p:sp>
      <p:sp>
        <p:nvSpPr>
          <p:cNvPr id="4" name="幻灯片图像占位符 3"/>
          <p:cNvSpPr>
            <a:spLocks noGrp="1" noRot="1" noChangeAspect="1"/>
          </p:cNvSpPr>
          <p:nvPr>
            <p:ph type="sldImg" idx="2"/>
          </p:nvPr>
        </p:nvSpPr>
        <p:spPr>
          <a:xfrm>
            <a:off x="420688" y="1239838"/>
            <a:ext cx="5956300" cy="3351212"/>
          </a:xfrm>
          <a:prstGeom prst="rect">
            <a:avLst/>
          </a:prstGeom>
          <a:noFill/>
          <a:ln w="12700">
            <a:solidFill>
              <a:prstClr val="black"/>
            </a:solidFill>
          </a:ln>
        </p:spPr>
        <p:txBody>
          <a:bodyPr vert="horz" lIns="95551" tIns="47775" rIns="95551" bIns="47775" rtlCol="0" anchor="ctr"/>
          <a:lstStyle/>
          <a:p>
            <a:endParaRPr lang="zh-CN" altLang="en-US"/>
          </a:p>
        </p:txBody>
      </p:sp>
      <p:sp>
        <p:nvSpPr>
          <p:cNvPr id="5" name="备注占位符 4"/>
          <p:cNvSpPr>
            <a:spLocks noGrp="1"/>
          </p:cNvSpPr>
          <p:nvPr>
            <p:ph type="body" sz="quarter" idx="3"/>
          </p:nvPr>
        </p:nvSpPr>
        <p:spPr>
          <a:xfrm>
            <a:off x="679768" y="4777195"/>
            <a:ext cx="5438140" cy="3908614"/>
          </a:xfrm>
          <a:prstGeom prst="rect">
            <a:avLst/>
          </a:prstGeom>
        </p:spPr>
        <p:txBody>
          <a:bodyPr vert="horz" lIns="95551" tIns="47775" rIns="95551" bIns="47775"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9428584"/>
            <a:ext cx="2945659" cy="498055"/>
          </a:xfrm>
          <a:prstGeom prst="rect">
            <a:avLst/>
          </a:prstGeom>
        </p:spPr>
        <p:txBody>
          <a:bodyPr vert="horz" lIns="95551" tIns="47775" rIns="95551" bIns="47775"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4" y="9428584"/>
            <a:ext cx="2945659" cy="498055"/>
          </a:xfrm>
          <a:prstGeom prst="rect">
            <a:avLst/>
          </a:prstGeom>
        </p:spPr>
        <p:txBody>
          <a:bodyPr vert="horz" lIns="95551" tIns="47775" rIns="95551" bIns="47775" rtlCol="0" anchor="b"/>
          <a:lstStyle>
            <a:lvl1pPr algn="r">
              <a:defRPr sz="1200"/>
            </a:lvl1pPr>
          </a:lstStyle>
          <a:p>
            <a:fld id="{F8BECD71-E7F2-4898-AEFF-D061316D44F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52EED7-8DBB-4AE6-8CEF-CC632BE0575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BECD71-E7F2-4898-AEFF-D061316D44F1}" type="slidenum">
              <a:rPr lang="zh-CN" altLang="en-US" smtClean="0"/>
              <a:t>2</a:t>
            </a:fld>
            <a:endParaRPr lang="zh-CN" altLang="en-US"/>
          </a:p>
        </p:txBody>
      </p:sp>
    </p:spTree>
    <p:extLst>
      <p:ext uri="{BB962C8B-B14F-4D97-AF65-F5344CB8AC3E}">
        <p14:creationId xmlns:p14="http://schemas.microsoft.com/office/powerpoint/2010/main" val="3005509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52EED7-8DBB-4AE6-8CEF-CC632BE057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52EED7-8DBB-4AE6-8CEF-CC632BE057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52EED7-8DBB-4AE6-8CEF-CC632BE05753}"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52EED7-8DBB-4AE6-8CEF-CC632BE05753}"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52EED7-8DBB-4AE6-8CEF-CC632BE05753}"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52EED7-8DBB-4AE6-8CEF-CC632BE05753}" type="slidenum">
              <a:rPr lang="zh-CN" altLang="en-US" smtClean="0"/>
              <a:t>10</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52EED7-8DBB-4AE6-8CEF-CC632BE05753}" type="slidenum">
              <a:rPr lang="zh-CN" altLang="en-US" smtClean="0"/>
              <a:t>12</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单智能体强化学习在</a:t>
            </a:r>
            <a:r>
              <a:rPr lang="zh-CN" altLang="en-US" sz="1200" dirty="0">
                <a:solidFill>
                  <a:srgbClr val="FF0000"/>
                </a:solidFill>
              </a:rPr>
              <a:t>小规模</a:t>
            </a:r>
            <a:r>
              <a:rPr lang="zh-CN" altLang="en-US" sz="1200" dirty="0"/>
              <a:t>的系统中有明显效果，但对于规模较大的集群机器人，动作空间会随着机器人数量的增长而呈指数级增长，因此通过</a:t>
            </a:r>
            <a:r>
              <a:rPr lang="zh-CN" altLang="en-US" sz="1200" dirty="0">
                <a:solidFill>
                  <a:srgbClr val="FF0000"/>
                </a:solidFill>
              </a:rPr>
              <a:t>与图神经网络结合</a:t>
            </a:r>
            <a:r>
              <a:rPr lang="zh-CN" altLang="en-US" sz="1200" dirty="0"/>
              <a:t>的方式，单智能体强化学习这一方法或许也能够应用在集群机器人这一场景上。</a:t>
            </a:r>
            <a:r>
              <a:rPr lang="zh-CN" altLang="en-US" sz="1200" b="0" i="0" kern="1200" dirty="0">
                <a:solidFill>
                  <a:schemeClr val="tx1"/>
                </a:solidFill>
                <a:effectLst/>
                <a:latin typeface="+mn-lt"/>
                <a:ea typeface="+mn-ea"/>
                <a:cs typeface="+mn-cs"/>
              </a:rPr>
              <a:t>观察架构图，首先</a:t>
            </a:r>
            <a:r>
              <a:rPr lang="en-US" altLang="zh-CN" sz="1200" b="0" i="0" kern="1200" dirty="0">
                <a:solidFill>
                  <a:schemeClr val="tx1"/>
                </a:solidFill>
                <a:effectLst/>
                <a:latin typeface="+mn-lt"/>
                <a:ea typeface="+mn-ea"/>
                <a:cs typeface="+mn-cs"/>
              </a:rPr>
              <a:t>Actor</a:t>
            </a:r>
            <a:r>
              <a:rPr lang="zh-CN" altLang="en-US" sz="1200" b="0" i="0" kern="1200" dirty="0">
                <a:solidFill>
                  <a:schemeClr val="tx1"/>
                </a:solidFill>
                <a:effectLst/>
                <a:latin typeface="+mn-lt"/>
                <a:ea typeface="+mn-ea"/>
                <a:cs typeface="+mn-cs"/>
              </a:rPr>
              <a:t>网络与环境进行交互，并根据当前状态</a:t>
            </a:r>
            <a:r>
              <a:rPr lang="en-US" altLang="zh-CN" sz="1200" b="0" i="0" kern="1200" dirty="0">
                <a:solidFill>
                  <a:schemeClr val="tx1"/>
                </a:solidFill>
                <a:effectLst/>
                <a:latin typeface="+mn-lt"/>
                <a:ea typeface="+mn-ea"/>
                <a:cs typeface="+mn-cs"/>
              </a:rPr>
              <a:t>S</a:t>
            </a:r>
            <a:r>
              <a:rPr lang="zh-CN" altLang="en-US" sz="1200" b="0" i="0" kern="1200" dirty="0">
                <a:solidFill>
                  <a:schemeClr val="tx1"/>
                </a:solidFill>
                <a:effectLst/>
                <a:latin typeface="+mn-lt"/>
                <a:ea typeface="+mn-ea"/>
                <a:cs typeface="+mn-cs"/>
              </a:rPr>
              <a:t>，按照策略函数选择下一个动作，得到及时奖励与下一个状态；然后</a:t>
            </a:r>
            <a:r>
              <a:rPr lang="en-US" altLang="zh-CN" sz="1200" b="0" i="0" kern="1200" dirty="0">
                <a:solidFill>
                  <a:schemeClr val="tx1"/>
                </a:solidFill>
                <a:effectLst/>
                <a:latin typeface="+mn-lt"/>
                <a:ea typeface="+mn-ea"/>
                <a:cs typeface="+mn-cs"/>
              </a:rPr>
              <a:t>Critic</a:t>
            </a:r>
            <a:r>
              <a:rPr lang="zh-CN" altLang="en-US" sz="1200" b="0" i="0" kern="1200" dirty="0">
                <a:solidFill>
                  <a:schemeClr val="tx1"/>
                </a:solidFill>
                <a:effectLst/>
                <a:latin typeface="+mn-lt"/>
                <a:ea typeface="+mn-ea"/>
                <a:cs typeface="+mn-cs"/>
              </a:rPr>
              <a:t>网络，计算当前状态的价值  和下一个状态的价值  ，并根据及时奖励</a:t>
            </a:r>
            <a:r>
              <a:rPr lang="en-US" altLang="zh-CN" sz="1200" b="0" i="0" kern="1200" dirty="0">
                <a:solidFill>
                  <a:schemeClr val="tx1"/>
                </a:solidFill>
                <a:effectLst/>
                <a:latin typeface="+mn-lt"/>
                <a:ea typeface="+mn-ea"/>
                <a:cs typeface="+mn-cs"/>
              </a:rPr>
              <a:t>R(t)</a:t>
            </a:r>
            <a:r>
              <a:rPr lang="zh-CN" altLang="en-US" sz="1200" b="0" i="0" kern="1200" dirty="0">
                <a:solidFill>
                  <a:schemeClr val="tx1"/>
                </a:solidFill>
                <a:effectLst/>
                <a:latin typeface="+mn-lt"/>
                <a:ea typeface="+mn-ea"/>
                <a:cs typeface="+mn-cs"/>
              </a:rPr>
              <a:t>，得到</a:t>
            </a:r>
            <a:r>
              <a:rPr lang="en-US" altLang="zh-CN" sz="1200" b="0" i="0" kern="1200" dirty="0">
                <a:solidFill>
                  <a:schemeClr val="tx1"/>
                </a:solidFill>
                <a:effectLst/>
                <a:latin typeface="+mn-lt"/>
                <a:ea typeface="+mn-ea"/>
                <a:cs typeface="+mn-cs"/>
              </a:rPr>
              <a:t>TD</a:t>
            </a:r>
            <a:r>
              <a:rPr lang="zh-CN" altLang="en-US" sz="1200" b="0" i="0" kern="1200" dirty="0">
                <a:solidFill>
                  <a:schemeClr val="tx1"/>
                </a:solidFill>
                <a:effectLst/>
                <a:latin typeface="+mn-lt"/>
                <a:ea typeface="+mn-ea"/>
                <a:cs typeface="+mn-cs"/>
              </a:rPr>
              <a:t>误差，调整自身网络权重。</a:t>
            </a:r>
            <a:endParaRPr lang="zh-CN" altLang="en-US" sz="1200" dirty="0"/>
          </a:p>
          <a:p>
            <a:endParaRPr lang="zh-CN" altLang="en-US" dirty="0"/>
          </a:p>
        </p:txBody>
      </p:sp>
      <p:sp>
        <p:nvSpPr>
          <p:cNvPr id="4" name="灯片编号占位符 3"/>
          <p:cNvSpPr>
            <a:spLocks noGrp="1"/>
          </p:cNvSpPr>
          <p:nvPr>
            <p:ph type="sldNum" sz="quarter" idx="10"/>
          </p:nvPr>
        </p:nvSpPr>
        <p:spPr/>
        <p:txBody>
          <a:bodyPr/>
          <a:lstStyle/>
          <a:p>
            <a:fld id="{F152EED7-8DBB-4AE6-8CEF-CC632BE05753}" type="slidenum">
              <a:rPr lang="zh-CN" altLang="en-US" smtClean="0"/>
              <a:t>13</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52EED7-8DBB-4AE6-8CEF-CC632BE05753}" type="slidenum">
              <a:rPr lang="zh-CN" altLang="en-US" smtClean="0"/>
              <a:t>14</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BECD71-E7F2-4898-AEFF-D061316D44F1}" type="slidenum">
              <a:rPr lang="zh-CN" altLang="en-US" smtClean="0"/>
              <a:t>19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9D5E6E7-6606-41C9-9F36-28FF0CB112B4}"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9D5E6E7-6606-41C9-9F36-28FF0CB112B4}" type="slidenum">
              <a:rPr lang="zh-CN" altLang="en-US" smtClean="0">
                <a:solidFill>
                  <a:prstClr val="black">
                    <a:tint val="75000"/>
                  </a:prstClr>
                </a:solidFill>
              </a:rPr>
              <a:t>‹#›</a:t>
            </a:fld>
            <a:endParaRPr lang="zh-CN" altLang="en-US">
              <a:solidFill>
                <a:prstClr val="black">
                  <a:tint val="75000"/>
                </a:prstClr>
              </a:solidFill>
            </a:endParaRPr>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7657" y="122508"/>
            <a:ext cx="2131666" cy="449801"/>
          </a:xfrm>
          <a:prstGeom prst="rect">
            <a:avLst/>
          </a:prstGeom>
        </p:spPr>
      </p:pic>
      <p:sp>
        <p:nvSpPr>
          <p:cNvPr id="10" name="矩形 9"/>
          <p:cNvSpPr/>
          <p:nvPr userDrawn="1"/>
        </p:nvSpPr>
        <p:spPr>
          <a:xfrm>
            <a:off x="335280" y="659978"/>
            <a:ext cx="8542020"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8877300" y="659978"/>
            <a:ext cx="310896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9D5E6E7-6606-41C9-9F36-28FF0CB112B4}" type="slidenum">
              <a:rPr lang="zh-CN" altLang="en-US" smtClean="0">
                <a:solidFill>
                  <a:prstClr val="black">
                    <a:tint val="75000"/>
                  </a:prstClr>
                </a:solidFill>
              </a:rPr>
              <a:t>‹#›</a:t>
            </a:fld>
            <a:endParaRPr lang="zh-CN" altLang="en-US">
              <a:solidFill>
                <a:prstClr val="black">
                  <a:tint val="75000"/>
                </a:prstClr>
              </a:solidFill>
            </a:endParaRPr>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7657" y="122508"/>
            <a:ext cx="2131666" cy="449801"/>
          </a:xfrm>
          <a:prstGeom prst="rect">
            <a:avLst/>
          </a:prstGeom>
        </p:spPr>
      </p:pic>
      <p:sp>
        <p:nvSpPr>
          <p:cNvPr id="10" name="矩形 9"/>
          <p:cNvSpPr/>
          <p:nvPr userDrawn="1"/>
        </p:nvSpPr>
        <p:spPr>
          <a:xfrm>
            <a:off x="335280" y="659978"/>
            <a:ext cx="8542020"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8877300" y="659978"/>
            <a:ext cx="310896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9D5E6E7-6606-41C9-9F36-28FF0CB112B4}"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99D5E6E7-6606-41C9-9F36-28FF0CB112B4}"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99D5E6E7-6606-41C9-9F36-28FF0CB112B4}" type="slidenum">
              <a:rPr lang="zh-CN" altLang="en-US" smtClean="0">
                <a:solidFill>
                  <a:prstClr val="black">
                    <a:tint val="75000"/>
                  </a:prstClr>
                </a:solidFill>
              </a:rPr>
              <a:t>‹#›</a:t>
            </a:fld>
            <a:endParaRPr lang="zh-CN" altLang="en-US">
              <a:solidFill>
                <a:prstClr val="black">
                  <a:tint val="75000"/>
                </a:prstClr>
              </a:solidFill>
            </a:endParaRPr>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7657" y="122508"/>
            <a:ext cx="2131666" cy="449801"/>
          </a:xfrm>
          <a:prstGeom prst="rect">
            <a:avLst/>
          </a:prstGeom>
        </p:spPr>
      </p:pic>
      <p:sp>
        <p:nvSpPr>
          <p:cNvPr id="9" name="矩形 8"/>
          <p:cNvSpPr/>
          <p:nvPr userDrawn="1"/>
        </p:nvSpPr>
        <p:spPr>
          <a:xfrm>
            <a:off x="335280" y="659978"/>
            <a:ext cx="8542020"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8877300" y="659978"/>
            <a:ext cx="310896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99D5E6E7-6606-41C9-9F36-28FF0CB112B4}"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9D5E6E7-6606-41C9-9F36-28FF0CB112B4}"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9D5E6E7-6606-41C9-9F36-28FF0CB112B4}"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9D5E6E7-6606-41C9-9F36-28FF0CB112B4}"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9D5E6E7-6606-41C9-9F36-28FF0CB112B4}" type="slidenum">
              <a:rPr lang="zh-CN" altLang="en-US" smtClean="0">
                <a:solidFill>
                  <a:prstClr val="black">
                    <a:tint val="75000"/>
                  </a:prstClr>
                </a:solidFill>
              </a:rPr>
              <a:t>‹#›</a:t>
            </a:fld>
            <a:endParaRPr lang="zh-CN" altLang="en-US">
              <a:solidFill>
                <a:prstClr val="black">
                  <a:tint val="75000"/>
                </a:prstClr>
              </a:solidFill>
            </a:endParaRPr>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7657" y="122508"/>
            <a:ext cx="2131666" cy="449801"/>
          </a:xfrm>
          <a:prstGeom prst="rect">
            <a:avLst/>
          </a:prstGeom>
        </p:spPr>
      </p:pic>
      <p:sp>
        <p:nvSpPr>
          <p:cNvPr id="10" name="矩形 9"/>
          <p:cNvSpPr/>
          <p:nvPr userDrawn="1"/>
        </p:nvSpPr>
        <p:spPr>
          <a:xfrm>
            <a:off x="335280" y="659978"/>
            <a:ext cx="8542020"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8877300" y="659978"/>
            <a:ext cx="310896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正文-蓝色">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矩形 8"/>
          <p:cNvSpPr/>
          <p:nvPr userDrawn="1"/>
        </p:nvSpPr>
        <p:spPr>
          <a:xfrm>
            <a:off x="4597" y="6531430"/>
            <a:ext cx="12192000" cy="351621"/>
          </a:xfrm>
          <a:prstGeom prst="rect">
            <a:avLst/>
          </a:prstGeom>
          <a:gradFill>
            <a:gsLst>
              <a:gs pos="0">
                <a:schemeClr val="bg1"/>
              </a:gs>
              <a:gs pos="60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endParaRPr>
          </a:p>
        </p:txBody>
      </p:sp>
      <p:sp>
        <p:nvSpPr>
          <p:cNvPr id="13" name="灯片编号占位符 5"/>
          <p:cNvSpPr txBox="1"/>
          <p:nvPr userDrawn="1"/>
        </p:nvSpPr>
        <p:spPr>
          <a:xfrm>
            <a:off x="8976320" y="6492876"/>
            <a:ext cx="2844800" cy="365125"/>
          </a:xfrm>
          <a:prstGeom prst="rect">
            <a:avLst/>
          </a:prstGeom>
        </p:spPr>
        <p:txBody>
          <a:bodyPr vert="horz" lIns="121920" tIns="60960" rIns="121920" bIns="60960" rtlCol="0" anchor="ctr"/>
          <a:lstStyle>
            <a:defPPr>
              <a:defRPr lang="zh-CN"/>
            </a:defPPr>
            <a:lvl1pPr marL="0" algn="r"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z="1600" smtClean="0">
                <a:solidFill>
                  <a:prstClr val="black"/>
                </a:solidFill>
              </a:rPr>
              <a:t>‹#›</a:t>
            </a:fld>
            <a:endParaRPr lang="zh-CN" altLang="en-US" sz="1600">
              <a:solidFill>
                <a:prstClr val="black"/>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正文-横线">
    <p:spTree>
      <p:nvGrpSpPr>
        <p:cNvPr id="1" name=""/>
        <p:cNvGrpSpPr/>
        <p:nvPr/>
      </p:nvGrpSpPr>
      <p:grpSpPr>
        <a:xfrm>
          <a:off x="0" y="0"/>
          <a:ext cx="0" cy="0"/>
          <a:chOff x="0" y="0"/>
          <a:chExt cx="0" cy="0"/>
        </a:xfrm>
      </p:grpSpPr>
      <p:sp>
        <p:nvSpPr>
          <p:cNvPr id="2" name="矩形 1"/>
          <p:cNvSpPr/>
          <p:nvPr userDrawn="1"/>
        </p:nvSpPr>
        <p:spPr>
          <a:xfrm>
            <a:off x="11135784" y="765176"/>
            <a:ext cx="1056216" cy="3603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prstClr val="white"/>
              </a:solidFill>
            </a:endParaRPr>
          </a:p>
        </p:txBody>
      </p:sp>
      <p:sp>
        <p:nvSpPr>
          <p:cNvPr id="7" name="灯片编号占位符 5"/>
          <p:cNvSpPr txBox="1"/>
          <p:nvPr userDrawn="1"/>
        </p:nvSpPr>
        <p:spPr>
          <a:xfrm>
            <a:off x="8976784" y="6325236"/>
            <a:ext cx="2844800" cy="365125"/>
          </a:xfrm>
          <a:prstGeom prst="rect">
            <a:avLst/>
          </a:prstGeom>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defRPr/>
            </a:pPr>
            <a:fld id="{D52B4D88-2064-4694-B9F9-F11060783EB9}" type="slidenum">
              <a:rPr lang="zh-CN" altLang="en-US" sz="1600" smtClean="0">
                <a:solidFill>
                  <a:srgbClr val="000000"/>
                </a:solidFill>
                <a:latin typeface="微软雅黑" panose="020B0503020204020204" pitchFamily="34" charset="-122"/>
                <a:ea typeface="微软雅黑" panose="020B0503020204020204" pitchFamily="34" charset="-122"/>
              </a:rPr>
              <a:t>‹#›</a:t>
            </a:fld>
            <a:endParaRPr lang="zh-CN" altLang="en-US" sz="1600">
              <a:solidFill>
                <a:srgbClr val="000000"/>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7657" y="122508"/>
            <a:ext cx="2131666" cy="449801"/>
          </a:xfrm>
          <a:prstGeom prst="rect">
            <a:avLst/>
          </a:prstGeom>
        </p:spPr>
      </p:pic>
      <p:sp>
        <p:nvSpPr>
          <p:cNvPr id="5" name="矩形 4"/>
          <p:cNvSpPr/>
          <p:nvPr userDrawn="1"/>
        </p:nvSpPr>
        <p:spPr>
          <a:xfrm>
            <a:off x="335280" y="659978"/>
            <a:ext cx="8542020"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8877300" y="659978"/>
            <a:ext cx="310896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封底-蓝色">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标题占位符 1"/>
          <p:cNvSpPr>
            <a:spLocks noGrp="1"/>
          </p:cNvSpPr>
          <p:nvPr>
            <p:ph type="title"/>
          </p:nvPr>
        </p:nvSpPr>
        <p:spPr>
          <a:xfrm>
            <a:off x="318700" y="158750"/>
            <a:ext cx="9347835" cy="445770"/>
          </a:xfrm>
          <a:prstGeom prst="rect">
            <a:avLst/>
          </a:prstGeom>
        </p:spPr>
        <p:txBody>
          <a:bodyPr vert="horz" lIns="0" tIns="0" rIns="0" bIns="0" rtlCol="0" anchor="ctr">
            <a:normAutofit/>
          </a:bodyPr>
          <a:lstStyle>
            <a:lvl1pPr>
              <a:defRPr sz="2600"/>
            </a:lvl1pPr>
          </a:lstStyle>
          <a:p>
            <a:r>
              <a:rPr lang="zh-CN" altLang="en-US" dirty="0"/>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93700" y="330200"/>
            <a:ext cx="8775700" cy="427037"/>
          </a:xfrm>
          <a:prstGeom prst="rect">
            <a:avLst/>
          </a:prstGeom>
        </p:spPr>
        <p:txBody>
          <a:bodyPr/>
          <a:lstStyle>
            <a:lvl1pPr>
              <a:defRPr sz="2400" b="1">
                <a:solidFill>
                  <a:schemeClr val="accent1"/>
                </a:solidFill>
              </a:defRPr>
            </a:lvl1pPr>
          </a:lstStyle>
          <a:p>
            <a:r>
              <a:rPr lang="zh-CN" altLang="en-US"/>
              <a:t>单击此处编辑母版标题样式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6" name="文本框 9"/>
          <p:cNvSpPr txBox="1">
            <a:spLocks noChangeArrowheads="1"/>
          </p:cNvSpPr>
          <p:nvPr userDrawn="1"/>
        </p:nvSpPr>
        <p:spPr bwMode="auto">
          <a:xfrm>
            <a:off x="2386895" y="2311868"/>
            <a:ext cx="6754812" cy="830262"/>
          </a:xfrm>
          <a:prstGeom prst="rect">
            <a:avLst/>
          </a:prstGeom>
          <a:noFill/>
          <a:ln>
            <a:noFill/>
          </a:ln>
        </p:spPr>
        <p:txBody>
          <a:bodyPr>
            <a:spAutoFit/>
          </a:bodyPr>
          <a:lstStyle>
            <a:lvl1pPr>
              <a:spcBef>
                <a:spcPct val="20000"/>
              </a:spcBef>
              <a:buChar char="•"/>
              <a:defRPr sz="3800">
                <a:solidFill>
                  <a:schemeClr val="tx1"/>
                </a:solidFill>
                <a:latin typeface="Kaiti SC" charset="-122"/>
                <a:ea typeface="Kaiti SC" charset="-122"/>
              </a:defRPr>
            </a:lvl1pPr>
            <a:lvl2pPr marL="881380" indent="-336550">
              <a:spcBef>
                <a:spcPct val="20000"/>
              </a:spcBef>
              <a:buChar char="–"/>
              <a:defRPr sz="3300">
                <a:solidFill>
                  <a:schemeClr val="tx1"/>
                </a:solidFill>
                <a:latin typeface="Kaiti SC" charset="-122"/>
                <a:ea typeface="Kaiti SC" charset="-122"/>
              </a:defRPr>
            </a:lvl2pPr>
            <a:lvl3pPr marL="1357630" indent="-268605">
              <a:spcBef>
                <a:spcPct val="20000"/>
              </a:spcBef>
              <a:buChar char="•"/>
              <a:defRPr sz="3300">
                <a:solidFill>
                  <a:schemeClr val="tx1"/>
                </a:solidFill>
                <a:latin typeface="Kaiti SC" charset="-122"/>
                <a:ea typeface="Kaiti SC" charset="-122"/>
              </a:defRPr>
            </a:lvl3pPr>
            <a:lvl4pPr marL="1901825" indent="-268605">
              <a:spcBef>
                <a:spcPct val="20000"/>
              </a:spcBef>
              <a:buChar char="–"/>
              <a:defRPr sz="2300">
                <a:solidFill>
                  <a:schemeClr val="tx1"/>
                </a:solidFill>
                <a:latin typeface="Kaiti SC" charset="-122"/>
                <a:ea typeface="Kaiti SC" charset="-122"/>
              </a:defRPr>
            </a:lvl4pPr>
            <a:lvl5pPr marL="2446655" indent="-268605">
              <a:spcBef>
                <a:spcPct val="20000"/>
              </a:spcBef>
              <a:buChar char="»"/>
              <a:defRPr sz="2300">
                <a:solidFill>
                  <a:schemeClr val="tx1"/>
                </a:solidFill>
                <a:latin typeface="Kaiti SC" charset="-122"/>
                <a:ea typeface="Kaiti SC" charset="-122"/>
              </a:defRPr>
            </a:lvl5pPr>
            <a:lvl6pPr marL="2903855" indent="-268605" eaLnBrk="0" fontAlgn="base" hangingPunct="0">
              <a:spcBef>
                <a:spcPct val="20000"/>
              </a:spcBef>
              <a:spcAft>
                <a:spcPct val="0"/>
              </a:spcAft>
              <a:buChar char="»"/>
              <a:defRPr sz="2300">
                <a:solidFill>
                  <a:schemeClr val="tx1"/>
                </a:solidFill>
                <a:latin typeface="Kaiti SC" charset="-122"/>
                <a:ea typeface="Kaiti SC" charset="-122"/>
              </a:defRPr>
            </a:lvl6pPr>
            <a:lvl7pPr marL="3361055" indent="-268605" eaLnBrk="0" fontAlgn="base" hangingPunct="0">
              <a:spcBef>
                <a:spcPct val="20000"/>
              </a:spcBef>
              <a:spcAft>
                <a:spcPct val="0"/>
              </a:spcAft>
              <a:buChar char="»"/>
              <a:defRPr sz="2300">
                <a:solidFill>
                  <a:schemeClr val="tx1"/>
                </a:solidFill>
                <a:latin typeface="Kaiti SC" charset="-122"/>
                <a:ea typeface="Kaiti SC" charset="-122"/>
              </a:defRPr>
            </a:lvl7pPr>
            <a:lvl8pPr marL="3818255" indent="-268605" eaLnBrk="0" fontAlgn="base" hangingPunct="0">
              <a:spcBef>
                <a:spcPct val="20000"/>
              </a:spcBef>
              <a:spcAft>
                <a:spcPct val="0"/>
              </a:spcAft>
              <a:buChar char="»"/>
              <a:defRPr sz="2300">
                <a:solidFill>
                  <a:schemeClr val="tx1"/>
                </a:solidFill>
                <a:latin typeface="Kaiti SC" charset="-122"/>
                <a:ea typeface="Kaiti SC" charset="-122"/>
              </a:defRPr>
            </a:lvl8pPr>
            <a:lvl9pPr marL="4275455" indent="-268605" eaLnBrk="0" fontAlgn="base" hangingPunct="0">
              <a:spcBef>
                <a:spcPct val="20000"/>
              </a:spcBef>
              <a:spcAft>
                <a:spcPct val="0"/>
              </a:spcAft>
              <a:buChar char="»"/>
              <a:defRPr sz="2300">
                <a:solidFill>
                  <a:schemeClr val="tx1"/>
                </a:solidFill>
                <a:latin typeface="Kaiti SC" charset="-122"/>
                <a:ea typeface="Kaiti SC" charset="-122"/>
              </a:defRPr>
            </a:lvl9pPr>
          </a:lstStyle>
          <a:p>
            <a:pPr algn="ctr">
              <a:spcBef>
                <a:spcPct val="0"/>
              </a:spcBef>
              <a:buFontTx/>
              <a:buNone/>
            </a:pPr>
            <a:r>
              <a:rPr lang="zh-CN" altLang="en-US" sz="4800" b="1" dirty="0">
                <a:solidFill>
                  <a:srgbClr val="002060"/>
                </a:solidFill>
                <a:latin typeface="微软雅黑" panose="020B0503020204020204" pitchFamily="34" charset="-122"/>
                <a:ea typeface="微软雅黑" panose="020B0503020204020204" pitchFamily="34" charset="-122"/>
              </a:rPr>
              <a:t>感谢观看</a:t>
            </a:r>
          </a:p>
        </p:txBody>
      </p:sp>
      <p:sp>
        <p:nvSpPr>
          <p:cNvPr id="7" name="文本框 9"/>
          <p:cNvSpPr txBox="1">
            <a:spLocks noChangeArrowheads="1"/>
          </p:cNvSpPr>
          <p:nvPr userDrawn="1"/>
        </p:nvSpPr>
        <p:spPr bwMode="auto">
          <a:xfrm>
            <a:off x="2553307" y="3114677"/>
            <a:ext cx="64113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800">
                <a:solidFill>
                  <a:schemeClr val="tx1"/>
                </a:solidFill>
                <a:latin typeface="Kaiti SC" charset="-122"/>
                <a:ea typeface="Kaiti SC" charset="-122"/>
              </a:defRPr>
            </a:lvl1pPr>
            <a:lvl2pPr marL="881380" indent="-336550">
              <a:spcBef>
                <a:spcPct val="20000"/>
              </a:spcBef>
              <a:buChar char="–"/>
              <a:defRPr sz="3300">
                <a:solidFill>
                  <a:schemeClr val="tx1"/>
                </a:solidFill>
                <a:latin typeface="Kaiti SC" charset="-122"/>
                <a:ea typeface="Kaiti SC" charset="-122"/>
              </a:defRPr>
            </a:lvl2pPr>
            <a:lvl3pPr marL="1357630" indent="-268605">
              <a:spcBef>
                <a:spcPct val="20000"/>
              </a:spcBef>
              <a:buChar char="•"/>
              <a:defRPr sz="3300">
                <a:solidFill>
                  <a:schemeClr val="tx1"/>
                </a:solidFill>
                <a:latin typeface="Kaiti SC" charset="-122"/>
                <a:ea typeface="Kaiti SC" charset="-122"/>
              </a:defRPr>
            </a:lvl3pPr>
            <a:lvl4pPr marL="1901825" indent="-268605">
              <a:spcBef>
                <a:spcPct val="20000"/>
              </a:spcBef>
              <a:buChar char="–"/>
              <a:defRPr sz="2300">
                <a:solidFill>
                  <a:schemeClr val="tx1"/>
                </a:solidFill>
                <a:latin typeface="Kaiti SC" charset="-122"/>
                <a:ea typeface="Kaiti SC" charset="-122"/>
              </a:defRPr>
            </a:lvl4pPr>
            <a:lvl5pPr marL="2446655" indent="-268605">
              <a:spcBef>
                <a:spcPct val="20000"/>
              </a:spcBef>
              <a:buChar char="»"/>
              <a:defRPr sz="2300">
                <a:solidFill>
                  <a:schemeClr val="tx1"/>
                </a:solidFill>
                <a:latin typeface="Kaiti SC" charset="-122"/>
                <a:ea typeface="Kaiti SC" charset="-122"/>
              </a:defRPr>
            </a:lvl5pPr>
            <a:lvl6pPr marL="2903855" indent="-268605" eaLnBrk="0" fontAlgn="base" hangingPunct="0">
              <a:spcBef>
                <a:spcPct val="20000"/>
              </a:spcBef>
              <a:spcAft>
                <a:spcPct val="0"/>
              </a:spcAft>
              <a:buChar char="»"/>
              <a:defRPr sz="2300">
                <a:solidFill>
                  <a:schemeClr val="tx1"/>
                </a:solidFill>
                <a:latin typeface="Kaiti SC" charset="-122"/>
                <a:ea typeface="Kaiti SC" charset="-122"/>
              </a:defRPr>
            </a:lvl6pPr>
            <a:lvl7pPr marL="3361055" indent="-268605" eaLnBrk="0" fontAlgn="base" hangingPunct="0">
              <a:spcBef>
                <a:spcPct val="20000"/>
              </a:spcBef>
              <a:spcAft>
                <a:spcPct val="0"/>
              </a:spcAft>
              <a:buChar char="»"/>
              <a:defRPr sz="2300">
                <a:solidFill>
                  <a:schemeClr val="tx1"/>
                </a:solidFill>
                <a:latin typeface="Kaiti SC" charset="-122"/>
                <a:ea typeface="Kaiti SC" charset="-122"/>
              </a:defRPr>
            </a:lvl7pPr>
            <a:lvl8pPr marL="3818255" indent="-268605" eaLnBrk="0" fontAlgn="base" hangingPunct="0">
              <a:spcBef>
                <a:spcPct val="20000"/>
              </a:spcBef>
              <a:spcAft>
                <a:spcPct val="0"/>
              </a:spcAft>
              <a:buChar char="»"/>
              <a:defRPr sz="2300">
                <a:solidFill>
                  <a:schemeClr val="tx1"/>
                </a:solidFill>
                <a:latin typeface="Kaiti SC" charset="-122"/>
                <a:ea typeface="Kaiti SC" charset="-122"/>
              </a:defRPr>
            </a:lvl8pPr>
            <a:lvl9pPr marL="4275455" indent="-268605" eaLnBrk="0" fontAlgn="base" hangingPunct="0">
              <a:spcBef>
                <a:spcPct val="20000"/>
              </a:spcBef>
              <a:spcAft>
                <a:spcPct val="0"/>
              </a:spcAft>
              <a:buChar char="»"/>
              <a:defRPr sz="2300">
                <a:solidFill>
                  <a:schemeClr val="tx1"/>
                </a:solidFill>
                <a:latin typeface="Kaiti SC" charset="-122"/>
                <a:ea typeface="Kaiti SC" charset="-122"/>
              </a:defRPr>
            </a:lvl9pPr>
          </a:lstStyle>
          <a:p>
            <a:pPr algn="ctr">
              <a:spcBef>
                <a:spcPct val="0"/>
              </a:spcBef>
              <a:buFontTx/>
              <a:buNone/>
            </a:pPr>
            <a:r>
              <a:rPr lang="en-US" altLang="zh-CN" sz="3600" b="1" kern="1500" spc="30" baseline="0" dirty="0">
                <a:solidFill>
                  <a:srgbClr val="002060"/>
                </a:solidFill>
                <a:latin typeface="Source Han Sans CN"/>
                <a:ea typeface="Source Han Sans CN"/>
                <a:cs typeface="Source Han Sans CN"/>
              </a:rPr>
              <a:t>THANKS</a:t>
            </a:r>
          </a:p>
        </p:txBody>
      </p:sp>
      <p:sp>
        <p:nvSpPr>
          <p:cNvPr id="8" name="文本框 9"/>
          <p:cNvSpPr txBox="1">
            <a:spLocks noChangeArrowheads="1"/>
          </p:cNvSpPr>
          <p:nvPr userDrawn="1"/>
        </p:nvSpPr>
        <p:spPr bwMode="auto">
          <a:xfrm>
            <a:off x="9793968" y="6315316"/>
            <a:ext cx="18716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800">
                <a:solidFill>
                  <a:schemeClr val="tx1"/>
                </a:solidFill>
                <a:latin typeface="Kaiti SC" charset="-122"/>
                <a:ea typeface="Kaiti SC" charset="-122"/>
              </a:defRPr>
            </a:lvl1pPr>
            <a:lvl2pPr marL="881380" indent="-336550">
              <a:spcBef>
                <a:spcPct val="20000"/>
              </a:spcBef>
              <a:buChar char="–"/>
              <a:defRPr sz="3300">
                <a:solidFill>
                  <a:schemeClr val="tx1"/>
                </a:solidFill>
                <a:latin typeface="Kaiti SC" charset="-122"/>
                <a:ea typeface="Kaiti SC" charset="-122"/>
              </a:defRPr>
            </a:lvl2pPr>
            <a:lvl3pPr marL="1357630" indent="-268605">
              <a:spcBef>
                <a:spcPct val="20000"/>
              </a:spcBef>
              <a:buChar char="•"/>
              <a:defRPr sz="3300">
                <a:solidFill>
                  <a:schemeClr val="tx1"/>
                </a:solidFill>
                <a:latin typeface="Kaiti SC" charset="-122"/>
                <a:ea typeface="Kaiti SC" charset="-122"/>
              </a:defRPr>
            </a:lvl3pPr>
            <a:lvl4pPr marL="1901825" indent="-268605">
              <a:spcBef>
                <a:spcPct val="20000"/>
              </a:spcBef>
              <a:buChar char="–"/>
              <a:defRPr sz="2300">
                <a:solidFill>
                  <a:schemeClr val="tx1"/>
                </a:solidFill>
                <a:latin typeface="Kaiti SC" charset="-122"/>
                <a:ea typeface="Kaiti SC" charset="-122"/>
              </a:defRPr>
            </a:lvl4pPr>
            <a:lvl5pPr marL="2446655" indent="-268605">
              <a:spcBef>
                <a:spcPct val="20000"/>
              </a:spcBef>
              <a:buChar char="»"/>
              <a:defRPr sz="2300">
                <a:solidFill>
                  <a:schemeClr val="tx1"/>
                </a:solidFill>
                <a:latin typeface="Kaiti SC" charset="-122"/>
                <a:ea typeface="Kaiti SC" charset="-122"/>
              </a:defRPr>
            </a:lvl5pPr>
            <a:lvl6pPr marL="2903855" indent="-268605" eaLnBrk="0" fontAlgn="base" hangingPunct="0">
              <a:spcBef>
                <a:spcPct val="20000"/>
              </a:spcBef>
              <a:spcAft>
                <a:spcPct val="0"/>
              </a:spcAft>
              <a:buChar char="»"/>
              <a:defRPr sz="2300">
                <a:solidFill>
                  <a:schemeClr val="tx1"/>
                </a:solidFill>
                <a:latin typeface="Kaiti SC" charset="-122"/>
                <a:ea typeface="Kaiti SC" charset="-122"/>
              </a:defRPr>
            </a:lvl6pPr>
            <a:lvl7pPr marL="3361055" indent="-268605" eaLnBrk="0" fontAlgn="base" hangingPunct="0">
              <a:spcBef>
                <a:spcPct val="20000"/>
              </a:spcBef>
              <a:spcAft>
                <a:spcPct val="0"/>
              </a:spcAft>
              <a:buChar char="»"/>
              <a:defRPr sz="2300">
                <a:solidFill>
                  <a:schemeClr val="tx1"/>
                </a:solidFill>
                <a:latin typeface="Kaiti SC" charset="-122"/>
                <a:ea typeface="Kaiti SC" charset="-122"/>
              </a:defRPr>
            </a:lvl7pPr>
            <a:lvl8pPr marL="3818255" indent="-268605" eaLnBrk="0" fontAlgn="base" hangingPunct="0">
              <a:spcBef>
                <a:spcPct val="20000"/>
              </a:spcBef>
              <a:spcAft>
                <a:spcPct val="0"/>
              </a:spcAft>
              <a:buChar char="»"/>
              <a:defRPr sz="2300">
                <a:solidFill>
                  <a:schemeClr val="tx1"/>
                </a:solidFill>
                <a:latin typeface="Kaiti SC" charset="-122"/>
                <a:ea typeface="Kaiti SC" charset="-122"/>
              </a:defRPr>
            </a:lvl8pPr>
            <a:lvl9pPr marL="4275455" indent="-268605" eaLnBrk="0" fontAlgn="base" hangingPunct="0">
              <a:spcBef>
                <a:spcPct val="20000"/>
              </a:spcBef>
              <a:spcAft>
                <a:spcPct val="0"/>
              </a:spcAft>
              <a:buChar char="»"/>
              <a:defRPr sz="2300">
                <a:solidFill>
                  <a:schemeClr val="tx1"/>
                </a:solidFill>
                <a:latin typeface="Kaiti SC" charset="-122"/>
                <a:ea typeface="Kaiti SC" charset="-122"/>
              </a:defRPr>
            </a:lvl9pPr>
          </a:lstStyle>
          <a:p>
            <a:pPr algn="ctr">
              <a:spcBef>
                <a:spcPct val="0"/>
              </a:spcBef>
              <a:buFontTx/>
              <a:buNone/>
            </a:pPr>
            <a:r>
              <a:rPr lang="en-US" altLang="zh-CN" sz="1600" dirty="0">
                <a:solidFill>
                  <a:schemeClr val="bg1"/>
                </a:solidFill>
                <a:latin typeface="Arial" panose="020B0604020202020204" pitchFamily="34" charset="0"/>
                <a:ea typeface="宋体" panose="02010600030101010101" pitchFamily="2" charset="-122"/>
              </a:rPr>
              <a:t>www.caict.ac.cn</a:t>
            </a:r>
            <a:endParaRPr lang="zh-CN" altLang="en-US" sz="1600" dirty="0">
              <a:solidFill>
                <a:schemeClr val="bg1"/>
              </a:solidFill>
              <a:latin typeface="Arial" panose="020B0604020202020204" pitchFamily="34" charset="0"/>
              <a:ea typeface="宋体" panose="02010600030101010101" pitchFamily="2" charset="-122"/>
            </a:endParaRPr>
          </a:p>
        </p:txBody>
      </p:sp>
      <p:pic>
        <p:nvPicPr>
          <p:cNvPr id="9" name="图片 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176556" y="5185766"/>
            <a:ext cx="11049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D5E6E7-6606-41C9-9F36-28FF0CB112B4}" type="slidenum">
              <a:rPr lang="zh-CN" altLang="en-US" smtClean="0">
                <a:solidFill>
                  <a:prstClr val="black">
                    <a:tint val="75000"/>
                  </a:prstClr>
                </a:solidFill>
              </a:rPr>
              <a:t>‹#›</a:t>
            </a:fld>
            <a:endParaRPr lang="zh-CN" altLang="en-US">
              <a:solidFill>
                <a:prstClr val="black">
                  <a:tint val="75000"/>
                </a:prstClr>
              </a:solidFill>
            </a:endParaRPr>
          </a:p>
        </p:txBody>
      </p:sp>
      <p:pic>
        <p:nvPicPr>
          <p:cNvPr id="8" name="图片 7"/>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9887657" y="122508"/>
            <a:ext cx="2131666" cy="449801"/>
          </a:xfrm>
          <a:prstGeom prst="rect">
            <a:avLst/>
          </a:prstGeom>
        </p:spPr>
      </p:pic>
      <p:sp>
        <p:nvSpPr>
          <p:cNvPr id="10" name="矩形 9"/>
          <p:cNvSpPr/>
          <p:nvPr userDrawn="1"/>
        </p:nvSpPr>
        <p:spPr>
          <a:xfrm>
            <a:off x="335280" y="659978"/>
            <a:ext cx="8542020"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8877300" y="659978"/>
            <a:ext cx="310896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34963" y="333375"/>
            <a:ext cx="2919412"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userDrawn="1"/>
        </p:nvPicPr>
        <p:blipFill>
          <a:blip r:embed="rId5">
            <a:extLst>
              <a:ext uri="{BEBA8EAE-BF5A-486C-A8C5-ECC9F3942E4B}">
                <a14:imgProps xmlns:a14="http://schemas.microsoft.com/office/drawing/2010/main">
                  <a14:imgLayer r:embed="rId6">
                    <a14:imgEffect>
                      <a14:brightnessContrast bright="20000" contrast="-40000"/>
                    </a14:imgEffect>
                  </a14:imgLayer>
                </a14:imgProps>
              </a:ext>
              <a:ext uri="{28A0092B-C50C-407E-A947-70E740481C1C}">
                <a14:useLocalDpi xmlns:a14="http://schemas.microsoft.com/office/drawing/2010/main" val="0"/>
              </a:ext>
            </a:extLst>
          </a:blip>
          <a:srcRect b="25500"/>
          <a:stretch>
            <a:fillRect/>
          </a:stretch>
        </p:blipFill>
        <p:spPr>
          <a:xfrm>
            <a:off x="0" y="4657090"/>
            <a:ext cx="12192000" cy="2200275"/>
          </a:xfrm>
          <a:prstGeom prst="rect">
            <a:avLst/>
          </a:prstGeom>
        </p:spPr>
      </p:pic>
    </p:spTree>
  </p:cSld>
  <p:clrMap bg1="lt1" tx1="dk1" bg2="lt2" tx2="dk2" accent1="accent1" accent2="accent2" accent3="accent3" accent4="accent4" accent5="accent5" accent6="accent6" hlink="hlink" folHlink="folHlink"/>
  <p:sldLayoutIdLst>
    <p:sldLayoutId id="2147483667" r:id="rId1"/>
    <p:sldLayoutId id="2147483668"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C356C92-CBCC-4C98-859B-E723744E6832}"/>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847E08AB-090B-4BA1-B8D5-7FA5A8B4CAC8}"/>
              </a:ext>
            </a:extLst>
          </p:cNvPr>
          <p:cNvSpPr/>
          <p:nvPr/>
        </p:nvSpPr>
        <p:spPr>
          <a:xfrm>
            <a:off x="0" y="0"/>
            <a:ext cx="4389120" cy="6858000"/>
          </a:xfrm>
          <a:prstGeom prst="rect">
            <a:avLst/>
          </a:prstGeom>
          <a:solidFill>
            <a:srgbClr val="1B335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1B3BE2DB-7E18-47FE-A21F-FDD5F4430D37}"/>
              </a:ext>
            </a:extLst>
          </p:cNvPr>
          <p:cNvSpPr/>
          <p:nvPr/>
        </p:nvSpPr>
        <p:spPr>
          <a:xfrm>
            <a:off x="4389120" y="0"/>
            <a:ext cx="7802880" cy="1524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AF32855F-5EC9-4D08-BE50-D51A97317637}"/>
              </a:ext>
            </a:extLst>
          </p:cNvPr>
          <p:cNvSpPr txBox="1"/>
          <p:nvPr/>
        </p:nvSpPr>
        <p:spPr>
          <a:xfrm>
            <a:off x="787400" y="990600"/>
            <a:ext cx="2794000" cy="518091"/>
          </a:xfrm>
          <a:prstGeom prst="rect">
            <a:avLst/>
          </a:prstGeom>
          <a:noFill/>
        </p:spPr>
        <p:txBody>
          <a:bodyPr vert="horz" lIns="76200" tIns="50800" rIns="76200" bIns="50800" rtlCol="0">
            <a:spAutoFit/>
          </a:bodyPr>
          <a:lstStyle/>
          <a:p>
            <a:r>
              <a:rPr lang="zh-CN" altLang="en-US" sz="2700" b="1">
                <a:solidFill>
                  <a:srgbClr val="DDAA48"/>
                </a:solidFill>
                <a:latin typeface="Microsoft YaHei" panose="020B0503020204020204" pitchFamily="34" charset="-122"/>
              </a:rPr>
              <a:t>中期报告</a:t>
            </a:r>
          </a:p>
        </p:txBody>
      </p:sp>
      <p:sp>
        <p:nvSpPr>
          <p:cNvPr id="6" name="文本框 5">
            <a:extLst>
              <a:ext uri="{FF2B5EF4-FFF2-40B4-BE49-F238E27FC236}">
                <a16:creationId xmlns:a16="http://schemas.microsoft.com/office/drawing/2014/main" id="{7F2638BB-3F3C-41F2-990E-815FCDEB6216}"/>
              </a:ext>
            </a:extLst>
          </p:cNvPr>
          <p:cNvSpPr txBox="1"/>
          <p:nvPr/>
        </p:nvSpPr>
        <p:spPr>
          <a:xfrm>
            <a:off x="812800" y="1549400"/>
            <a:ext cx="2794000" cy="287258"/>
          </a:xfrm>
          <a:prstGeom prst="rect">
            <a:avLst/>
          </a:prstGeom>
          <a:noFill/>
        </p:spPr>
        <p:txBody>
          <a:bodyPr vert="horz" lIns="76200" tIns="50800" rIns="76200" bIns="50800" rtlCol="0">
            <a:spAutoFit/>
          </a:bodyPr>
          <a:lstStyle/>
          <a:p>
            <a:r>
              <a:rPr lang="en-US" altLang="zh-CN" sz="1200">
                <a:solidFill>
                  <a:srgbClr val="FFFFFF"/>
                </a:solidFill>
                <a:latin typeface="Microsoft YaHei" panose="020B0503020204020204" pitchFamily="34" charset="-122"/>
              </a:rPr>
              <a:t>MIDTERM REPORT</a:t>
            </a:r>
            <a:endParaRPr lang="zh-CN" altLang="en-US" sz="1200">
              <a:solidFill>
                <a:srgbClr val="FFFFFF"/>
              </a:solidFill>
              <a:latin typeface="Microsoft YaHei" panose="020B0503020204020204" pitchFamily="34" charset="-122"/>
            </a:endParaRPr>
          </a:p>
        </p:txBody>
      </p:sp>
      <p:sp>
        <p:nvSpPr>
          <p:cNvPr id="7" name="文本框 6">
            <a:extLst>
              <a:ext uri="{FF2B5EF4-FFF2-40B4-BE49-F238E27FC236}">
                <a16:creationId xmlns:a16="http://schemas.microsoft.com/office/drawing/2014/main" id="{5F3A16D5-B022-41E7-86B7-E518D18FAAE6}"/>
              </a:ext>
            </a:extLst>
          </p:cNvPr>
          <p:cNvSpPr txBox="1"/>
          <p:nvPr/>
        </p:nvSpPr>
        <p:spPr>
          <a:xfrm>
            <a:off x="4998720" y="1422400"/>
            <a:ext cx="7112000" cy="1056700"/>
          </a:xfrm>
          <a:prstGeom prst="rect">
            <a:avLst/>
          </a:prstGeom>
          <a:noFill/>
        </p:spPr>
        <p:txBody>
          <a:bodyPr vert="horz" lIns="76200" tIns="50800" rIns="76200" bIns="50800" rtlCol="0">
            <a:spAutoFit/>
          </a:bodyPr>
          <a:lstStyle/>
          <a:p>
            <a:r>
              <a:rPr lang="zh-CN" altLang="en-US" sz="3100" b="1">
                <a:solidFill>
                  <a:srgbClr val="1B3355"/>
                </a:solidFill>
                <a:latin typeface="Microsoft YaHei" panose="020B0503020204020204" pitchFamily="34" charset="-122"/>
              </a:rPr>
              <a:t>基于智能体的多机器人算力互联网调度研究</a:t>
            </a:r>
          </a:p>
        </p:txBody>
      </p:sp>
      <p:sp>
        <p:nvSpPr>
          <p:cNvPr id="8" name="文本框 7">
            <a:extLst>
              <a:ext uri="{FF2B5EF4-FFF2-40B4-BE49-F238E27FC236}">
                <a16:creationId xmlns:a16="http://schemas.microsoft.com/office/drawing/2014/main" id="{77F99FF5-B6BA-4E9B-8BCF-D0818C24B2C3}"/>
              </a:ext>
            </a:extLst>
          </p:cNvPr>
          <p:cNvSpPr txBox="1"/>
          <p:nvPr/>
        </p:nvSpPr>
        <p:spPr>
          <a:xfrm>
            <a:off x="5049520" y="2730500"/>
            <a:ext cx="6858000" cy="333425"/>
          </a:xfrm>
          <a:prstGeom prst="rect">
            <a:avLst/>
          </a:prstGeom>
          <a:noFill/>
        </p:spPr>
        <p:txBody>
          <a:bodyPr vert="horz" lIns="76200" tIns="50800" rIns="76200" bIns="50800" rtlCol="0">
            <a:spAutoFit/>
          </a:bodyPr>
          <a:lstStyle/>
          <a:p>
            <a:r>
              <a:rPr lang="zh-CN" altLang="en-US" sz="1500">
                <a:solidFill>
                  <a:srgbClr val="5F6F82"/>
                </a:solidFill>
                <a:latin typeface="Microsoft YaHei" panose="020B0503020204020204" pitchFamily="34" charset="-122"/>
              </a:rPr>
              <a:t>基于强化学习、图注意力网络与动态奖励机制的阶段性研究进展</a:t>
            </a:r>
          </a:p>
        </p:txBody>
      </p:sp>
      <p:sp>
        <p:nvSpPr>
          <p:cNvPr id="9" name="矩形 8">
            <a:extLst>
              <a:ext uri="{FF2B5EF4-FFF2-40B4-BE49-F238E27FC236}">
                <a16:creationId xmlns:a16="http://schemas.microsoft.com/office/drawing/2014/main" id="{3EA13E4C-50B8-48B5-A354-600EE57140E5}"/>
              </a:ext>
            </a:extLst>
          </p:cNvPr>
          <p:cNvSpPr/>
          <p:nvPr/>
        </p:nvSpPr>
        <p:spPr>
          <a:xfrm>
            <a:off x="5074920" y="3429000"/>
            <a:ext cx="1524000" cy="635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746A32F5-3C30-415A-B8A9-D73F3C78796E}"/>
              </a:ext>
            </a:extLst>
          </p:cNvPr>
          <p:cNvSpPr txBox="1"/>
          <p:nvPr/>
        </p:nvSpPr>
        <p:spPr>
          <a:xfrm>
            <a:off x="5074920" y="4127500"/>
            <a:ext cx="3302000" cy="318036"/>
          </a:xfrm>
          <a:prstGeom prst="rect">
            <a:avLst/>
          </a:prstGeom>
          <a:noFill/>
        </p:spPr>
        <p:txBody>
          <a:bodyPr vert="horz" lIns="76200" tIns="50800" rIns="76200" bIns="50800" rtlCol="0">
            <a:spAutoFit/>
          </a:bodyPr>
          <a:lstStyle/>
          <a:p>
            <a:r>
              <a:rPr lang="zh-CN" altLang="en-US" sz="1400">
                <a:solidFill>
                  <a:srgbClr val="1B3355"/>
                </a:solidFill>
                <a:latin typeface="Microsoft YaHei" panose="020B0503020204020204" pitchFamily="34" charset="-122"/>
              </a:rPr>
              <a:t>答辩人：王星宇</a:t>
            </a:r>
          </a:p>
        </p:txBody>
      </p:sp>
      <p:sp>
        <p:nvSpPr>
          <p:cNvPr id="11" name="文本框 10">
            <a:extLst>
              <a:ext uri="{FF2B5EF4-FFF2-40B4-BE49-F238E27FC236}">
                <a16:creationId xmlns:a16="http://schemas.microsoft.com/office/drawing/2014/main" id="{8516D263-A3E0-4C69-85FC-10E8E6C42825}"/>
              </a:ext>
            </a:extLst>
          </p:cNvPr>
          <p:cNvSpPr txBox="1"/>
          <p:nvPr/>
        </p:nvSpPr>
        <p:spPr>
          <a:xfrm>
            <a:off x="5074920" y="4495800"/>
            <a:ext cx="3302000" cy="318036"/>
          </a:xfrm>
          <a:prstGeom prst="rect">
            <a:avLst/>
          </a:prstGeom>
          <a:noFill/>
        </p:spPr>
        <p:txBody>
          <a:bodyPr vert="horz" lIns="76200" tIns="50800" rIns="76200" bIns="50800" rtlCol="0">
            <a:spAutoFit/>
          </a:bodyPr>
          <a:lstStyle/>
          <a:p>
            <a:r>
              <a:rPr lang="zh-CN" altLang="en-US" sz="1400">
                <a:solidFill>
                  <a:srgbClr val="1B3355"/>
                </a:solidFill>
                <a:latin typeface="Microsoft YaHei" panose="020B0503020204020204" pitchFamily="34" charset="-122"/>
              </a:rPr>
              <a:t>导师：栗蔚</a:t>
            </a:r>
          </a:p>
        </p:txBody>
      </p:sp>
      <p:sp>
        <p:nvSpPr>
          <p:cNvPr id="12" name="文本框 11">
            <a:extLst>
              <a:ext uri="{FF2B5EF4-FFF2-40B4-BE49-F238E27FC236}">
                <a16:creationId xmlns:a16="http://schemas.microsoft.com/office/drawing/2014/main" id="{99FACBB1-079E-4218-B715-EFF5888B2878}"/>
              </a:ext>
            </a:extLst>
          </p:cNvPr>
          <p:cNvSpPr txBox="1"/>
          <p:nvPr/>
        </p:nvSpPr>
        <p:spPr>
          <a:xfrm>
            <a:off x="5074920" y="4864100"/>
            <a:ext cx="3810000" cy="318036"/>
          </a:xfrm>
          <a:prstGeom prst="rect">
            <a:avLst/>
          </a:prstGeom>
          <a:noFill/>
        </p:spPr>
        <p:txBody>
          <a:bodyPr vert="horz" lIns="76200" tIns="50800" rIns="76200" bIns="50800" rtlCol="0">
            <a:spAutoFit/>
          </a:bodyPr>
          <a:lstStyle/>
          <a:p>
            <a:r>
              <a:rPr lang="zh-CN" altLang="en-US" sz="1400">
                <a:solidFill>
                  <a:srgbClr val="1B3355"/>
                </a:solidFill>
                <a:latin typeface="Microsoft YaHei" panose="020B0503020204020204" pitchFamily="34" charset="-122"/>
              </a:rPr>
              <a:t>课题单位：中国信息通信研究院</a:t>
            </a:r>
          </a:p>
        </p:txBody>
      </p:sp>
      <p:sp>
        <p:nvSpPr>
          <p:cNvPr id="13" name="文本框 12">
            <a:extLst>
              <a:ext uri="{FF2B5EF4-FFF2-40B4-BE49-F238E27FC236}">
                <a16:creationId xmlns:a16="http://schemas.microsoft.com/office/drawing/2014/main" id="{BEA5246A-2775-45B6-AABD-3CEC8B0C75BA}"/>
              </a:ext>
            </a:extLst>
          </p:cNvPr>
          <p:cNvSpPr txBox="1"/>
          <p:nvPr/>
        </p:nvSpPr>
        <p:spPr>
          <a:xfrm>
            <a:off x="10350500" y="5969000"/>
            <a:ext cx="1143000" cy="318036"/>
          </a:xfrm>
          <a:prstGeom prst="rect">
            <a:avLst/>
          </a:prstGeom>
          <a:noFill/>
        </p:spPr>
        <p:txBody>
          <a:bodyPr vert="horz" lIns="76200" tIns="50800" rIns="76200" bIns="50800" rtlCol="0">
            <a:spAutoFit/>
          </a:bodyPr>
          <a:lstStyle/>
          <a:p>
            <a:pPr algn="r"/>
            <a:r>
              <a:rPr lang="en-US" altLang="zh-CN" sz="1400" b="1">
                <a:solidFill>
                  <a:srgbClr val="2A8FA0"/>
                </a:solidFill>
                <a:latin typeface="Microsoft YaHei" panose="020B0503020204020204" pitchFamily="34" charset="-122"/>
              </a:rPr>
              <a:t>2026.05</a:t>
            </a:r>
            <a:endParaRPr lang="zh-CN" altLang="en-US" sz="1400" b="1">
              <a:solidFill>
                <a:srgbClr val="2A8FA0"/>
              </a:solidFill>
              <a:latin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6792"/>
    </mc:Choice>
    <mc:Fallback xmlns="">
      <p:transition spd="slow" advTm="167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48609C6-F617-4208-B93F-7A0766BB4081}"/>
              </a:ext>
            </a:extLst>
          </p:cNvPr>
          <p:cNvSpPr txBox="1"/>
          <p:nvPr/>
        </p:nvSpPr>
        <p:spPr>
          <a:xfrm>
            <a:off x="533400" y="304800"/>
            <a:ext cx="9906000" cy="456535"/>
          </a:xfrm>
          <a:prstGeom prst="rect">
            <a:avLst/>
          </a:prstGeom>
          <a:noFill/>
        </p:spPr>
        <p:txBody>
          <a:bodyPr vert="horz" lIns="76200" tIns="50800" rIns="76200" bIns="50800" rtlCol="0">
            <a:spAutoFit/>
          </a:bodyPr>
          <a:lstStyle/>
          <a:p>
            <a:r>
              <a:rPr lang="zh-CN" altLang="en-US" sz="2300" b="1">
                <a:solidFill>
                  <a:srgbClr val="1B3355"/>
                </a:solidFill>
                <a:latin typeface="Microsoft YaHei" panose="020B0503020204020204" pitchFamily="34" charset="-122"/>
              </a:rPr>
              <a:t>目录</a:t>
            </a:r>
          </a:p>
        </p:txBody>
      </p:sp>
      <p:sp>
        <p:nvSpPr>
          <p:cNvPr id="3" name="文本框 2">
            <a:extLst>
              <a:ext uri="{FF2B5EF4-FFF2-40B4-BE49-F238E27FC236}">
                <a16:creationId xmlns:a16="http://schemas.microsoft.com/office/drawing/2014/main" id="{FFFE736C-6BB7-4AF2-84DE-87201A8E40EE}"/>
              </a:ext>
            </a:extLst>
          </p:cNvPr>
          <p:cNvSpPr txBox="1"/>
          <p:nvPr/>
        </p:nvSpPr>
        <p:spPr>
          <a:xfrm>
            <a:off x="10058400" y="381000"/>
            <a:ext cx="1397000" cy="256480"/>
          </a:xfrm>
          <a:prstGeom prst="rect">
            <a:avLst/>
          </a:prstGeom>
          <a:noFill/>
        </p:spPr>
        <p:txBody>
          <a:bodyPr vert="horz" lIns="76200" tIns="50800" rIns="76200" bIns="50800" rtlCol="0">
            <a:spAutoFit/>
          </a:bodyPr>
          <a:lstStyle/>
          <a:p>
            <a:pPr algn="r"/>
            <a:r>
              <a:rPr lang="en-US" altLang="zh-CN" sz="1000" b="1">
                <a:solidFill>
                  <a:srgbClr val="2A8FA0"/>
                </a:solidFill>
                <a:latin typeface="Microsoft YaHei" panose="020B0503020204020204" pitchFamily="34" charset="-122"/>
              </a:rPr>
              <a:t>CONTENTS</a:t>
            </a:r>
            <a:endParaRPr lang="zh-CN" altLang="en-US" sz="1000" b="1">
              <a:solidFill>
                <a:srgbClr val="2A8FA0"/>
              </a:solidFill>
              <a:latin typeface="Microsoft YaHei" panose="020B0503020204020204" pitchFamily="34" charset="-122"/>
            </a:endParaRPr>
          </a:p>
        </p:txBody>
      </p:sp>
      <p:sp>
        <p:nvSpPr>
          <p:cNvPr id="4" name="矩形 3">
            <a:extLst>
              <a:ext uri="{FF2B5EF4-FFF2-40B4-BE49-F238E27FC236}">
                <a16:creationId xmlns:a16="http://schemas.microsoft.com/office/drawing/2014/main" id="{BA5D8FEB-E747-4631-944D-C91F9C83DC80}"/>
              </a:ext>
            </a:extLst>
          </p:cNvPr>
          <p:cNvSpPr/>
          <p:nvPr/>
        </p:nvSpPr>
        <p:spPr>
          <a:xfrm>
            <a:off x="609600" y="914400"/>
            <a:ext cx="1524000" cy="50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8E5C53AE-6B3F-4743-867C-F3DE11E5C6EA}"/>
              </a:ext>
            </a:extLst>
          </p:cNvPr>
          <p:cNvSpPr txBox="1"/>
          <p:nvPr/>
        </p:nvSpPr>
        <p:spPr>
          <a:xfrm>
            <a:off x="11455400" y="6350000"/>
            <a:ext cx="381000" cy="256480"/>
          </a:xfrm>
          <a:prstGeom prst="rect">
            <a:avLst/>
          </a:prstGeom>
          <a:noFill/>
        </p:spPr>
        <p:txBody>
          <a:bodyPr vert="horz" lIns="76200" tIns="50800" rIns="76200" bIns="50800" rtlCol="0">
            <a:spAutoFit/>
          </a:bodyPr>
          <a:lstStyle/>
          <a:p>
            <a:pPr algn="r"/>
            <a:r>
              <a:rPr lang="en-US" altLang="zh-CN" sz="1000">
                <a:solidFill>
                  <a:srgbClr val="5F6F82"/>
                </a:solidFill>
                <a:latin typeface="Microsoft YaHei" panose="020B0503020204020204" pitchFamily="34" charset="-122"/>
              </a:rPr>
              <a:t>02</a:t>
            </a:r>
            <a:endParaRPr lang="zh-CN" altLang="en-US" sz="1000">
              <a:solidFill>
                <a:srgbClr val="5F6F82"/>
              </a:solidFill>
              <a:latin typeface="Microsoft YaHei" panose="020B0503020204020204" pitchFamily="34" charset="-122"/>
            </a:endParaRPr>
          </a:p>
        </p:txBody>
      </p:sp>
      <p:sp>
        <p:nvSpPr>
          <p:cNvPr id="8" name="矩形: 圆角 7">
            <a:extLst>
              <a:ext uri="{FF2B5EF4-FFF2-40B4-BE49-F238E27FC236}">
                <a16:creationId xmlns:a16="http://schemas.microsoft.com/office/drawing/2014/main" id="{6714BF7E-B383-4C9C-91A1-9DC49DA2A0C0}"/>
              </a:ext>
            </a:extLst>
          </p:cNvPr>
          <p:cNvSpPr/>
          <p:nvPr/>
        </p:nvSpPr>
        <p:spPr>
          <a:xfrm>
            <a:off x="914400" y="1524000"/>
            <a:ext cx="3175000" cy="7874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05AEC9F6-A56B-43A8-9A99-762E7033A864}"/>
              </a:ext>
            </a:extLst>
          </p:cNvPr>
          <p:cNvSpPr/>
          <p:nvPr/>
        </p:nvSpPr>
        <p:spPr>
          <a:xfrm>
            <a:off x="914400" y="1625600"/>
            <a:ext cx="63500" cy="5842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F851F61-CCFC-490D-95E1-05161DFEC923}"/>
              </a:ext>
            </a:extLst>
          </p:cNvPr>
          <p:cNvSpPr txBox="1"/>
          <p:nvPr/>
        </p:nvSpPr>
        <p:spPr>
          <a:xfrm>
            <a:off x="1092200" y="1651000"/>
            <a:ext cx="2870200" cy="333425"/>
          </a:xfrm>
          <a:prstGeom prst="rect">
            <a:avLst/>
          </a:prstGeom>
          <a:noFill/>
        </p:spPr>
        <p:txBody>
          <a:bodyPr vert="horz" lIns="76200" tIns="50800" rIns="76200" bIns="50800" rtlCol="0">
            <a:spAutoFit/>
          </a:bodyPr>
          <a:lstStyle/>
          <a:p>
            <a:r>
              <a:rPr lang="en-US" altLang="zh-CN" sz="1500" b="1">
                <a:solidFill>
                  <a:srgbClr val="1B3355"/>
                </a:solidFill>
                <a:latin typeface="Microsoft YaHei" panose="020B0503020204020204" pitchFamily="34" charset="-122"/>
              </a:rPr>
              <a:t>1  </a:t>
            </a:r>
            <a:r>
              <a:rPr lang="zh-CN" altLang="en-US" sz="1500" b="1">
                <a:solidFill>
                  <a:srgbClr val="1B3355"/>
                </a:solidFill>
                <a:latin typeface="Microsoft YaHei" panose="020B0503020204020204" pitchFamily="34" charset="-122"/>
              </a:rPr>
              <a:t>中期进展概览</a:t>
            </a:r>
          </a:p>
        </p:txBody>
      </p:sp>
      <p:sp>
        <p:nvSpPr>
          <p:cNvPr id="11" name="文本框 10">
            <a:extLst>
              <a:ext uri="{FF2B5EF4-FFF2-40B4-BE49-F238E27FC236}">
                <a16:creationId xmlns:a16="http://schemas.microsoft.com/office/drawing/2014/main" id="{9DF9B2CE-656C-48CA-923B-95AE9D908B38}"/>
              </a:ext>
            </a:extLst>
          </p:cNvPr>
          <p:cNvSpPr txBox="1"/>
          <p:nvPr/>
        </p:nvSpPr>
        <p:spPr>
          <a:xfrm>
            <a:off x="1092200" y="2057400"/>
            <a:ext cx="2895600" cy="271869"/>
          </a:xfrm>
          <a:prstGeom prst="rect">
            <a:avLst/>
          </a:prstGeom>
          <a:noFill/>
        </p:spPr>
        <p:txBody>
          <a:bodyPr vert="horz" lIns="76200" tIns="50800" rIns="76200" bIns="50800" rtlCol="0">
            <a:spAutoFit/>
          </a:bodyPr>
          <a:lstStyle/>
          <a:p>
            <a:r>
              <a:rPr lang="en-US" altLang="zh-CN" sz="1100">
                <a:solidFill>
                  <a:srgbClr val="5F6F82"/>
                </a:solidFill>
                <a:latin typeface="Microsoft YaHei" panose="020B0503020204020204" pitchFamily="34" charset="-122"/>
              </a:rPr>
              <a:t>Progress Overview</a:t>
            </a:r>
            <a:endParaRPr lang="zh-CN" altLang="en-US" sz="1100">
              <a:solidFill>
                <a:srgbClr val="5F6F82"/>
              </a:solidFill>
              <a:latin typeface="Microsoft YaHei" panose="020B0503020204020204" pitchFamily="34" charset="-122"/>
            </a:endParaRPr>
          </a:p>
        </p:txBody>
      </p:sp>
      <p:sp>
        <p:nvSpPr>
          <p:cNvPr id="12" name="矩形: 圆角 11">
            <a:extLst>
              <a:ext uri="{FF2B5EF4-FFF2-40B4-BE49-F238E27FC236}">
                <a16:creationId xmlns:a16="http://schemas.microsoft.com/office/drawing/2014/main" id="{E75E3672-9413-4695-9CAA-1666E16C0363}"/>
              </a:ext>
            </a:extLst>
          </p:cNvPr>
          <p:cNvSpPr/>
          <p:nvPr/>
        </p:nvSpPr>
        <p:spPr>
          <a:xfrm>
            <a:off x="914400" y="2463800"/>
            <a:ext cx="3175000" cy="7874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20687600-ACBC-496F-B6D4-ABF89EEF83FE}"/>
              </a:ext>
            </a:extLst>
          </p:cNvPr>
          <p:cNvSpPr/>
          <p:nvPr/>
        </p:nvSpPr>
        <p:spPr>
          <a:xfrm>
            <a:off x="914400" y="2565400"/>
            <a:ext cx="63500" cy="5842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161A6AAF-F81C-4243-B068-0374790390E2}"/>
              </a:ext>
            </a:extLst>
          </p:cNvPr>
          <p:cNvSpPr txBox="1"/>
          <p:nvPr/>
        </p:nvSpPr>
        <p:spPr>
          <a:xfrm>
            <a:off x="1092200" y="2590800"/>
            <a:ext cx="2870200" cy="333425"/>
          </a:xfrm>
          <a:prstGeom prst="rect">
            <a:avLst/>
          </a:prstGeom>
          <a:noFill/>
        </p:spPr>
        <p:txBody>
          <a:bodyPr vert="horz" lIns="76200" tIns="50800" rIns="76200" bIns="50800" rtlCol="0">
            <a:spAutoFit/>
          </a:bodyPr>
          <a:lstStyle/>
          <a:p>
            <a:r>
              <a:rPr lang="en-US" altLang="zh-CN" sz="1500" b="1">
                <a:solidFill>
                  <a:srgbClr val="1B3355"/>
                </a:solidFill>
                <a:latin typeface="Microsoft YaHei" panose="020B0503020204020204" pitchFamily="34" charset="-122"/>
              </a:rPr>
              <a:t>2  </a:t>
            </a:r>
            <a:r>
              <a:rPr lang="zh-CN" altLang="en-US" sz="1500" b="1">
                <a:solidFill>
                  <a:srgbClr val="1B3355"/>
                </a:solidFill>
                <a:latin typeface="Microsoft YaHei" panose="020B0503020204020204" pitchFamily="34" charset="-122"/>
              </a:rPr>
              <a:t>已经完成的工作</a:t>
            </a:r>
          </a:p>
        </p:txBody>
      </p:sp>
      <p:sp>
        <p:nvSpPr>
          <p:cNvPr id="15" name="文本框 14">
            <a:extLst>
              <a:ext uri="{FF2B5EF4-FFF2-40B4-BE49-F238E27FC236}">
                <a16:creationId xmlns:a16="http://schemas.microsoft.com/office/drawing/2014/main" id="{A64BB57D-00AD-4CE1-BB95-6806CF3DEBE6}"/>
              </a:ext>
            </a:extLst>
          </p:cNvPr>
          <p:cNvSpPr txBox="1"/>
          <p:nvPr/>
        </p:nvSpPr>
        <p:spPr>
          <a:xfrm>
            <a:off x="1092200" y="2997200"/>
            <a:ext cx="2895600" cy="271869"/>
          </a:xfrm>
          <a:prstGeom prst="rect">
            <a:avLst/>
          </a:prstGeom>
          <a:noFill/>
        </p:spPr>
        <p:txBody>
          <a:bodyPr vert="horz" lIns="76200" tIns="50800" rIns="76200" bIns="50800" rtlCol="0">
            <a:spAutoFit/>
          </a:bodyPr>
          <a:lstStyle/>
          <a:p>
            <a:r>
              <a:rPr lang="en-US" altLang="zh-CN" sz="1100">
                <a:solidFill>
                  <a:srgbClr val="5F6F82"/>
                </a:solidFill>
                <a:latin typeface="Microsoft YaHei" panose="020B0503020204020204" pitchFamily="34" charset="-122"/>
              </a:rPr>
              <a:t>Completed Work</a:t>
            </a:r>
            <a:endParaRPr lang="zh-CN" altLang="en-US" sz="1100">
              <a:solidFill>
                <a:srgbClr val="5F6F82"/>
              </a:solidFill>
              <a:latin typeface="Microsoft YaHei" panose="020B0503020204020204" pitchFamily="34" charset="-122"/>
            </a:endParaRPr>
          </a:p>
        </p:txBody>
      </p:sp>
      <p:sp>
        <p:nvSpPr>
          <p:cNvPr id="16" name="矩形: 圆角 15">
            <a:extLst>
              <a:ext uri="{FF2B5EF4-FFF2-40B4-BE49-F238E27FC236}">
                <a16:creationId xmlns:a16="http://schemas.microsoft.com/office/drawing/2014/main" id="{622D3A38-FE2D-4F6D-944B-85F0B1C6B1B7}"/>
              </a:ext>
            </a:extLst>
          </p:cNvPr>
          <p:cNvSpPr/>
          <p:nvPr/>
        </p:nvSpPr>
        <p:spPr>
          <a:xfrm>
            <a:off x="914400" y="3403600"/>
            <a:ext cx="3175000" cy="7874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14B0AA94-B423-4DE6-AC8A-D4955F88B90F}"/>
              </a:ext>
            </a:extLst>
          </p:cNvPr>
          <p:cNvSpPr/>
          <p:nvPr/>
        </p:nvSpPr>
        <p:spPr>
          <a:xfrm>
            <a:off x="914400" y="3505200"/>
            <a:ext cx="63500" cy="5842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595BFA6C-80C6-48BF-9314-D8A15E67CF28}"/>
              </a:ext>
            </a:extLst>
          </p:cNvPr>
          <p:cNvSpPr txBox="1"/>
          <p:nvPr/>
        </p:nvSpPr>
        <p:spPr>
          <a:xfrm>
            <a:off x="1092200" y="3530600"/>
            <a:ext cx="2870200" cy="333425"/>
          </a:xfrm>
          <a:prstGeom prst="rect">
            <a:avLst/>
          </a:prstGeom>
          <a:noFill/>
        </p:spPr>
        <p:txBody>
          <a:bodyPr vert="horz" lIns="76200" tIns="50800" rIns="76200" bIns="50800" rtlCol="0">
            <a:spAutoFit/>
          </a:bodyPr>
          <a:lstStyle/>
          <a:p>
            <a:r>
              <a:rPr lang="en-US" altLang="zh-CN" sz="1500" b="1">
                <a:solidFill>
                  <a:srgbClr val="1B3355"/>
                </a:solidFill>
                <a:latin typeface="Microsoft YaHei" panose="020B0503020204020204" pitchFamily="34" charset="-122"/>
              </a:rPr>
              <a:t>3  </a:t>
            </a:r>
            <a:r>
              <a:rPr lang="zh-CN" altLang="en-US" sz="1500" b="1">
                <a:solidFill>
                  <a:srgbClr val="1B3355"/>
                </a:solidFill>
                <a:latin typeface="Microsoft YaHei" panose="020B0503020204020204" pitchFamily="34" charset="-122"/>
              </a:rPr>
              <a:t>实验结果与分析</a:t>
            </a:r>
          </a:p>
        </p:txBody>
      </p:sp>
      <p:sp>
        <p:nvSpPr>
          <p:cNvPr id="19" name="文本框 18">
            <a:extLst>
              <a:ext uri="{FF2B5EF4-FFF2-40B4-BE49-F238E27FC236}">
                <a16:creationId xmlns:a16="http://schemas.microsoft.com/office/drawing/2014/main" id="{F20960E5-0ACC-4936-8CD9-01D87A4F1CE3}"/>
              </a:ext>
            </a:extLst>
          </p:cNvPr>
          <p:cNvSpPr txBox="1"/>
          <p:nvPr/>
        </p:nvSpPr>
        <p:spPr>
          <a:xfrm>
            <a:off x="1092200" y="3937000"/>
            <a:ext cx="2895600" cy="271869"/>
          </a:xfrm>
          <a:prstGeom prst="rect">
            <a:avLst/>
          </a:prstGeom>
          <a:noFill/>
        </p:spPr>
        <p:txBody>
          <a:bodyPr vert="horz" lIns="76200" tIns="50800" rIns="76200" bIns="50800" rtlCol="0">
            <a:spAutoFit/>
          </a:bodyPr>
          <a:lstStyle/>
          <a:p>
            <a:r>
              <a:rPr lang="en-US" altLang="zh-CN" sz="1100">
                <a:solidFill>
                  <a:srgbClr val="5F6F82"/>
                </a:solidFill>
                <a:latin typeface="Microsoft YaHei" panose="020B0503020204020204" pitchFamily="34" charset="-122"/>
              </a:rPr>
              <a:t>Experimental Results</a:t>
            </a:r>
            <a:endParaRPr lang="zh-CN" altLang="en-US" sz="1100">
              <a:solidFill>
                <a:srgbClr val="5F6F82"/>
              </a:solidFill>
              <a:latin typeface="Microsoft YaHei" panose="020B0503020204020204" pitchFamily="34" charset="-122"/>
            </a:endParaRPr>
          </a:p>
        </p:txBody>
      </p:sp>
      <p:sp>
        <p:nvSpPr>
          <p:cNvPr id="20" name="矩形: 圆角 19">
            <a:extLst>
              <a:ext uri="{FF2B5EF4-FFF2-40B4-BE49-F238E27FC236}">
                <a16:creationId xmlns:a16="http://schemas.microsoft.com/office/drawing/2014/main" id="{72D82896-7F43-4016-8820-F8E101C8A63C}"/>
              </a:ext>
            </a:extLst>
          </p:cNvPr>
          <p:cNvSpPr/>
          <p:nvPr/>
        </p:nvSpPr>
        <p:spPr>
          <a:xfrm>
            <a:off x="914400" y="4343400"/>
            <a:ext cx="3175000" cy="7874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49AE006D-4843-45AC-ADC9-0E46FF999F29}"/>
              </a:ext>
            </a:extLst>
          </p:cNvPr>
          <p:cNvSpPr/>
          <p:nvPr/>
        </p:nvSpPr>
        <p:spPr>
          <a:xfrm>
            <a:off x="914400" y="4445000"/>
            <a:ext cx="63500" cy="5842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6DBD0F72-7653-4681-A344-8C3D229C35B4}"/>
              </a:ext>
            </a:extLst>
          </p:cNvPr>
          <p:cNvSpPr txBox="1"/>
          <p:nvPr/>
        </p:nvSpPr>
        <p:spPr>
          <a:xfrm>
            <a:off x="1092200" y="4470400"/>
            <a:ext cx="2870200" cy="333425"/>
          </a:xfrm>
          <a:prstGeom prst="rect">
            <a:avLst/>
          </a:prstGeom>
          <a:noFill/>
        </p:spPr>
        <p:txBody>
          <a:bodyPr vert="horz" lIns="76200" tIns="50800" rIns="76200" bIns="50800" rtlCol="0">
            <a:spAutoFit/>
          </a:bodyPr>
          <a:lstStyle/>
          <a:p>
            <a:r>
              <a:rPr lang="en-US" altLang="zh-CN" sz="1500" b="1">
                <a:solidFill>
                  <a:srgbClr val="1B3355"/>
                </a:solidFill>
                <a:latin typeface="Microsoft YaHei" panose="020B0503020204020204" pitchFamily="34" charset="-122"/>
              </a:rPr>
              <a:t>4  </a:t>
            </a:r>
            <a:r>
              <a:rPr lang="zh-CN" altLang="en-US" sz="1500" b="1">
                <a:solidFill>
                  <a:srgbClr val="1B3355"/>
                </a:solidFill>
                <a:latin typeface="Microsoft YaHei" panose="020B0503020204020204" pitchFamily="34" charset="-122"/>
              </a:rPr>
              <a:t>关键技术与创新点</a:t>
            </a:r>
          </a:p>
        </p:txBody>
      </p:sp>
      <p:sp>
        <p:nvSpPr>
          <p:cNvPr id="23" name="文本框 22">
            <a:extLst>
              <a:ext uri="{FF2B5EF4-FFF2-40B4-BE49-F238E27FC236}">
                <a16:creationId xmlns:a16="http://schemas.microsoft.com/office/drawing/2014/main" id="{23565544-A8D3-418D-B84B-A3D4C84CB4AE}"/>
              </a:ext>
            </a:extLst>
          </p:cNvPr>
          <p:cNvSpPr txBox="1"/>
          <p:nvPr/>
        </p:nvSpPr>
        <p:spPr>
          <a:xfrm>
            <a:off x="1092200" y="4876800"/>
            <a:ext cx="2895600" cy="271869"/>
          </a:xfrm>
          <a:prstGeom prst="rect">
            <a:avLst/>
          </a:prstGeom>
          <a:noFill/>
        </p:spPr>
        <p:txBody>
          <a:bodyPr vert="horz" lIns="76200" tIns="50800" rIns="76200" bIns="50800" rtlCol="0">
            <a:spAutoFit/>
          </a:bodyPr>
          <a:lstStyle/>
          <a:p>
            <a:r>
              <a:rPr lang="en-US" altLang="zh-CN" sz="1100">
                <a:solidFill>
                  <a:srgbClr val="5F6F82"/>
                </a:solidFill>
                <a:latin typeface="Microsoft YaHei" panose="020B0503020204020204" pitchFamily="34" charset="-122"/>
              </a:rPr>
              <a:t>Key Techniques</a:t>
            </a:r>
            <a:endParaRPr lang="zh-CN" altLang="en-US" sz="1100">
              <a:solidFill>
                <a:srgbClr val="5F6F82"/>
              </a:solidFill>
              <a:latin typeface="Microsoft YaHei" panose="020B0503020204020204" pitchFamily="34" charset="-122"/>
            </a:endParaRPr>
          </a:p>
        </p:txBody>
      </p:sp>
      <p:sp>
        <p:nvSpPr>
          <p:cNvPr id="24" name="矩形: 圆角 23">
            <a:extLst>
              <a:ext uri="{FF2B5EF4-FFF2-40B4-BE49-F238E27FC236}">
                <a16:creationId xmlns:a16="http://schemas.microsoft.com/office/drawing/2014/main" id="{784931BA-64BF-4C67-9800-78B33654B783}"/>
              </a:ext>
            </a:extLst>
          </p:cNvPr>
          <p:cNvSpPr/>
          <p:nvPr/>
        </p:nvSpPr>
        <p:spPr>
          <a:xfrm>
            <a:off x="914400" y="5283200"/>
            <a:ext cx="3175000" cy="7874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8C5EE1FD-8DF2-4F3A-8983-C8456DAF487D}"/>
              </a:ext>
            </a:extLst>
          </p:cNvPr>
          <p:cNvSpPr/>
          <p:nvPr/>
        </p:nvSpPr>
        <p:spPr>
          <a:xfrm>
            <a:off x="914400" y="5384800"/>
            <a:ext cx="63500" cy="5842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3CD29618-A077-4410-8E82-9904CB1BD9DF}"/>
              </a:ext>
            </a:extLst>
          </p:cNvPr>
          <p:cNvSpPr txBox="1"/>
          <p:nvPr/>
        </p:nvSpPr>
        <p:spPr>
          <a:xfrm>
            <a:off x="1092200" y="5410200"/>
            <a:ext cx="2870200" cy="333425"/>
          </a:xfrm>
          <a:prstGeom prst="rect">
            <a:avLst/>
          </a:prstGeom>
          <a:noFill/>
        </p:spPr>
        <p:txBody>
          <a:bodyPr vert="horz" lIns="76200" tIns="50800" rIns="76200" bIns="50800" rtlCol="0">
            <a:spAutoFit/>
          </a:bodyPr>
          <a:lstStyle/>
          <a:p>
            <a:r>
              <a:rPr lang="en-US" altLang="zh-CN" sz="1500" b="1">
                <a:solidFill>
                  <a:srgbClr val="1B3355"/>
                </a:solidFill>
                <a:latin typeface="Microsoft YaHei" panose="020B0503020204020204" pitchFamily="34" charset="-122"/>
              </a:rPr>
              <a:t>5  </a:t>
            </a:r>
            <a:r>
              <a:rPr lang="zh-CN" altLang="en-US" sz="1500" b="1">
                <a:solidFill>
                  <a:srgbClr val="1B3355"/>
                </a:solidFill>
                <a:latin typeface="Microsoft YaHei" panose="020B0503020204020204" pitchFamily="34" charset="-122"/>
              </a:rPr>
              <a:t>下一阶段计划</a:t>
            </a:r>
          </a:p>
        </p:txBody>
      </p:sp>
      <p:sp>
        <p:nvSpPr>
          <p:cNvPr id="27" name="文本框 26">
            <a:extLst>
              <a:ext uri="{FF2B5EF4-FFF2-40B4-BE49-F238E27FC236}">
                <a16:creationId xmlns:a16="http://schemas.microsoft.com/office/drawing/2014/main" id="{F4CA417D-6FC6-479D-8986-6D1ED6BC0AC7}"/>
              </a:ext>
            </a:extLst>
          </p:cNvPr>
          <p:cNvSpPr txBox="1"/>
          <p:nvPr/>
        </p:nvSpPr>
        <p:spPr>
          <a:xfrm>
            <a:off x="1092200" y="5816600"/>
            <a:ext cx="2895600" cy="271869"/>
          </a:xfrm>
          <a:prstGeom prst="rect">
            <a:avLst/>
          </a:prstGeom>
          <a:noFill/>
        </p:spPr>
        <p:txBody>
          <a:bodyPr vert="horz" lIns="76200" tIns="50800" rIns="76200" bIns="50800" rtlCol="0">
            <a:spAutoFit/>
          </a:bodyPr>
          <a:lstStyle/>
          <a:p>
            <a:r>
              <a:rPr lang="en-US" altLang="zh-CN" sz="1100">
                <a:solidFill>
                  <a:srgbClr val="5F6F82"/>
                </a:solidFill>
                <a:latin typeface="Microsoft YaHei" panose="020B0503020204020204" pitchFamily="34" charset="-122"/>
              </a:rPr>
              <a:t>Future Plan</a:t>
            </a:r>
            <a:endParaRPr lang="zh-CN" altLang="en-US" sz="1100">
              <a:solidFill>
                <a:srgbClr val="5F6F82"/>
              </a:solidFill>
              <a:latin typeface="Microsoft YaHei" panose="020B0503020204020204" pitchFamily="34" charset="-122"/>
            </a:endParaRPr>
          </a:p>
        </p:txBody>
      </p:sp>
      <p:sp>
        <p:nvSpPr>
          <p:cNvPr id="28" name="文本框 27">
            <a:extLst>
              <a:ext uri="{FF2B5EF4-FFF2-40B4-BE49-F238E27FC236}">
                <a16:creationId xmlns:a16="http://schemas.microsoft.com/office/drawing/2014/main" id="{9BA0AB29-52A9-42DB-91E0-931A9D609C0E}"/>
              </a:ext>
            </a:extLst>
          </p:cNvPr>
          <p:cNvSpPr txBox="1"/>
          <p:nvPr/>
        </p:nvSpPr>
        <p:spPr>
          <a:xfrm>
            <a:off x="4953000" y="1905000"/>
            <a:ext cx="6350000" cy="656590"/>
          </a:xfrm>
          <a:prstGeom prst="rect">
            <a:avLst/>
          </a:prstGeom>
          <a:noFill/>
        </p:spPr>
        <p:txBody>
          <a:bodyPr vert="horz" lIns="76200" tIns="50800" rIns="76200" bIns="50800" rtlCol="0">
            <a:spAutoFit/>
          </a:bodyPr>
          <a:lstStyle/>
          <a:p>
            <a:r>
              <a:rPr lang="zh-CN" altLang="en-US">
                <a:solidFill>
                  <a:srgbClr val="1B3355"/>
                </a:solidFill>
                <a:latin typeface="Microsoft YaHei" panose="020B0503020204020204" pitchFamily="34" charset="-122"/>
              </a:rPr>
              <a:t>沿用开题答辩“背景</a:t>
            </a:r>
            <a:r>
              <a:rPr lang="en-US" altLang="zh-CN">
                <a:solidFill>
                  <a:srgbClr val="1B3355"/>
                </a:solidFill>
                <a:latin typeface="Microsoft YaHei" panose="020B0503020204020204" pitchFamily="34" charset="-122"/>
              </a:rPr>
              <a:t>—</a:t>
            </a:r>
            <a:r>
              <a:rPr lang="zh-CN" altLang="en-US">
                <a:solidFill>
                  <a:srgbClr val="1B3355"/>
                </a:solidFill>
                <a:latin typeface="Microsoft YaHei" panose="020B0503020204020204" pitchFamily="34" charset="-122"/>
              </a:rPr>
              <a:t>方法</a:t>
            </a:r>
            <a:r>
              <a:rPr lang="en-US" altLang="zh-CN">
                <a:solidFill>
                  <a:srgbClr val="1B3355"/>
                </a:solidFill>
                <a:latin typeface="Microsoft YaHei" panose="020B0503020204020204" pitchFamily="34" charset="-122"/>
              </a:rPr>
              <a:t>—</a:t>
            </a:r>
            <a:r>
              <a:rPr lang="zh-CN" altLang="en-US">
                <a:solidFill>
                  <a:srgbClr val="1B3355"/>
                </a:solidFill>
                <a:latin typeface="Microsoft YaHei" panose="020B0503020204020204" pitchFamily="34" charset="-122"/>
              </a:rPr>
              <a:t>计划”的表达框架，本次汇报重点转向：已完成工作、实验数据、阶段性创新与后续安排。</a:t>
            </a:r>
          </a:p>
        </p:txBody>
      </p:sp>
      <p:sp>
        <p:nvSpPr>
          <p:cNvPr id="29" name="矩形 28">
            <a:extLst>
              <a:ext uri="{FF2B5EF4-FFF2-40B4-BE49-F238E27FC236}">
                <a16:creationId xmlns:a16="http://schemas.microsoft.com/office/drawing/2014/main" id="{60CB2EB6-4D3A-4706-9CED-3ACA5833A4BA}"/>
              </a:ext>
            </a:extLst>
          </p:cNvPr>
          <p:cNvSpPr/>
          <p:nvPr/>
        </p:nvSpPr>
        <p:spPr>
          <a:xfrm>
            <a:off x="4978400" y="3937000"/>
            <a:ext cx="5461000" cy="25400"/>
          </a:xfrm>
          <a:prstGeom prst="rect">
            <a:avLst/>
          </a:prstGeom>
          <a:solidFill>
            <a:srgbClr val="DDAA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29DD648D-4119-4823-9C31-C8AEAE15A051}"/>
              </a:ext>
            </a:extLst>
          </p:cNvPr>
          <p:cNvSpPr txBox="1"/>
          <p:nvPr/>
        </p:nvSpPr>
        <p:spPr>
          <a:xfrm>
            <a:off x="4978400" y="4191000"/>
            <a:ext cx="5778500" cy="718145"/>
          </a:xfrm>
          <a:prstGeom prst="rect">
            <a:avLst/>
          </a:prstGeom>
          <a:noFill/>
        </p:spPr>
        <p:txBody>
          <a:bodyPr vert="horz" lIns="76200" tIns="50800" rIns="76200" bIns="50800" rtlCol="0">
            <a:spAutoFit/>
          </a:bodyPr>
          <a:lstStyle/>
          <a:p>
            <a:r>
              <a:rPr lang="zh-CN" altLang="en-US" sz="2000" b="1">
                <a:solidFill>
                  <a:srgbClr val="2A8FA0"/>
                </a:solidFill>
                <a:latin typeface="Microsoft YaHei" panose="020B0503020204020204" pitchFamily="34" charset="-122"/>
              </a:rPr>
              <a:t>核心结论：节点打分式 </a:t>
            </a:r>
            <a:r>
              <a:rPr lang="en-US" altLang="zh-CN" sz="2000" b="1">
                <a:solidFill>
                  <a:srgbClr val="2A8FA0"/>
                </a:solidFill>
                <a:latin typeface="Microsoft YaHei" panose="020B0503020204020204" pitchFamily="34" charset="-122"/>
              </a:rPr>
              <a:t>PPO-GAT-Scoring </a:t>
            </a:r>
            <a:r>
              <a:rPr lang="zh-CN" altLang="en-US" sz="2000" b="1">
                <a:solidFill>
                  <a:srgbClr val="2A8FA0"/>
                </a:solidFill>
                <a:latin typeface="Microsoft YaHei" panose="020B0503020204020204" pitchFamily="34" charset="-122"/>
              </a:rPr>
              <a:t>在</a:t>
            </a:r>
            <a:r>
              <a:rPr lang="en-US" altLang="zh-CN" sz="2000" b="1">
                <a:solidFill>
                  <a:srgbClr val="2A8FA0"/>
                </a:solidFill>
                <a:latin typeface="Microsoft YaHei" panose="020B0503020204020204" pitchFamily="34" charset="-122"/>
              </a:rPr>
              <a:t>20</a:t>
            </a:r>
            <a:r>
              <a:rPr lang="zh-CN" altLang="en-US" sz="2000" b="1">
                <a:solidFill>
                  <a:srgbClr val="2A8FA0"/>
                </a:solidFill>
                <a:latin typeface="Microsoft YaHei" panose="020B0503020204020204" pitchFamily="34" charset="-122"/>
              </a:rPr>
              <a:t>机器人</a:t>
            </a:r>
            <a:r>
              <a:rPr lang="en-US" altLang="zh-CN" sz="2000" b="1">
                <a:solidFill>
                  <a:srgbClr val="2A8FA0"/>
                </a:solidFill>
                <a:latin typeface="Microsoft YaHei" panose="020B0503020204020204" pitchFamily="34" charset="-122"/>
              </a:rPr>
              <a:t>/10</a:t>
            </a:r>
            <a:r>
              <a:rPr lang="zh-CN" altLang="en-US" sz="2000" b="1">
                <a:solidFill>
                  <a:srgbClr val="2A8FA0"/>
                </a:solidFill>
                <a:latin typeface="Microsoft YaHei" panose="020B0503020204020204" pitchFamily="34" charset="-122"/>
              </a:rPr>
              <a:t>节点及多场景实验中表现最优。</a:t>
            </a:r>
          </a:p>
        </p:txBody>
      </p:sp>
    </p:spTree>
    <p:extLst>
      <p:ext uri="{BB962C8B-B14F-4D97-AF65-F5344CB8AC3E}">
        <p14:creationId xmlns:p14="http://schemas.microsoft.com/office/powerpoint/2010/main" val="36806487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E3DDC49D-5E68-47EA-867E-1565AC061AAA}"/>
              </a:ext>
            </a:extLst>
          </p:cNvPr>
          <p:cNvSpPr>
            <a:spLocks noGrp="1"/>
          </p:cNvSpPr>
          <p:nvPr>
            <p:ph type="title"/>
          </p:nvPr>
        </p:nvSpPr>
        <p:spPr/>
        <p:txBody>
          <a:bodyPr/>
          <a:lstStyle/>
          <a:p>
            <a:endParaRPr lang="zh-CN" altLang="en-US"/>
          </a:p>
        </p:txBody>
      </p:sp>
      <p:sp>
        <p:nvSpPr>
          <p:cNvPr id="12" name="文本框 11">
            <a:extLst>
              <a:ext uri="{FF2B5EF4-FFF2-40B4-BE49-F238E27FC236}">
                <a16:creationId xmlns:a16="http://schemas.microsoft.com/office/drawing/2014/main" id="{8BA67DE8-E5AA-4426-AACB-F74FC3D57B91}"/>
              </a:ext>
            </a:extLst>
          </p:cNvPr>
          <p:cNvSpPr txBox="1"/>
          <p:nvPr/>
        </p:nvSpPr>
        <p:spPr>
          <a:xfrm>
            <a:off x="533400" y="304800"/>
            <a:ext cx="9906000" cy="456535"/>
          </a:xfrm>
          <a:prstGeom prst="rect">
            <a:avLst/>
          </a:prstGeom>
          <a:noFill/>
        </p:spPr>
        <p:txBody>
          <a:bodyPr vert="horz" lIns="76200" tIns="50800" rIns="76200" bIns="50800" rtlCol="0">
            <a:spAutoFit/>
          </a:bodyPr>
          <a:lstStyle/>
          <a:p>
            <a:r>
              <a:rPr lang="zh-CN" altLang="en-US" sz="2300" b="1">
                <a:solidFill>
                  <a:srgbClr val="1B3355"/>
                </a:solidFill>
                <a:latin typeface="Microsoft YaHei" panose="020B0503020204020204" pitchFamily="34" charset="-122"/>
              </a:rPr>
              <a:t>中期进展：从方案设计进入系统验证阶段</a:t>
            </a:r>
          </a:p>
        </p:txBody>
      </p:sp>
      <p:sp>
        <p:nvSpPr>
          <p:cNvPr id="13" name="文本框 12">
            <a:extLst>
              <a:ext uri="{FF2B5EF4-FFF2-40B4-BE49-F238E27FC236}">
                <a16:creationId xmlns:a16="http://schemas.microsoft.com/office/drawing/2014/main" id="{0D6ECDD8-DFD5-4721-9F93-399F514BD1AB}"/>
              </a:ext>
            </a:extLst>
          </p:cNvPr>
          <p:cNvSpPr txBox="1"/>
          <p:nvPr/>
        </p:nvSpPr>
        <p:spPr>
          <a:xfrm>
            <a:off x="10058400" y="381000"/>
            <a:ext cx="1397000" cy="256480"/>
          </a:xfrm>
          <a:prstGeom prst="rect">
            <a:avLst/>
          </a:prstGeom>
          <a:noFill/>
        </p:spPr>
        <p:txBody>
          <a:bodyPr vert="horz" lIns="76200" tIns="50800" rIns="76200" bIns="50800" rtlCol="0">
            <a:spAutoFit/>
          </a:bodyPr>
          <a:lstStyle/>
          <a:p>
            <a:pPr algn="r"/>
            <a:r>
              <a:rPr lang="en-US" altLang="zh-CN" sz="1000" b="1">
                <a:solidFill>
                  <a:srgbClr val="2A8FA0"/>
                </a:solidFill>
                <a:latin typeface="Microsoft YaHei" panose="020B0503020204020204" pitchFamily="34" charset="-122"/>
              </a:rPr>
              <a:t>1 / 5</a:t>
            </a:r>
            <a:endParaRPr lang="zh-CN" altLang="en-US" sz="1000" b="1">
              <a:solidFill>
                <a:srgbClr val="2A8FA0"/>
              </a:solidFill>
              <a:latin typeface="Microsoft YaHei" panose="020B0503020204020204" pitchFamily="34" charset="-122"/>
            </a:endParaRPr>
          </a:p>
        </p:txBody>
      </p:sp>
      <p:sp>
        <p:nvSpPr>
          <p:cNvPr id="15" name="矩形 14">
            <a:extLst>
              <a:ext uri="{FF2B5EF4-FFF2-40B4-BE49-F238E27FC236}">
                <a16:creationId xmlns:a16="http://schemas.microsoft.com/office/drawing/2014/main" id="{C2CB2321-FD2F-4F3A-B4EA-2387D3C73A58}"/>
              </a:ext>
            </a:extLst>
          </p:cNvPr>
          <p:cNvSpPr/>
          <p:nvPr/>
        </p:nvSpPr>
        <p:spPr>
          <a:xfrm>
            <a:off x="609600" y="914400"/>
            <a:ext cx="1524000" cy="50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ECC8E70E-DCA6-42EA-9657-43A7298F6716}"/>
              </a:ext>
            </a:extLst>
          </p:cNvPr>
          <p:cNvSpPr txBox="1"/>
          <p:nvPr/>
        </p:nvSpPr>
        <p:spPr>
          <a:xfrm>
            <a:off x="11455400" y="6350000"/>
            <a:ext cx="381000" cy="256480"/>
          </a:xfrm>
          <a:prstGeom prst="rect">
            <a:avLst/>
          </a:prstGeom>
          <a:noFill/>
        </p:spPr>
        <p:txBody>
          <a:bodyPr vert="horz" lIns="76200" tIns="50800" rIns="76200" bIns="50800" rtlCol="0">
            <a:spAutoFit/>
          </a:bodyPr>
          <a:lstStyle/>
          <a:p>
            <a:pPr algn="r"/>
            <a:r>
              <a:rPr lang="en-US" altLang="zh-CN" sz="1000">
                <a:solidFill>
                  <a:srgbClr val="5F6F82"/>
                </a:solidFill>
                <a:latin typeface="Microsoft YaHei" panose="020B0503020204020204" pitchFamily="34" charset="-122"/>
              </a:rPr>
              <a:t>03</a:t>
            </a:r>
            <a:endParaRPr lang="zh-CN" altLang="en-US" sz="1000">
              <a:solidFill>
                <a:srgbClr val="5F6F82"/>
              </a:solidFill>
              <a:latin typeface="Microsoft YaHei" panose="020B0503020204020204" pitchFamily="34" charset="-122"/>
            </a:endParaRPr>
          </a:p>
        </p:txBody>
      </p:sp>
      <p:sp>
        <p:nvSpPr>
          <p:cNvPr id="18" name="文本框 17">
            <a:extLst>
              <a:ext uri="{FF2B5EF4-FFF2-40B4-BE49-F238E27FC236}">
                <a16:creationId xmlns:a16="http://schemas.microsoft.com/office/drawing/2014/main" id="{32CB6ECA-32FA-4222-A6F5-4CD966F67C7F}"/>
              </a:ext>
            </a:extLst>
          </p:cNvPr>
          <p:cNvSpPr txBox="1"/>
          <p:nvPr/>
        </p:nvSpPr>
        <p:spPr>
          <a:xfrm>
            <a:off x="889000" y="1524000"/>
            <a:ext cx="5334000" cy="2056973"/>
          </a:xfrm>
          <a:prstGeom prst="rect">
            <a:avLst/>
          </a:prstGeom>
          <a:noFill/>
        </p:spPr>
        <p:txBody>
          <a:bodyPr vert="horz" lIns="76200" tIns="50800" rIns="76200" bIns="50800" rtlCol="0">
            <a:spAutoFit/>
          </a:bodyPr>
          <a:lstStyle/>
          <a:p>
            <a:pPr>
              <a:spcAft>
                <a:spcPts val="600"/>
              </a:spcAft>
            </a:pPr>
            <a:r>
              <a:rPr lang="en-US" altLang="zh-CN" sz="1600">
                <a:solidFill>
                  <a:srgbClr val="1B3355"/>
                </a:solidFill>
                <a:latin typeface="Microsoft YaHei" panose="020B0503020204020204" pitchFamily="34" charset="-122"/>
              </a:rPr>
              <a:t>• </a:t>
            </a:r>
            <a:r>
              <a:rPr lang="zh-CN" altLang="en-US" sz="1600">
                <a:solidFill>
                  <a:srgbClr val="1B3355"/>
                </a:solidFill>
                <a:latin typeface="Microsoft YaHei" panose="020B0503020204020204" pitchFamily="34" charset="-122"/>
              </a:rPr>
              <a:t>已完成</a:t>
            </a:r>
            <a:r>
              <a:rPr lang="en-US" altLang="zh-CN" sz="1600">
                <a:solidFill>
                  <a:srgbClr val="1B3355"/>
                </a:solidFill>
                <a:latin typeface="Microsoft YaHei" panose="020B0503020204020204" pitchFamily="34" charset="-122"/>
              </a:rPr>
              <a:t>20</a:t>
            </a:r>
            <a:r>
              <a:rPr lang="zh-CN" altLang="en-US" sz="1600">
                <a:solidFill>
                  <a:srgbClr val="1B3355"/>
                </a:solidFill>
                <a:latin typeface="Microsoft YaHei" panose="020B0503020204020204" pitchFamily="34" charset="-122"/>
              </a:rPr>
              <a:t>机器人、</a:t>
            </a:r>
            <a:r>
              <a:rPr lang="en-US" altLang="zh-CN" sz="1600">
                <a:solidFill>
                  <a:srgbClr val="1B3355"/>
                </a:solidFill>
                <a:latin typeface="Microsoft YaHei" panose="020B0503020204020204" pitchFamily="34" charset="-122"/>
              </a:rPr>
              <a:t>10</a:t>
            </a:r>
            <a:r>
              <a:rPr lang="zh-CN" altLang="en-US" sz="1600">
                <a:solidFill>
                  <a:srgbClr val="1B3355"/>
                </a:solidFill>
                <a:latin typeface="Microsoft YaHei" panose="020B0503020204020204" pitchFamily="34" charset="-122"/>
              </a:rPr>
              <a:t>异构节点的主实验配置</a:t>
            </a:r>
          </a:p>
          <a:p>
            <a:pPr>
              <a:spcAft>
                <a:spcPts val="600"/>
              </a:spcAft>
            </a:pPr>
            <a:r>
              <a:rPr lang="en-US" altLang="zh-CN" sz="1600">
                <a:solidFill>
                  <a:srgbClr val="1B3355"/>
                </a:solidFill>
                <a:latin typeface="Microsoft YaHei" panose="020B0503020204020204" pitchFamily="34" charset="-122"/>
              </a:rPr>
              <a:t>• </a:t>
            </a:r>
            <a:r>
              <a:rPr lang="zh-CN" altLang="en-US" sz="1600">
                <a:solidFill>
                  <a:srgbClr val="1B3355"/>
                </a:solidFill>
                <a:latin typeface="Microsoft YaHei" panose="020B0503020204020204" pitchFamily="34" charset="-122"/>
              </a:rPr>
              <a:t>已实现</a:t>
            </a:r>
            <a:r>
              <a:rPr lang="en-US" altLang="zh-CN" sz="1600">
                <a:solidFill>
                  <a:srgbClr val="1B3355"/>
                </a:solidFill>
                <a:latin typeface="Microsoft YaHei" panose="020B0503020204020204" pitchFamily="34" charset="-122"/>
              </a:rPr>
              <a:t>PPO-Baseline</a:t>
            </a:r>
            <a:r>
              <a:rPr lang="zh-CN" altLang="en-US" sz="1600">
                <a:solidFill>
                  <a:srgbClr val="1B3355"/>
                </a:solidFill>
                <a:latin typeface="Microsoft YaHei" panose="020B0503020204020204" pitchFamily="34" charset="-122"/>
              </a:rPr>
              <a:t>、</a:t>
            </a:r>
            <a:r>
              <a:rPr lang="en-US" altLang="zh-CN" sz="1600">
                <a:solidFill>
                  <a:srgbClr val="1B3355"/>
                </a:solidFill>
                <a:latin typeface="Microsoft YaHei" panose="020B0503020204020204" pitchFamily="34" charset="-122"/>
              </a:rPr>
              <a:t>PPO-GAT-Naive</a:t>
            </a:r>
            <a:r>
              <a:rPr lang="zh-CN" altLang="en-US" sz="1600">
                <a:solidFill>
                  <a:srgbClr val="1B3355"/>
                </a:solidFill>
                <a:latin typeface="Microsoft YaHei" panose="020B0503020204020204" pitchFamily="34" charset="-122"/>
              </a:rPr>
              <a:t>、</a:t>
            </a:r>
            <a:r>
              <a:rPr lang="en-US" altLang="zh-CN" sz="1600">
                <a:solidFill>
                  <a:srgbClr val="1B3355"/>
                </a:solidFill>
                <a:latin typeface="Microsoft YaHei" panose="020B0503020204020204" pitchFamily="34" charset="-122"/>
              </a:rPr>
              <a:t>PPO-GAT-Scoring</a:t>
            </a:r>
            <a:r>
              <a:rPr lang="zh-CN" altLang="en-US" sz="1600">
                <a:solidFill>
                  <a:srgbClr val="1B3355"/>
                </a:solidFill>
                <a:latin typeface="Microsoft YaHei" panose="020B0503020204020204" pitchFamily="34" charset="-122"/>
              </a:rPr>
              <a:t>三类策略</a:t>
            </a:r>
          </a:p>
          <a:p>
            <a:pPr>
              <a:spcAft>
                <a:spcPts val="600"/>
              </a:spcAft>
            </a:pPr>
            <a:r>
              <a:rPr lang="en-US" altLang="zh-CN" sz="1600">
                <a:solidFill>
                  <a:srgbClr val="1B3355"/>
                </a:solidFill>
                <a:latin typeface="Microsoft YaHei" panose="020B0503020204020204" pitchFamily="34" charset="-122"/>
              </a:rPr>
              <a:t>• </a:t>
            </a:r>
            <a:r>
              <a:rPr lang="zh-CN" altLang="en-US" sz="1600">
                <a:solidFill>
                  <a:srgbClr val="1B3355"/>
                </a:solidFill>
                <a:latin typeface="Microsoft YaHei" panose="020B0503020204020204" pitchFamily="34" charset="-122"/>
              </a:rPr>
              <a:t>已完成传统基线、多</a:t>
            </a:r>
            <a:r>
              <a:rPr lang="en-US" altLang="zh-CN" sz="1600">
                <a:solidFill>
                  <a:srgbClr val="1B3355"/>
                </a:solidFill>
                <a:latin typeface="Microsoft YaHei" panose="020B0503020204020204" pitchFamily="34" charset="-122"/>
              </a:rPr>
              <a:t>seed</a:t>
            </a:r>
            <a:r>
              <a:rPr lang="zh-CN" altLang="en-US" sz="1600">
                <a:solidFill>
                  <a:srgbClr val="1B3355"/>
                </a:solidFill>
                <a:latin typeface="Microsoft YaHei" panose="020B0503020204020204" pitchFamily="34" charset="-122"/>
              </a:rPr>
              <a:t>评估、四类专门场景与</a:t>
            </a:r>
            <a:r>
              <a:rPr lang="en-US" altLang="zh-CN" sz="1600">
                <a:solidFill>
                  <a:srgbClr val="1B3355"/>
                </a:solidFill>
                <a:latin typeface="Microsoft YaHei" panose="020B0503020204020204" pitchFamily="34" charset="-122"/>
              </a:rPr>
              <a:t>mixed-context</a:t>
            </a:r>
            <a:r>
              <a:rPr lang="zh-CN" altLang="en-US" sz="1600">
                <a:solidFill>
                  <a:srgbClr val="1B3355"/>
                </a:solidFill>
                <a:latin typeface="Microsoft YaHei" panose="020B0503020204020204" pitchFamily="34" charset="-122"/>
              </a:rPr>
              <a:t>验证</a:t>
            </a:r>
          </a:p>
          <a:p>
            <a:pPr>
              <a:spcAft>
                <a:spcPts val="600"/>
              </a:spcAft>
            </a:pPr>
            <a:r>
              <a:rPr lang="en-US" altLang="zh-CN" sz="1600">
                <a:solidFill>
                  <a:srgbClr val="1B3355"/>
                </a:solidFill>
                <a:latin typeface="Microsoft YaHei" panose="020B0503020204020204" pitchFamily="34" charset="-122"/>
              </a:rPr>
              <a:t>• </a:t>
            </a:r>
            <a:r>
              <a:rPr lang="zh-CN" altLang="en-US" sz="1600">
                <a:solidFill>
                  <a:srgbClr val="1B3355"/>
                </a:solidFill>
                <a:latin typeface="Microsoft YaHei" panose="020B0503020204020204" pitchFamily="34" charset="-122"/>
              </a:rPr>
              <a:t>已形成结果</a:t>
            </a:r>
            <a:r>
              <a:rPr lang="en-US" altLang="zh-CN" sz="1600">
                <a:solidFill>
                  <a:srgbClr val="1B3355"/>
                </a:solidFill>
                <a:latin typeface="Microsoft YaHei" panose="020B0503020204020204" pitchFamily="34" charset="-122"/>
              </a:rPr>
              <a:t>CSV</a:t>
            </a:r>
            <a:r>
              <a:rPr lang="zh-CN" altLang="en-US" sz="1600">
                <a:solidFill>
                  <a:srgbClr val="1B3355"/>
                </a:solidFill>
                <a:latin typeface="Microsoft YaHei" panose="020B0503020204020204" pitchFamily="34" charset="-122"/>
              </a:rPr>
              <a:t>、</a:t>
            </a:r>
            <a:r>
              <a:rPr lang="en-US" altLang="zh-CN" sz="1600">
                <a:solidFill>
                  <a:srgbClr val="1B3355"/>
                </a:solidFill>
                <a:latin typeface="Microsoft YaHei" panose="020B0503020204020204" pitchFamily="34" charset="-122"/>
              </a:rPr>
              <a:t>per-seed</a:t>
            </a:r>
            <a:r>
              <a:rPr lang="zh-CN" altLang="en-US" sz="1600">
                <a:solidFill>
                  <a:srgbClr val="1B3355"/>
                </a:solidFill>
                <a:latin typeface="Microsoft YaHei" panose="020B0503020204020204" pitchFamily="34" charset="-122"/>
              </a:rPr>
              <a:t>明细、图表和轻量系统验证日志</a:t>
            </a:r>
          </a:p>
        </p:txBody>
      </p:sp>
      <p:sp>
        <p:nvSpPr>
          <p:cNvPr id="19" name="矩形: 圆角 18">
            <a:extLst>
              <a:ext uri="{FF2B5EF4-FFF2-40B4-BE49-F238E27FC236}">
                <a16:creationId xmlns:a16="http://schemas.microsoft.com/office/drawing/2014/main" id="{76A4964E-69D0-4053-AD32-39C9E0EDB7DB}"/>
              </a:ext>
            </a:extLst>
          </p:cNvPr>
          <p:cNvSpPr/>
          <p:nvPr/>
        </p:nvSpPr>
        <p:spPr>
          <a:xfrm>
            <a:off x="6794500" y="1524000"/>
            <a:ext cx="3937000" cy="10414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6C087E45-7B17-4FE2-90E4-8F5D34F7575B}"/>
              </a:ext>
            </a:extLst>
          </p:cNvPr>
          <p:cNvSpPr/>
          <p:nvPr/>
        </p:nvSpPr>
        <p:spPr>
          <a:xfrm>
            <a:off x="6794500" y="1625600"/>
            <a:ext cx="63500" cy="838200"/>
          </a:xfrm>
          <a:prstGeom prst="rect">
            <a:avLst/>
          </a:prstGeom>
          <a:solidFill>
            <a:srgbClr val="DDAA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091F65DB-66BC-42B4-85DA-A194D838046E}"/>
              </a:ext>
            </a:extLst>
          </p:cNvPr>
          <p:cNvSpPr txBox="1"/>
          <p:nvPr/>
        </p:nvSpPr>
        <p:spPr>
          <a:xfrm>
            <a:off x="6972300" y="1651000"/>
            <a:ext cx="3632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阶段定位</a:t>
            </a:r>
          </a:p>
        </p:txBody>
      </p:sp>
      <p:sp>
        <p:nvSpPr>
          <p:cNvPr id="22" name="文本框 21">
            <a:extLst>
              <a:ext uri="{FF2B5EF4-FFF2-40B4-BE49-F238E27FC236}">
                <a16:creationId xmlns:a16="http://schemas.microsoft.com/office/drawing/2014/main" id="{F3030635-A475-4F67-811F-C26CDE4A2D1F}"/>
              </a:ext>
            </a:extLst>
          </p:cNvPr>
          <p:cNvSpPr txBox="1"/>
          <p:nvPr/>
        </p:nvSpPr>
        <p:spPr>
          <a:xfrm>
            <a:off x="6972300" y="2057400"/>
            <a:ext cx="3657600" cy="441146"/>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当前工作已超过开题阶段“跑通原型”的要求，进入可对比、可复现、可分析的实验阶段。</a:t>
            </a:r>
          </a:p>
        </p:txBody>
      </p:sp>
      <p:sp>
        <p:nvSpPr>
          <p:cNvPr id="23" name="矩形: 圆角 22">
            <a:extLst>
              <a:ext uri="{FF2B5EF4-FFF2-40B4-BE49-F238E27FC236}">
                <a16:creationId xmlns:a16="http://schemas.microsoft.com/office/drawing/2014/main" id="{29E2D6FD-20DD-4AD2-AC08-BB8D082F0120}"/>
              </a:ext>
            </a:extLst>
          </p:cNvPr>
          <p:cNvSpPr/>
          <p:nvPr/>
        </p:nvSpPr>
        <p:spPr>
          <a:xfrm>
            <a:off x="6794500" y="2794000"/>
            <a:ext cx="3937000" cy="10414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B88B1FBA-65F9-4513-8457-BAB81C1D72E2}"/>
              </a:ext>
            </a:extLst>
          </p:cNvPr>
          <p:cNvSpPr/>
          <p:nvPr/>
        </p:nvSpPr>
        <p:spPr>
          <a:xfrm>
            <a:off x="6794500" y="2895600"/>
            <a:ext cx="63500" cy="8382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AB99C956-F9BB-4B91-B003-8DF8F9D5ED98}"/>
              </a:ext>
            </a:extLst>
          </p:cNvPr>
          <p:cNvSpPr txBox="1"/>
          <p:nvPr/>
        </p:nvSpPr>
        <p:spPr>
          <a:xfrm>
            <a:off x="6972300" y="2921000"/>
            <a:ext cx="3632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下一重点</a:t>
            </a:r>
          </a:p>
        </p:txBody>
      </p:sp>
      <p:sp>
        <p:nvSpPr>
          <p:cNvPr id="29" name="文本框 28">
            <a:extLst>
              <a:ext uri="{FF2B5EF4-FFF2-40B4-BE49-F238E27FC236}">
                <a16:creationId xmlns:a16="http://schemas.microsoft.com/office/drawing/2014/main" id="{A68F76BC-844B-4050-B929-743DCAD11EAD}"/>
              </a:ext>
            </a:extLst>
          </p:cNvPr>
          <p:cNvSpPr txBox="1"/>
          <p:nvPr/>
        </p:nvSpPr>
        <p:spPr>
          <a:xfrm>
            <a:off x="6972300" y="3327400"/>
            <a:ext cx="3657600" cy="271869"/>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消融实验、统计显著性、规模扩展、论文实验章节写作。</a:t>
            </a:r>
          </a:p>
        </p:txBody>
      </p:sp>
      <p:sp>
        <p:nvSpPr>
          <p:cNvPr id="30" name="矩形: 圆角 29">
            <a:extLst>
              <a:ext uri="{FF2B5EF4-FFF2-40B4-BE49-F238E27FC236}">
                <a16:creationId xmlns:a16="http://schemas.microsoft.com/office/drawing/2014/main" id="{B5654156-E0D2-43DF-A264-D7D3AC45E70F}"/>
              </a:ext>
            </a:extLst>
          </p:cNvPr>
          <p:cNvSpPr/>
          <p:nvPr/>
        </p:nvSpPr>
        <p:spPr>
          <a:xfrm>
            <a:off x="6794500" y="4064000"/>
            <a:ext cx="3937000" cy="10414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A318FE99-9F3A-4D52-8A6D-8A55537ABE21}"/>
              </a:ext>
            </a:extLst>
          </p:cNvPr>
          <p:cNvSpPr/>
          <p:nvPr/>
        </p:nvSpPr>
        <p:spPr>
          <a:xfrm>
            <a:off x="6794500" y="4165600"/>
            <a:ext cx="63500" cy="838200"/>
          </a:xfrm>
          <a:prstGeom prst="rect">
            <a:avLst/>
          </a:prstGeom>
          <a:solidFill>
            <a:srgbClr val="53A05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0D710329-FCF3-4FBA-8C6D-808FD88668D5}"/>
              </a:ext>
            </a:extLst>
          </p:cNvPr>
          <p:cNvSpPr txBox="1"/>
          <p:nvPr/>
        </p:nvSpPr>
        <p:spPr>
          <a:xfrm>
            <a:off x="6972300" y="4191000"/>
            <a:ext cx="3632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主要证据</a:t>
            </a:r>
          </a:p>
        </p:txBody>
      </p:sp>
      <p:sp>
        <p:nvSpPr>
          <p:cNvPr id="33" name="文本框 32">
            <a:extLst>
              <a:ext uri="{FF2B5EF4-FFF2-40B4-BE49-F238E27FC236}">
                <a16:creationId xmlns:a16="http://schemas.microsoft.com/office/drawing/2014/main" id="{65F14870-14CE-4C9F-ADCE-5126E2158D06}"/>
              </a:ext>
            </a:extLst>
          </p:cNvPr>
          <p:cNvSpPr txBox="1"/>
          <p:nvPr/>
        </p:nvSpPr>
        <p:spPr>
          <a:xfrm>
            <a:off x="6972300" y="4597400"/>
            <a:ext cx="3657600" cy="441146"/>
          </a:xfrm>
          <a:prstGeom prst="rect">
            <a:avLst/>
          </a:prstGeom>
          <a:noFill/>
        </p:spPr>
        <p:txBody>
          <a:bodyPr vert="horz" lIns="76200" tIns="50800" rIns="76200" bIns="50800" rtlCol="0">
            <a:spAutoFit/>
          </a:bodyPr>
          <a:lstStyle/>
          <a:p>
            <a:r>
              <a:rPr lang="en-US" altLang="zh-CN" sz="1100">
                <a:solidFill>
                  <a:srgbClr val="5F6F82"/>
                </a:solidFill>
                <a:latin typeface="Microsoft YaHei" panose="020B0503020204020204" pitchFamily="34" charset="-122"/>
              </a:rPr>
              <a:t>PPO-GAT-Scoring </a:t>
            </a:r>
            <a:r>
              <a:rPr lang="zh-CN" altLang="en-US" sz="1100">
                <a:solidFill>
                  <a:srgbClr val="5F6F82"/>
                </a:solidFill>
                <a:latin typeface="Microsoft YaHei" panose="020B0503020204020204" pitchFamily="34" charset="-122"/>
              </a:rPr>
              <a:t>在主配置和四类动态场景中均优于普通</a:t>
            </a:r>
            <a:r>
              <a:rPr lang="en-US" altLang="zh-CN" sz="1100">
                <a:solidFill>
                  <a:srgbClr val="5F6F82"/>
                </a:solidFill>
                <a:latin typeface="Microsoft YaHei" panose="020B0503020204020204" pitchFamily="34" charset="-122"/>
              </a:rPr>
              <a:t>PPO</a:t>
            </a:r>
            <a:r>
              <a:rPr lang="zh-CN" altLang="en-US" sz="1100">
                <a:solidFill>
                  <a:srgbClr val="5F6F82"/>
                </a:solidFill>
                <a:latin typeface="Microsoft YaHei" panose="020B0503020204020204" pitchFamily="34" charset="-122"/>
              </a:rPr>
              <a:t>与朴素</a:t>
            </a:r>
            <a:r>
              <a:rPr lang="en-US" altLang="zh-CN" sz="1100">
                <a:solidFill>
                  <a:srgbClr val="5F6F82"/>
                </a:solidFill>
                <a:latin typeface="Microsoft YaHei" panose="020B0503020204020204" pitchFamily="34" charset="-122"/>
              </a:rPr>
              <a:t>GAT</a:t>
            </a:r>
            <a:r>
              <a:rPr lang="zh-CN" altLang="en-US" sz="1100">
                <a:solidFill>
                  <a:srgbClr val="5F6F82"/>
                </a:solidFill>
                <a:latin typeface="Microsoft YaHei"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slow" p14:dur="1500" advTm="39693"/>
    </mc:Choice>
    <mc:Fallback xmlns="">
      <p:transition spd="slow" advTm="3969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3EA27E3-B157-447E-9497-04E5919B83DF}"/>
              </a:ext>
            </a:extLst>
          </p:cNvPr>
          <p:cNvSpPr>
            <a:spLocks noGrp="1"/>
          </p:cNvSpPr>
          <p:nvPr>
            <p:ph type="title"/>
          </p:nvPr>
        </p:nvSpPr>
        <p:spPr/>
        <p:txBody>
          <a:bodyPr/>
          <a:lstStyle/>
          <a:p>
            <a:endParaRPr lang="zh-CN" altLang="en-US"/>
          </a:p>
        </p:txBody>
      </p:sp>
      <p:sp>
        <p:nvSpPr>
          <p:cNvPr id="7" name="文本框 6">
            <a:extLst>
              <a:ext uri="{FF2B5EF4-FFF2-40B4-BE49-F238E27FC236}">
                <a16:creationId xmlns:a16="http://schemas.microsoft.com/office/drawing/2014/main" id="{9EFBFF79-17F6-49F8-AD52-BB952862D240}"/>
              </a:ext>
            </a:extLst>
          </p:cNvPr>
          <p:cNvSpPr txBox="1"/>
          <p:nvPr/>
        </p:nvSpPr>
        <p:spPr>
          <a:xfrm>
            <a:off x="533400" y="304800"/>
            <a:ext cx="9906000" cy="456535"/>
          </a:xfrm>
          <a:prstGeom prst="rect">
            <a:avLst/>
          </a:prstGeom>
          <a:noFill/>
        </p:spPr>
        <p:txBody>
          <a:bodyPr vert="horz" lIns="76200" tIns="50800" rIns="76200" bIns="50800" rtlCol="0">
            <a:spAutoFit/>
          </a:bodyPr>
          <a:lstStyle/>
          <a:p>
            <a:r>
              <a:rPr lang="zh-CN" altLang="en-US" sz="2300" b="1">
                <a:solidFill>
                  <a:srgbClr val="1B3355"/>
                </a:solidFill>
                <a:latin typeface="Microsoft YaHei" panose="020B0503020204020204" pitchFamily="34" charset="-122"/>
              </a:rPr>
              <a:t>研究目标回顾：算力</a:t>
            </a:r>
            <a:r>
              <a:rPr lang="en-US" altLang="zh-CN" sz="2300" b="1">
                <a:solidFill>
                  <a:srgbClr val="1B3355"/>
                </a:solidFill>
                <a:latin typeface="Microsoft YaHei" panose="020B0503020204020204" pitchFamily="34" charset="-122"/>
              </a:rPr>
              <a:t>-</a:t>
            </a:r>
            <a:r>
              <a:rPr lang="zh-CN" altLang="en-US" sz="2300" b="1">
                <a:solidFill>
                  <a:srgbClr val="1B3355"/>
                </a:solidFill>
                <a:latin typeface="Microsoft YaHei" panose="020B0503020204020204" pitchFamily="34" charset="-122"/>
              </a:rPr>
              <a:t>任务</a:t>
            </a:r>
            <a:r>
              <a:rPr lang="en-US" altLang="zh-CN" sz="2300" b="1">
                <a:solidFill>
                  <a:srgbClr val="1B3355"/>
                </a:solidFill>
                <a:latin typeface="Microsoft YaHei" panose="020B0503020204020204" pitchFamily="34" charset="-122"/>
              </a:rPr>
              <a:t>-</a:t>
            </a:r>
            <a:r>
              <a:rPr lang="zh-CN" altLang="en-US" sz="2300" b="1">
                <a:solidFill>
                  <a:srgbClr val="1B3355"/>
                </a:solidFill>
                <a:latin typeface="Microsoft YaHei" panose="020B0503020204020204" pitchFamily="34" charset="-122"/>
              </a:rPr>
              <a:t>机器人协同调度</a:t>
            </a:r>
          </a:p>
        </p:txBody>
      </p:sp>
      <p:sp>
        <p:nvSpPr>
          <p:cNvPr id="9" name="文本框 8">
            <a:extLst>
              <a:ext uri="{FF2B5EF4-FFF2-40B4-BE49-F238E27FC236}">
                <a16:creationId xmlns:a16="http://schemas.microsoft.com/office/drawing/2014/main" id="{6D19875A-89B7-416A-87C5-8D4074485CD9}"/>
              </a:ext>
            </a:extLst>
          </p:cNvPr>
          <p:cNvSpPr txBox="1"/>
          <p:nvPr/>
        </p:nvSpPr>
        <p:spPr>
          <a:xfrm>
            <a:off x="10058400" y="381000"/>
            <a:ext cx="1397000" cy="256480"/>
          </a:xfrm>
          <a:prstGeom prst="rect">
            <a:avLst/>
          </a:prstGeom>
          <a:noFill/>
        </p:spPr>
        <p:txBody>
          <a:bodyPr vert="horz" lIns="76200" tIns="50800" rIns="76200" bIns="50800" rtlCol="0">
            <a:spAutoFit/>
          </a:bodyPr>
          <a:lstStyle/>
          <a:p>
            <a:pPr algn="r"/>
            <a:r>
              <a:rPr lang="en-US" altLang="zh-CN" sz="1000" b="1">
                <a:solidFill>
                  <a:srgbClr val="2A8FA0"/>
                </a:solidFill>
                <a:latin typeface="Microsoft YaHei" panose="020B0503020204020204" pitchFamily="34" charset="-122"/>
              </a:rPr>
              <a:t>1 / 5</a:t>
            </a:r>
            <a:endParaRPr lang="zh-CN" altLang="en-US" sz="1000" b="1">
              <a:solidFill>
                <a:srgbClr val="2A8FA0"/>
              </a:solidFill>
              <a:latin typeface="Microsoft YaHei" panose="020B0503020204020204" pitchFamily="34" charset="-122"/>
            </a:endParaRPr>
          </a:p>
        </p:txBody>
      </p:sp>
      <p:sp>
        <p:nvSpPr>
          <p:cNvPr id="11" name="矩形 10">
            <a:extLst>
              <a:ext uri="{FF2B5EF4-FFF2-40B4-BE49-F238E27FC236}">
                <a16:creationId xmlns:a16="http://schemas.microsoft.com/office/drawing/2014/main" id="{C11CDEE9-1E86-4312-9619-FC7171827F5F}"/>
              </a:ext>
            </a:extLst>
          </p:cNvPr>
          <p:cNvSpPr/>
          <p:nvPr/>
        </p:nvSpPr>
        <p:spPr>
          <a:xfrm>
            <a:off x="609600" y="914400"/>
            <a:ext cx="1524000" cy="50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5F63B346-0325-48FF-985B-B9221B249424}"/>
              </a:ext>
            </a:extLst>
          </p:cNvPr>
          <p:cNvSpPr txBox="1"/>
          <p:nvPr/>
        </p:nvSpPr>
        <p:spPr>
          <a:xfrm>
            <a:off x="11455400" y="6350000"/>
            <a:ext cx="381000" cy="256480"/>
          </a:xfrm>
          <a:prstGeom prst="rect">
            <a:avLst/>
          </a:prstGeom>
          <a:noFill/>
        </p:spPr>
        <p:txBody>
          <a:bodyPr vert="horz" lIns="76200" tIns="50800" rIns="76200" bIns="50800" rtlCol="0">
            <a:spAutoFit/>
          </a:bodyPr>
          <a:lstStyle/>
          <a:p>
            <a:pPr algn="r"/>
            <a:r>
              <a:rPr lang="en-US" altLang="zh-CN" sz="1000">
                <a:solidFill>
                  <a:srgbClr val="5F6F82"/>
                </a:solidFill>
                <a:latin typeface="Microsoft YaHei" panose="020B0503020204020204" pitchFamily="34" charset="-122"/>
              </a:rPr>
              <a:t>04</a:t>
            </a:r>
            <a:endParaRPr lang="zh-CN" altLang="en-US" sz="1000">
              <a:solidFill>
                <a:srgbClr val="5F6F82"/>
              </a:solidFill>
              <a:latin typeface="Microsoft YaHei" panose="020B0503020204020204" pitchFamily="34" charset="-122"/>
            </a:endParaRPr>
          </a:p>
        </p:txBody>
      </p:sp>
      <p:sp>
        <p:nvSpPr>
          <p:cNvPr id="13" name="矩形: 圆角 12">
            <a:extLst>
              <a:ext uri="{FF2B5EF4-FFF2-40B4-BE49-F238E27FC236}">
                <a16:creationId xmlns:a16="http://schemas.microsoft.com/office/drawing/2014/main" id="{4EC1F047-6992-4D53-A0D5-A23F1CD3013F}"/>
              </a:ext>
            </a:extLst>
          </p:cNvPr>
          <p:cNvSpPr/>
          <p:nvPr/>
        </p:nvSpPr>
        <p:spPr>
          <a:xfrm>
            <a:off x="736600" y="1498600"/>
            <a:ext cx="3238500" cy="3111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8F33D4D2-601D-4042-91D9-FC0AA0FD8529}"/>
              </a:ext>
            </a:extLst>
          </p:cNvPr>
          <p:cNvSpPr/>
          <p:nvPr/>
        </p:nvSpPr>
        <p:spPr>
          <a:xfrm>
            <a:off x="736600" y="1600200"/>
            <a:ext cx="63500" cy="2908300"/>
          </a:xfrm>
          <a:prstGeom prst="rect">
            <a:avLst/>
          </a:prstGeom>
          <a:solidFill>
            <a:srgbClr val="DDAA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2047110F-0CC7-4BD8-BC67-62F52D58AC03}"/>
              </a:ext>
            </a:extLst>
          </p:cNvPr>
          <p:cNvSpPr txBox="1"/>
          <p:nvPr/>
        </p:nvSpPr>
        <p:spPr>
          <a:xfrm>
            <a:off x="914400" y="1625600"/>
            <a:ext cx="29337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开题痛点</a:t>
            </a:r>
          </a:p>
        </p:txBody>
      </p:sp>
      <p:sp>
        <p:nvSpPr>
          <p:cNvPr id="20" name="文本框 19">
            <a:extLst>
              <a:ext uri="{FF2B5EF4-FFF2-40B4-BE49-F238E27FC236}">
                <a16:creationId xmlns:a16="http://schemas.microsoft.com/office/drawing/2014/main" id="{50E1C75C-6A60-4162-8E19-4EF17A557AEC}"/>
              </a:ext>
            </a:extLst>
          </p:cNvPr>
          <p:cNvSpPr txBox="1"/>
          <p:nvPr/>
        </p:nvSpPr>
        <p:spPr>
          <a:xfrm>
            <a:off x="914400" y="2032000"/>
            <a:ext cx="2959100" cy="610424"/>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算力调度与机器人任务协同机制存在断层</a:t>
            </a:r>
          </a:p>
          <a:p>
            <a:r>
              <a:rPr lang="zh-CN" altLang="en-US" sz="1100">
                <a:solidFill>
                  <a:srgbClr val="5F6F82"/>
                </a:solidFill>
                <a:latin typeface="Microsoft YaHei" panose="020B0503020204020204" pitchFamily="34" charset="-122"/>
              </a:rPr>
              <a:t>复杂拓扑下普通</a:t>
            </a:r>
            <a:r>
              <a:rPr lang="en-US" altLang="zh-CN" sz="1100">
                <a:solidFill>
                  <a:srgbClr val="5F6F82"/>
                </a:solidFill>
                <a:latin typeface="Microsoft YaHei" panose="020B0503020204020204" pitchFamily="34" charset="-122"/>
              </a:rPr>
              <a:t>RL</a:t>
            </a:r>
            <a:r>
              <a:rPr lang="zh-CN" altLang="en-US" sz="1100">
                <a:solidFill>
                  <a:srgbClr val="5F6F82"/>
                </a:solidFill>
                <a:latin typeface="Microsoft YaHei" panose="020B0503020204020204" pitchFamily="34" charset="-122"/>
              </a:rPr>
              <a:t>表达不足</a:t>
            </a:r>
          </a:p>
          <a:p>
            <a:r>
              <a:rPr lang="zh-CN" altLang="en-US" sz="1100">
                <a:solidFill>
                  <a:srgbClr val="5F6F82"/>
                </a:solidFill>
                <a:latin typeface="Microsoft YaHei" panose="020B0503020204020204" pitchFamily="34" charset="-122"/>
              </a:rPr>
              <a:t>固定奖励难适应动态场景</a:t>
            </a:r>
          </a:p>
        </p:txBody>
      </p:sp>
      <p:sp>
        <p:nvSpPr>
          <p:cNvPr id="23" name="矩形: 圆角 22">
            <a:extLst>
              <a:ext uri="{FF2B5EF4-FFF2-40B4-BE49-F238E27FC236}">
                <a16:creationId xmlns:a16="http://schemas.microsoft.com/office/drawing/2014/main" id="{39F44AF0-596B-4E55-994B-3C857BB9874B}"/>
              </a:ext>
            </a:extLst>
          </p:cNvPr>
          <p:cNvSpPr/>
          <p:nvPr/>
        </p:nvSpPr>
        <p:spPr>
          <a:xfrm>
            <a:off x="4470400" y="1498600"/>
            <a:ext cx="3238500" cy="3111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800A0A6B-935A-48AF-BD37-BAB49B61385B}"/>
              </a:ext>
            </a:extLst>
          </p:cNvPr>
          <p:cNvSpPr/>
          <p:nvPr/>
        </p:nvSpPr>
        <p:spPr>
          <a:xfrm>
            <a:off x="4470400" y="1600200"/>
            <a:ext cx="63500" cy="29083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FC4ABE15-179C-47C1-86F2-906FE66EAF00}"/>
              </a:ext>
            </a:extLst>
          </p:cNvPr>
          <p:cNvSpPr txBox="1"/>
          <p:nvPr/>
        </p:nvSpPr>
        <p:spPr>
          <a:xfrm>
            <a:off x="4648200" y="1625600"/>
            <a:ext cx="29337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中期目标</a:t>
            </a:r>
          </a:p>
        </p:txBody>
      </p:sp>
      <p:sp>
        <p:nvSpPr>
          <p:cNvPr id="26" name="文本框 25">
            <a:extLst>
              <a:ext uri="{FF2B5EF4-FFF2-40B4-BE49-F238E27FC236}">
                <a16:creationId xmlns:a16="http://schemas.microsoft.com/office/drawing/2014/main" id="{B92F10BD-8C36-4C04-9646-037005067E97}"/>
              </a:ext>
            </a:extLst>
          </p:cNvPr>
          <p:cNvSpPr txBox="1"/>
          <p:nvPr/>
        </p:nvSpPr>
        <p:spPr>
          <a:xfrm>
            <a:off x="4648200" y="2032000"/>
            <a:ext cx="2959100" cy="779701"/>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建立统一仿真环境</a:t>
            </a:r>
          </a:p>
          <a:p>
            <a:r>
              <a:rPr lang="zh-CN" altLang="en-US" sz="1100">
                <a:solidFill>
                  <a:srgbClr val="5F6F82"/>
                </a:solidFill>
                <a:latin typeface="Microsoft YaHei" panose="020B0503020204020204" pitchFamily="34" charset="-122"/>
              </a:rPr>
              <a:t>设计</a:t>
            </a:r>
            <a:r>
              <a:rPr lang="en-US" altLang="zh-CN" sz="1100">
                <a:solidFill>
                  <a:srgbClr val="5F6F82"/>
                </a:solidFill>
                <a:latin typeface="Microsoft YaHei" panose="020B0503020204020204" pitchFamily="34" charset="-122"/>
              </a:rPr>
              <a:t>PPO+GAT</a:t>
            </a:r>
            <a:r>
              <a:rPr lang="zh-CN" altLang="en-US" sz="1100">
                <a:solidFill>
                  <a:srgbClr val="5F6F82"/>
                </a:solidFill>
                <a:latin typeface="Microsoft YaHei" panose="020B0503020204020204" pitchFamily="34" charset="-122"/>
              </a:rPr>
              <a:t>调度智能体</a:t>
            </a:r>
          </a:p>
          <a:p>
            <a:r>
              <a:rPr lang="zh-CN" altLang="en-US" sz="1100">
                <a:solidFill>
                  <a:srgbClr val="5F6F82"/>
                </a:solidFill>
                <a:latin typeface="Microsoft YaHei" panose="020B0503020204020204" pitchFamily="34" charset="-122"/>
              </a:rPr>
              <a:t>实现动态奖励与场景识别</a:t>
            </a:r>
          </a:p>
          <a:p>
            <a:r>
              <a:rPr lang="zh-CN" altLang="en-US" sz="1100">
                <a:solidFill>
                  <a:srgbClr val="5F6F82"/>
                </a:solidFill>
                <a:latin typeface="Microsoft YaHei" panose="020B0503020204020204" pitchFamily="34" charset="-122"/>
              </a:rPr>
              <a:t>完成可复现实验评估</a:t>
            </a:r>
          </a:p>
        </p:txBody>
      </p:sp>
      <p:sp>
        <p:nvSpPr>
          <p:cNvPr id="29" name="矩形: 圆角 28">
            <a:extLst>
              <a:ext uri="{FF2B5EF4-FFF2-40B4-BE49-F238E27FC236}">
                <a16:creationId xmlns:a16="http://schemas.microsoft.com/office/drawing/2014/main" id="{454FBBA8-586C-478B-A958-2C49592BB698}"/>
              </a:ext>
            </a:extLst>
          </p:cNvPr>
          <p:cNvSpPr/>
          <p:nvPr/>
        </p:nvSpPr>
        <p:spPr>
          <a:xfrm>
            <a:off x="8204200" y="1498600"/>
            <a:ext cx="3238500" cy="3111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47CDEF6D-88A5-4A7F-AA99-099E9287FC71}"/>
              </a:ext>
            </a:extLst>
          </p:cNvPr>
          <p:cNvSpPr/>
          <p:nvPr/>
        </p:nvSpPr>
        <p:spPr>
          <a:xfrm>
            <a:off x="8204200" y="1600200"/>
            <a:ext cx="63500" cy="2908300"/>
          </a:xfrm>
          <a:prstGeom prst="rect">
            <a:avLst/>
          </a:prstGeom>
          <a:solidFill>
            <a:srgbClr val="53A05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13D6FA19-0292-47F5-94A5-585D65B05307}"/>
              </a:ext>
            </a:extLst>
          </p:cNvPr>
          <p:cNvSpPr txBox="1"/>
          <p:nvPr/>
        </p:nvSpPr>
        <p:spPr>
          <a:xfrm>
            <a:off x="8382000" y="1625600"/>
            <a:ext cx="29337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阶段成果</a:t>
            </a:r>
          </a:p>
        </p:txBody>
      </p:sp>
      <p:sp>
        <p:nvSpPr>
          <p:cNvPr id="34" name="文本框 33">
            <a:extLst>
              <a:ext uri="{FF2B5EF4-FFF2-40B4-BE49-F238E27FC236}">
                <a16:creationId xmlns:a16="http://schemas.microsoft.com/office/drawing/2014/main" id="{58DF26F1-9EC3-4454-A3F9-AC02E54FE965}"/>
              </a:ext>
            </a:extLst>
          </p:cNvPr>
          <p:cNvSpPr txBox="1"/>
          <p:nvPr/>
        </p:nvSpPr>
        <p:spPr>
          <a:xfrm>
            <a:off x="8382000" y="2032000"/>
            <a:ext cx="2959100" cy="779701"/>
          </a:xfrm>
          <a:prstGeom prst="rect">
            <a:avLst/>
          </a:prstGeom>
          <a:noFill/>
        </p:spPr>
        <p:txBody>
          <a:bodyPr vert="horz" lIns="76200" tIns="50800" rIns="76200" bIns="50800" rtlCol="0">
            <a:spAutoFit/>
          </a:bodyPr>
          <a:lstStyle/>
          <a:p>
            <a:r>
              <a:rPr lang="en-US" altLang="zh-CN" sz="1100">
                <a:solidFill>
                  <a:srgbClr val="5F6F82"/>
                </a:solidFill>
                <a:latin typeface="Microsoft YaHei" panose="020B0503020204020204" pitchFamily="34" charset="-122"/>
              </a:rPr>
              <a:t>20</a:t>
            </a:r>
            <a:r>
              <a:rPr lang="zh-CN" altLang="en-US" sz="1100">
                <a:solidFill>
                  <a:srgbClr val="5F6F82"/>
                </a:solidFill>
                <a:latin typeface="Microsoft YaHei" panose="020B0503020204020204" pitchFamily="34" charset="-122"/>
              </a:rPr>
              <a:t>机器人</a:t>
            </a:r>
            <a:r>
              <a:rPr lang="en-US" altLang="zh-CN" sz="1100">
                <a:solidFill>
                  <a:srgbClr val="5F6F82"/>
                </a:solidFill>
                <a:latin typeface="Microsoft YaHei" panose="020B0503020204020204" pitchFamily="34" charset="-122"/>
              </a:rPr>
              <a:t>/10</a:t>
            </a:r>
            <a:r>
              <a:rPr lang="zh-CN" altLang="en-US" sz="1100">
                <a:solidFill>
                  <a:srgbClr val="5F6F82"/>
                </a:solidFill>
                <a:latin typeface="Microsoft YaHei" panose="020B0503020204020204" pitchFamily="34" charset="-122"/>
              </a:rPr>
              <a:t>节点环境</a:t>
            </a:r>
          </a:p>
          <a:p>
            <a:r>
              <a:rPr lang="zh-CN" altLang="en-US" sz="1100">
                <a:solidFill>
                  <a:srgbClr val="5F6F82"/>
                </a:solidFill>
                <a:latin typeface="Microsoft YaHei" panose="020B0503020204020204" pitchFamily="34" charset="-122"/>
              </a:rPr>
              <a:t>节点打分式</a:t>
            </a:r>
            <a:r>
              <a:rPr lang="en-US" altLang="zh-CN" sz="1100">
                <a:solidFill>
                  <a:srgbClr val="5F6F82"/>
                </a:solidFill>
                <a:latin typeface="Microsoft YaHei" panose="020B0503020204020204" pitchFamily="34" charset="-122"/>
              </a:rPr>
              <a:t>PPO-GAT</a:t>
            </a:r>
          </a:p>
          <a:p>
            <a:r>
              <a:rPr lang="zh-CN" altLang="en-US" sz="1100">
                <a:solidFill>
                  <a:srgbClr val="5F6F82"/>
                </a:solidFill>
                <a:latin typeface="Microsoft YaHei" panose="020B0503020204020204" pitchFamily="34" charset="-122"/>
              </a:rPr>
              <a:t>低电量</a:t>
            </a:r>
            <a:r>
              <a:rPr lang="en-US" altLang="zh-CN" sz="1100">
                <a:solidFill>
                  <a:srgbClr val="5F6F82"/>
                </a:solidFill>
                <a:latin typeface="Microsoft YaHei" panose="020B0503020204020204" pitchFamily="34" charset="-122"/>
              </a:rPr>
              <a:t>/</a:t>
            </a:r>
            <a:r>
              <a:rPr lang="zh-CN" altLang="en-US" sz="1100">
                <a:solidFill>
                  <a:srgbClr val="5F6F82"/>
                </a:solidFill>
                <a:latin typeface="Microsoft YaHei" panose="020B0503020204020204" pitchFamily="34" charset="-122"/>
              </a:rPr>
              <a:t>高负载</a:t>
            </a:r>
            <a:r>
              <a:rPr lang="en-US" altLang="zh-CN" sz="1100">
                <a:solidFill>
                  <a:srgbClr val="5F6F82"/>
                </a:solidFill>
                <a:latin typeface="Microsoft YaHei" panose="020B0503020204020204" pitchFamily="34" charset="-122"/>
              </a:rPr>
              <a:t>/</a:t>
            </a:r>
            <a:r>
              <a:rPr lang="zh-CN" altLang="en-US" sz="1100">
                <a:solidFill>
                  <a:srgbClr val="5F6F82"/>
                </a:solidFill>
                <a:latin typeface="Microsoft YaHei" panose="020B0503020204020204" pitchFamily="34" charset="-122"/>
              </a:rPr>
              <a:t>紧急</a:t>
            </a:r>
            <a:r>
              <a:rPr lang="en-US" altLang="zh-CN" sz="1100">
                <a:solidFill>
                  <a:srgbClr val="5F6F82"/>
                </a:solidFill>
                <a:latin typeface="Microsoft YaHei" panose="020B0503020204020204" pitchFamily="34" charset="-122"/>
              </a:rPr>
              <a:t>/</a:t>
            </a:r>
            <a:r>
              <a:rPr lang="zh-CN" altLang="en-US" sz="1100">
                <a:solidFill>
                  <a:srgbClr val="5F6F82"/>
                </a:solidFill>
                <a:latin typeface="Microsoft YaHei" panose="020B0503020204020204" pitchFamily="34" charset="-122"/>
              </a:rPr>
              <a:t>高延迟场景</a:t>
            </a:r>
          </a:p>
          <a:p>
            <a:r>
              <a:rPr lang="zh-CN" altLang="en-US" sz="1100">
                <a:solidFill>
                  <a:srgbClr val="5F6F82"/>
                </a:solidFill>
                <a:latin typeface="Microsoft YaHei" panose="020B0503020204020204" pitchFamily="34" charset="-122"/>
              </a:rPr>
              <a:t>图表、表格与日志闭环</a:t>
            </a:r>
          </a:p>
        </p:txBody>
      </p:sp>
      <p:sp>
        <p:nvSpPr>
          <p:cNvPr id="35" name="文本框 34">
            <a:extLst>
              <a:ext uri="{FF2B5EF4-FFF2-40B4-BE49-F238E27FC236}">
                <a16:creationId xmlns:a16="http://schemas.microsoft.com/office/drawing/2014/main" id="{B8A59C36-E717-43F8-BBCA-0CDAB9F4241B}"/>
              </a:ext>
            </a:extLst>
          </p:cNvPr>
          <p:cNvSpPr txBox="1"/>
          <p:nvPr/>
        </p:nvSpPr>
        <p:spPr>
          <a:xfrm>
            <a:off x="1066800" y="5207000"/>
            <a:ext cx="9906000" cy="364202"/>
          </a:xfrm>
          <a:prstGeom prst="rect">
            <a:avLst/>
          </a:prstGeom>
          <a:noFill/>
        </p:spPr>
        <p:txBody>
          <a:bodyPr vert="horz" lIns="76200" tIns="50800" rIns="76200" bIns="50800" rtlCol="0">
            <a:spAutoFit/>
          </a:bodyPr>
          <a:lstStyle/>
          <a:p>
            <a:pPr algn="ctr"/>
            <a:r>
              <a:rPr lang="zh-CN" altLang="en-US" sz="1700" b="1">
                <a:solidFill>
                  <a:srgbClr val="1B3355"/>
                </a:solidFill>
                <a:latin typeface="Microsoft YaHei" panose="020B0503020204020204" pitchFamily="34" charset="-122"/>
              </a:rPr>
              <a:t>总体判断：研究路线与开题设计保持一致，并已经形成支撑论文方法章节与实验章节的阶段性数据。</a:t>
            </a:r>
          </a:p>
        </p:txBody>
      </p:sp>
    </p:spTree>
  </p:cSld>
  <p:clrMapOvr>
    <a:masterClrMapping/>
  </p:clrMapOvr>
  <mc:AlternateContent xmlns:mc="http://schemas.openxmlformats.org/markup-compatibility/2006" xmlns:p14="http://schemas.microsoft.com/office/powerpoint/2010/main">
    <mc:Choice Requires="p14">
      <p:transition spd="slow" p14:dur="1500" advTm="20653"/>
    </mc:Choice>
    <mc:Fallback xmlns="">
      <p:transition spd="slow" advTm="2065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B09CA-1165-87C5-AC3B-2EA522AC5D5E}"/>
            </a:ext>
          </a:extLst>
        </p:cNvPr>
        <p:cNvGrpSpPr/>
        <p:nvPr/>
      </p:nvGrpSpPr>
      <p:grpSpPr>
        <a:xfrm>
          <a:off x="0" y="0"/>
          <a:ext cx="0" cy="0"/>
          <a:chOff x="0" y="0"/>
          <a:chExt cx="0" cy="0"/>
        </a:xfrm>
      </p:grpSpPr>
      <p:sp>
        <p:nvSpPr>
          <p:cNvPr id="49" name="矩形 48">
            <a:extLst>
              <a:ext uri="{FF2B5EF4-FFF2-40B4-BE49-F238E27FC236}">
                <a16:creationId xmlns:a16="http://schemas.microsoft.com/office/drawing/2014/main" id="{369071BC-D31E-431B-B6E5-13C90CF0710F}"/>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44B8EE88-B7B6-4988-A293-D95BE9238A84}"/>
              </a:ext>
            </a:extLst>
          </p:cNvPr>
          <p:cNvSpPr/>
          <p:nvPr/>
        </p:nvSpPr>
        <p:spPr>
          <a:xfrm>
            <a:off x="0" y="0"/>
            <a:ext cx="4389120" cy="6858000"/>
          </a:xfrm>
          <a:prstGeom prst="rect">
            <a:avLst/>
          </a:prstGeom>
          <a:solidFill>
            <a:srgbClr val="1B335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9612A0B8-A492-4552-81D2-375A4FB9F934}"/>
              </a:ext>
            </a:extLst>
          </p:cNvPr>
          <p:cNvSpPr txBox="1"/>
          <p:nvPr/>
        </p:nvSpPr>
        <p:spPr>
          <a:xfrm>
            <a:off x="711200" y="812800"/>
            <a:ext cx="3048000" cy="528350"/>
          </a:xfrm>
          <a:prstGeom prst="rect">
            <a:avLst/>
          </a:prstGeom>
          <a:noFill/>
        </p:spPr>
        <p:txBody>
          <a:bodyPr vert="horz" lIns="76200" tIns="50800" rIns="76200" bIns="50800" rtlCol="0">
            <a:spAutoFit/>
          </a:bodyPr>
          <a:lstStyle/>
          <a:p>
            <a:r>
              <a:rPr lang="en-US" altLang="zh-CN" sz="2800" b="1">
                <a:solidFill>
                  <a:srgbClr val="FFFFFF"/>
                </a:solidFill>
                <a:latin typeface="Microsoft YaHei" panose="020B0503020204020204" pitchFamily="34" charset="-122"/>
              </a:rPr>
              <a:t>CONTENTS</a:t>
            </a:r>
            <a:endParaRPr lang="zh-CN" altLang="en-US" sz="2800" b="1">
              <a:solidFill>
                <a:srgbClr val="FFFFFF"/>
              </a:solidFill>
              <a:latin typeface="Microsoft YaHei" panose="020B0503020204020204" pitchFamily="34" charset="-122"/>
            </a:endParaRPr>
          </a:p>
        </p:txBody>
      </p:sp>
      <p:sp>
        <p:nvSpPr>
          <p:cNvPr id="52" name="文本框 51">
            <a:extLst>
              <a:ext uri="{FF2B5EF4-FFF2-40B4-BE49-F238E27FC236}">
                <a16:creationId xmlns:a16="http://schemas.microsoft.com/office/drawing/2014/main" id="{F2E8A65F-691E-4E93-B083-FB0F65FAA9F4}"/>
              </a:ext>
            </a:extLst>
          </p:cNvPr>
          <p:cNvSpPr txBox="1"/>
          <p:nvPr/>
        </p:nvSpPr>
        <p:spPr>
          <a:xfrm>
            <a:off x="736600" y="1397000"/>
            <a:ext cx="2667000" cy="287258"/>
          </a:xfrm>
          <a:prstGeom prst="rect">
            <a:avLst/>
          </a:prstGeom>
          <a:noFill/>
        </p:spPr>
        <p:txBody>
          <a:bodyPr vert="horz" lIns="76200" tIns="50800" rIns="76200" bIns="50800" rtlCol="0">
            <a:spAutoFit/>
          </a:bodyPr>
          <a:lstStyle/>
          <a:p>
            <a:r>
              <a:rPr lang="en-US" altLang="zh-CN" sz="1200" b="1">
                <a:solidFill>
                  <a:srgbClr val="DDAA48"/>
                </a:solidFill>
                <a:latin typeface="Microsoft YaHei" panose="020B0503020204020204" pitchFamily="34" charset="-122"/>
              </a:rPr>
              <a:t>SECOND</a:t>
            </a:r>
            <a:endParaRPr lang="zh-CN" altLang="en-US" sz="1200" b="1">
              <a:solidFill>
                <a:srgbClr val="DDAA48"/>
              </a:solidFill>
              <a:latin typeface="Microsoft YaHei" panose="020B0503020204020204" pitchFamily="34" charset="-122"/>
            </a:endParaRPr>
          </a:p>
        </p:txBody>
      </p:sp>
      <p:sp>
        <p:nvSpPr>
          <p:cNvPr id="53" name="文本框 52">
            <a:extLst>
              <a:ext uri="{FF2B5EF4-FFF2-40B4-BE49-F238E27FC236}">
                <a16:creationId xmlns:a16="http://schemas.microsoft.com/office/drawing/2014/main" id="{4F3C02CB-BD57-4B3A-9C6E-64E03F9E370F}"/>
              </a:ext>
            </a:extLst>
          </p:cNvPr>
          <p:cNvSpPr txBox="1"/>
          <p:nvPr/>
        </p:nvSpPr>
        <p:spPr>
          <a:xfrm>
            <a:off x="5024120" y="1270000"/>
            <a:ext cx="1143000" cy="933589"/>
          </a:xfrm>
          <a:prstGeom prst="rect">
            <a:avLst/>
          </a:prstGeom>
          <a:noFill/>
        </p:spPr>
        <p:txBody>
          <a:bodyPr vert="horz" lIns="76200" tIns="50800" rIns="76200" bIns="50800" rtlCol="0">
            <a:spAutoFit/>
          </a:bodyPr>
          <a:lstStyle/>
          <a:p>
            <a:r>
              <a:rPr lang="en-US" altLang="zh-CN" sz="5400" b="1">
                <a:solidFill>
                  <a:srgbClr val="2A8FA0"/>
                </a:solidFill>
                <a:latin typeface="Microsoft YaHei" panose="020B0503020204020204" pitchFamily="34" charset="-122"/>
              </a:rPr>
              <a:t>2</a:t>
            </a:r>
            <a:endParaRPr lang="zh-CN" altLang="en-US" sz="5400" b="1">
              <a:solidFill>
                <a:srgbClr val="2A8FA0"/>
              </a:solidFill>
              <a:latin typeface="Microsoft YaHei" panose="020B0503020204020204" pitchFamily="34" charset="-122"/>
            </a:endParaRPr>
          </a:p>
        </p:txBody>
      </p:sp>
      <p:sp>
        <p:nvSpPr>
          <p:cNvPr id="54" name="文本框 53">
            <a:extLst>
              <a:ext uri="{FF2B5EF4-FFF2-40B4-BE49-F238E27FC236}">
                <a16:creationId xmlns:a16="http://schemas.microsoft.com/office/drawing/2014/main" id="{6D303DB6-8226-49D9-B6CA-66EFBEA59136}"/>
              </a:ext>
            </a:extLst>
          </p:cNvPr>
          <p:cNvSpPr txBox="1"/>
          <p:nvPr/>
        </p:nvSpPr>
        <p:spPr>
          <a:xfrm>
            <a:off x="6230620" y="1333500"/>
            <a:ext cx="5842000" cy="564257"/>
          </a:xfrm>
          <a:prstGeom prst="rect">
            <a:avLst/>
          </a:prstGeom>
          <a:noFill/>
        </p:spPr>
        <p:txBody>
          <a:bodyPr vert="horz" lIns="76200" tIns="50800" rIns="76200" bIns="50800" rtlCol="0">
            <a:spAutoFit/>
          </a:bodyPr>
          <a:lstStyle/>
          <a:p>
            <a:r>
              <a:rPr lang="zh-CN" altLang="en-US" sz="3000" b="1">
                <a:solidFill>
                  <a:srgbClr val="1B3355"/>
                </a:solidFill>
                <a:latin typeface="Microsoft YaHei" panose="020B0503020204020204" pitchFamily="34" charset="-122"/>
              </a:rPr>
              <a:t>已经完成的工作</a:t>
            </a:r>
          </a:p>
        </p:txBody>
      </p:sp>
      <p:sp>
        <p:nvSpPr>
          <p:cNvPr id="55" name="文本框 54">
            <a:extLst>
              <a:ext uri="{FF2B5EF4-FFF2-40B4-BE49-F238E27FC236}">
                <a16:creationId xmlns:a16="http://schemas.microsoft.com/office/drawing/2014/main" id="{BC0F7177-6F5A-416A-B85D-C6164E0B5134}"/>
              </a:ext>
            </a:extLst>
          </p:cNvPr>
          <p:cNvSpPr txBox="1"/>
          <p:nvPr/>
        </p:nvSpPr>
        <p:spPr>
          <a:xfrm>
            <a:off x="6268720" y="1955800"/>
            <a:ext cx="5207000" cy="302647"/>
          </a:xfrm>
          <a:prstGeom prst="rect">
            <a:avLst/>
          </a:prstGeom>
          <a:noFill/>
        </p:spPr>
        <p:txBody>
          <a:bodyPr vert="horz" lIns="76200" tIns="50800" rIns="76200" bIns="50800" rtlCol="0">
            <a:spAutoFit/>
          </a:bodyPr>
          <a:lstStyle/>
          <a:p>
            <a:r>
              <a:rPr lang="en-US" altLang="zh-CN" sz="1300">
                <a:solidFill>
                  <a:srgbClr val="5F6F82"/>
                </a:solidFill>
                <a:latin typeface="Microsoft YaHei" panose="020B0503020204020204" pitchFamily="34" charset="-122"/>
              </a:rPr>
              <a:t>Completed Work</a:t>
            </a:r>
            <a:endParaRPr lang="zh-CN" altLang="en-US" sz="1300">
              <a:solidFill>
                <a:srgbClr val="5F6F82"/>
              </a:solidFill>
              <a:latin typeface="Microsoft YaHei" panose="020B0503020204020204" pitchFamily="34" charset="-122"/>
            </a:endParaRPr>
          </a:p>
        </p:txBody>
      </p:sp>
      <p:sp>
        <p:nvSpPr>
          <p:cNvPr id="56" name="矩形 55">
            <a:extLst>
              <a:ext uri="{FF2B5EF4-FFF2-40B4-BE49-F238E27FC236}">
                <a16:creationId xmlns:a16="http://schemas.microsoft.com/office/drawing/2014/main" id="{324517CD-FA7C-4542-B904-4351FBD37C81}"/>
              </a:ext>
            </a:extLst>
          </p:cNvPr>
          <p:cNvSpPr/>
          <p:nvPr/>
        </p:nvSpPr>
        <p:spPr>
          <a:xfrm>
            <a:off x="6294120" y="2476500"/>
            <a:ext cx="2159000" cy="635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522599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4ABCCB6C-F77A-43C6-B12F-C3DDBAEE2FAA}"/>
              </a:ext>
            </a:extLst>
          </p:cNvPr>
          <p:cNvSpPr>
            <a:spLocks noGrp="1"/>
          </p:cNvSpPr>
          <p:nvPr>
            <p:ph type="title"/>
          </p:nvPr>
        </p:nvSpPr>
        <p:spPr/>
        <p:txBody>
          <a:bodyPr/>
          <a:lstStyle/>
          <a:p>
            <a:endParaRPr lang="zh-CN" altLang="en-US"/>
          </a:p>
        </p:txBody>
      </p:sp>
      <p:sp>
        <p:nvSpPr>
          <p:cNvPr id="7" name="文本框 6">
            <a:extLst>
              <a:ext uri="{FF2B5EF4-FFF2-40B4-BE49-F238E27FC236}">
                <a16:creationId xmlns:a16="http://schemas.microsoft.com/office/drawing/2014/main" id="{22FB15CE-7B1C-4B19-8656-95578F85436F}"/>
              </a:ext>
            </a:extLst>
          </p:cNvPr>
          <p:cNvSpPr txBox="1"/>
          <p:nvPr/>
        </p:nvSpPr>
        <p:spPr>
          <a:xfrm>
            <a:off x="533400" y="304800"/>
            <a:ext cx="9906000" cy="456535"/>
          </a:xfrm>
          <a:prstGeom prst="rect">
            <a:avLst/>
          </a:prstGeom>
          <a:noFill/>
        </p:spPr>
        <p:txBody>
          <a:bodyPr vert="horz" lIns="76200" tIns="50800" rIns="76200" bIns="50800" rtlCol="0">
            <a:spAutoFit/>
          </a:bodyPr>
          <a:lstStyle/>
          <a:p>
            <a:r>
              <a:rPr lang="zh-CN" altLang="en-US" sz="2300" b="1">
                <a:solidFill>
                  <a:srgbClr val="1B3355"/>
                </a:solidFill>
                <a:latin typeface="Microsoft YaHei" panose="020B0503020204020204" pitchFamily="34" charset="-122"/>
              </a:rPr>
              <a:t>仿真环境构建：</a:t>
            </a:r>
            <a:r>
              <a:rPr lang="en-US" altLang="zh-CN" sz="2300" b="1">
                <a:solidFill>
                  <a:srgbClr val="1B3355"/>
                </a:solidFill>
                <a:latin typeface="Microsoft YaHei" panose="020B0503020204020204" pitchFamily="34" charset="-122"/>
              </a:rPr>
              <a:t>20</a:t>
            </a:r>
            <a:r>
              <a:rPr lang="zh-CN" altLang="en-US" sz="2300" b="1">
                <a:solidFill>
                  <a:srgbClr val="1B3355"/>
                </a:solidFill>
                <a:latin typeface="Microsoft YaHei" panose="020B0503020204020204" pitchFamily="34" charset="-122"/>
              </a:rPr>
              <a:t>机器人 </a:t>
            </a:r>
            <a:r>
              <a:rPr lang="en-US" altLang="zh-CN" sz="2300" b="1">
                <a:solidFill>
                  <a:srgbClr val="1B3355"/>
                </a:solidFill>
                <a:latin typeface="Microsoft YaHei" panose="020B0503020204020204" pitchFamily="34" charset="-122"/>
              </a:rPr>
              <a:t>/ 10</a:t>
            </a:r>
            <a:r>
              <a:rPr lang="zh-CN" altLang="en-US" sz="2300" b="1">
                <a:solidFill>
                  <a:srgbClr val="1B3355"/>
                </a:solidFill>
                <a:latin typeface="Microsoft YaHei" panose="020B0503020204020204" pitchFamily="34" charset="-122"/>
              </a:rPr>
              <a:t>异构算力节点</a:t>
            </a:r>
          </a:p>
        </p:txBody>
      </p:sp>
      <p:sp>
        <p:nvSpPr>
          <p:cNvPr id="8" name="文本框 7">
            <a:extLst>
              <a:ext uri="{FF2B5EF4-FFF2-40B4-BE49-F238E27FC236}">
                <a16:creationId xmlns:a16="http://schemas.microsoft.com/office/drawing/2014/main" id="{72F4853F-2728-4B32-A175-DEA0D767F690}"/>
              </a:ext>
            </a:extLst>
          </p:cNvPr>
          <p:cNvSpPr txBox="1"/>
          <p:nvPr/>
        </p:nvSpPr>
        <p:spPr>
          <a:xfrm>
            <a:off x="10058400" y="381000"/>
            <a:ext cx="1397000" cy="256480"/>
          </a:xfrm>
          <a:prstGeom prst="rect">
            <a:avLst/>
          </a:prstGeom>
          <a:noFill/>
        </p:spPr>
        <p:txBody>
          <a:bodyPr vert="horz" lIns="76200" tIns="50800" rIns="76200" bIns="50800" rtlCol="0">
            <a:spAutoFit/>
          </a:bodyPr>
          <a:lstStyle/>
          <a:p>
            <a:pPr algn="r"/>
            <a:r>
              <a:rPr lang="en-US" altLang="zh-CN" sz="1000" b="1">
                <a:solidFill>
                  <a:srgbClr val="2A8FA0"/>
                </a:solidFill>
                <a:latin typeface="Microsoft YaHei" panose="020B0503020204020204" pitchFamily="34" charset="-122"/>
              </a:rPr>
              <a:t>2 / 5</a:t>
            </a:r>
            <a:endParaRPr lang="zh-CN" altLang="en-US" sz="1000" b="1">
              <a:solidFill>
                <a:srgbClr val="2A8FA0"/>
              </a:solidFill>
              <a:latin typeface="Microsoft YaHei" panose="020B0503020204020204" pitchFamily="34" charset="-122"/>
            </a:endParaRPr>
          </a:p>
        </p:txBody>
      </p:sp>
      <p:sp>
        <p:nvSpPr>
          <p:cNvPr id="9" name="矩形 8">
            <a:extLst>
              <a:ext uri="{FF2B5EF4-FFF2-40B4-BE49-F238E27FC236}">
                <a16:creationId xmlns:a16="http://schemas.microsoft.com/office/drawing/2014/main" id="{01BB119D-6C66-4D94-A7EA-4DAD600D73A7}"/>
              </a:ext>
            </a:extLst>
          </p:cNvPr>
          <p:cNvSpPr/>
          <p:nvPr/>
        </p:nvSpPr>
        <p:spPr>
          <a:xfrm>
            <a:off x="609600" y="914400"/>
            <a:ext cx="1524000" cy="50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BBE8398A-F0A5-4A4E-9FB8-8CC4118A11E8}"/>
              </a:ext>
            </a:extLst>
          </p:cNvPr>
          <p:cNvSpPr txBox="1"/>
          <p:nvPr/>
        </p:nvSpPr>
        <p:spPr>
          <a:xfrm>
            <a:off x="11455400" y="6350000"/>
            <a:ext cx="381000" cy="256480"/>
          </a:xfrm>
          <a:prstGeom prst="rect">
            <a:avLst/>
          </a:prstGeom>
          <a:noFill/>
        </p:spPr>
        <p:txBody>
          <a:bodyPr vert="horz" lIns="76200" tIns="50800" rIns="76200" bIns="50800" rtlCol="0">
            <a:spAutoFit/>
          </a:bodyPr>
          <a:lstStyle/>
          <a:p>
            <a:pPr algn="r"/>
            <a:r>
              <a:rPr lang="en-US" altLang="zh-CN" sz="1000">
                <a:solidFill>
                  <a:srgbClr val="5F6F82"/>
                </a:solidFill>
                <a:latin typeface="Microsoft YaHei" panose="020B0503020204020204" pitchFamily="34" charset="-122"/>
              </a:rPr>
              <a:t>06</a:t>
            </a:r>
            <a:endParaRPr lang="zh-CN" altLang="en-US" sz="1000">
              <a:solidFill>
                <a:srgbClr val="5F6F82"/>
              </a:solidFill>
              <a:latin typeface="Microsoft YaHei" panose="020B0503020204020204" pitchFamily="34" charset="-122"/>
            </a:endParaRPr>
          </a:p>
        </p:txBody>
      </p:sp>
      <p:sp>
        <p:nvSpPr>
          <p:cNvPr id="13" name="矩形: 圆角 12">
            <a:extLst>
              <a:ext uri="{FF2B5EF4-FFF2-40B4-BE49-F238E27FC236}">
                <a16:creationId xmlns:a16="http://schemas.microsoft.com/office/drawing/2014/main" id="{3B69B192-C1E2-464E-999C-537F7CD0B8AC}"/>
              </a:ext>
            </a:extLst>
          </p:cNvPr>
          <p:cNvSpPr/>
          <p:nvPr/>
        </p:nvSpPr>
        <p:spPr>
          <a:xfrm>
            <a:off x="736600" y="1460500"/>
            <a:ext cx="3302000" cy="13970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27374E9E-45BD-4884-9753-8E9833594E67}"/>
              </a:ext>
            </a:extLst>
          </p:cNvPr>
          <p:cNvSpPr/>
          <p:nvPr/>
        </p:nvSpPr>
        <p:spPr>
          <a:xfrm>
            <a:off x="736600" y="1562100"/>
            <a:ext cx="63500" cy="1193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D063C6A7-7A5E-4EFB-A3EB-4B182FBF33AD}"/>
              </a:ext>
            </a:extLst>
          </p:cNvPr>
          <p:cNvSpPr txBox="1"/>
          <p:nvPr/>
        </p:nvSpPr>
        <p:spPr>
          <a:xfrm>
            <a:off x="914400" y="1587500"/>
            <a:ext cx="2997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机器人侧</a:t>
            </a:r>
          </a:p>
        </p:txBody>
      </p:sp>
      <p:sp>
        <p:nvSpPr>
          <p:cNvPr id="25" name="文本框 24">
            <a:extLst>
              <a:ext uri="{FF2B5EF4-FFF2-40B4-BE49-F238E27FC236}">
                <a16:creationId xmlns:a16="http://schemas.microsoft.com/office/drawing/2014/main" id="{72CFBC7E-B9A4-470A-9122-8E557BCFA5B5}"/>
              </a:ext>
            </a:extLst>
          </p:cNvPr>
          <p:cNvSpPr txBox="1"/>
          <p:nvPr/>
        </p:nvSpPr>
        <p:spPr>
          <a:xfrm>
            <a:off x="914400" y="1993900"/>
            <a:ext cx="3022600" cy="610424"/>
          </a:xfrm>
          <a:prstGeom prst="rect">
            <a:avLst/>
          </a:prstGeom>
          <a:noFill/>
        </p:spPr>
        <p:txBody>
          <a:bodyPr vert="horz" lIns="76200" tIns="50800" rIns="76200" bIns="50800" rtlCol="0">
            <a:spAutoFit/>
          </a:bodyPr>
          <a:lstStyle/>
          <a:p>
            <a:r>
              <a:rPr lang="en-US" altLang="zh-CN" sz="1100">
                <a:solidFill>
                  <a:srgbClr val="5F6F82"/>
                </a:solidFill>
                <a:latin typeface="Microsoft YaHei" panose="020B0503020204020204" pitchFamily="34" charset="-122"/>
              </a:rPr>
              <a:t>home_node_id</a:t>
            </a:r>
            <a:r>
              <a:rPr lang="zh-CN" altLang="en-US" sz="1100">
                <a:solidFill>
                  <a:srgbClr val="5F6F82"/>
                </a:solidFill>
                <a:latin typeface="Microsoft YaHei" panose="020B0503020204020204" pitchFamily="34" charset="-122"/>
              </a:rPr>
              <a:t>、本地</a:t>
            </a:r>
            <a:r>
              <a:rPr lang="en-US" altLang="zh-CN" sz="1100">
                <a:solidFill>
                  <a:srgbClr val="5F6F82"/>
                </a:solidFill>
                <a:latin typeface="Microsoft YaHei" panose="020B0503020204020204" pitchFamily="34" charset="-122"/>
              </a:rPr>
              <a:t>CPU</a:t>
            </a:r>
            <a:r>
              <a:rPr lang="zh-CN" altLang="en-US" sz="1100">
                <a:solidFill>
                  <a:srgbClr val="5F6F82"/>
                </a:solidFill>
                <a:latin typeface="Microsoft YaHei" panose="020B0503020204020204" pitchFamily="34" charset="-122"/>
              </a:rPr>
              <a:t>、剩余电量、任务到达率、任务规模偏好、</a:t>
            </a:r>
            <a:r>
              <a:rPr lang="en-US" altLang="zh-CN" sz="1100">
                <a:solidFill>
                  <a:srgbClr val="5F6F82"/>
                </a:solidFill>
                <a:latin typeface="Microsoft YaHei" panose="020B0503020204020204" pitchFamily="34" charset="-122"/>
              </a:rPr>
              <a:t>deadline</a:t>
            </a:r>
            <a:r>
              <a:rPr lang="zh-CN" altLang="en-US" sz="1100">
                <a:solidFill>
                  <a:srgbClr val="5F6F82"/>
                </a:solidFill>
                <a:latin typeface="Microsoft YaHei" panose="020B0503020204020204" pitchFamily="34" charset="-122"/>
              </a:rPr>
              <a:t>偏好、队列状态。</a:t>
            </a:r>
          </a:p>
        </p:txBody>
      </p:sp>
      <p:sp>
        <p:nvSpPr>
          <p:cNvPr id="26" name="矩形: 圆角 25">
            <a:extLst>
              <a:ext uri="{FF2B5EF4-FFF2-40B4-BE49-F238E27FC236}">
                <a16:creationId xmlns:a16="http://schemas.microsoft.com/office/drawing/2014/main" id="{98950B49-3FDA-47C6-9EB2-F03EB08B0E87}"/>
              </a:ext>
            </a:extLst>
          </p:cNvPr>
          <p:cNvSpPr/>
          <p:nvPr/>
        </p:nvSpPr>
        <p:spPr>
          <a:xfrm>
            <a:off x="4381500" y="1460500"/>
            <a:ext cx="3302000" cy="13970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03111E34-CA49-4093-B9A7-F8824509AA8C}"/>
              </a:ext>
            </a:extLst>
          </p:cNvPr>
          <p:cNvSpPr/>
          <p:nvPr/>
        </p:nvSpPr>
        <p:spPr>
          <a:xfrm>
            <a:off x="4381500" y="1562100"/>
            <a:ext cx="63500" cy="1193800"/>
          </a:xfrm>
          <a:prstGeom prst="rect">
            <a:avLst/>
          </a:prstGeom>
          <a:solidFill>
            <a:srgbClr val="DDAA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ECEADE8F-E7CB-4B7B-BD94-EDEC0D63474D}"/>
              </a:ext>
            </a:extLst>
          </p:cNvPr>
          <p:cNvSpPr txBox="1"/>
          <p:nvPr/>
        </p:nvSpPr>
        <p:spPr>
          <a:xfrm>
            <a:off x="4559300" y="1587500"/>
            <a:ext cx="2997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任务侧</a:t>
            </a:r>
          </a:p>
        </p:txBody>
      </p:sp>
      <p:sp>
        <p:nvSpPr>
          <p:cNvPr id="32" name="文本框 31">
            <a:extLst>
              <a:ext uri="{FF2B5EF4-FFF2-40B4-BE49-F238E27FC236}">
                <a16:creationId xmlns:a16="http://schemas.microsoft.com/office/drawing/2014/main" id="{720AD6BC-7880-40E2-BE70-E40A58C54B03}"/>
              </a:ext>
            </a:extLst>
          </p:cNvPr>
          <p:cNvSpPr txBox="1"/>
          <p:nvPr/>
        </p:nvSpPr>
        <p:spPr>
          <a:xfrm>
            <a:off x="4559300" y="1993900"/>
            <a:ext cx="3022600" cy="610424"/>
          </a:xfrm>
          <a:prstGeom prst="rect">
            <a:avLst/>
          </a:prstGeom>
          <a:noFill/>
        </p:spPr>
        <p:txBody>
          <a:bodyPr vert="horz" lIns="76200" tIns="50800" rIns="76200" bIns="50800" rtlCol="0">
            <a:spAutoFit/>
          </a:bodyPr>
          <a:lstStyle/>
          <a:p>
            <a:r>
              <a:rPr lang="en-US" altLang="zh-CN" sz="1100">
                <a:solidFill>
                  <a:srgbClr val="5F6F82"/>
                </a:solidFill>
                <a:latin typeface="Microsoft YaHei" panose="020B0503020204020204" pitchFamily="34" charset="-122"/>
              </a:rPr>
              <a:t>navigation</a:t>
            </a:r>
            <a:r>
              <a:rPr lang="zh-CN" altLang="en-US" sz="1100">
                <a:solidFill>
                  <a:srgbClr val="5F6F82"/>
                </a:solidFill>
                <a:latin typeface="Microsoft YaHei" panose="020B0503020204020204" pitchFamily="34" charset="-122"/>
              </a:rPr>
              <a:t>、</a:t>
            </a:r>
            <a:r>
              <a:rPr lang="en-US" altLang="zh-CN" sz="1100">
                <a:solidFill>
                  <a:srgbClr val="5F6F82"/>
                </a:solidFill>
                <a:latin typeface="Microsoft YaHei" panose="020B0503020204020204" pitchFamily="34" charset="-122"/>
              </a:rPr>
              <a:t>perception</a:t>
            </a:r>
            <a:r>
              <a:rPr lang="zh-CN" altLang="en-US" sz="1100">
                <a:solidFill>
                  <a:srgbClr val="5F6F82"/>
                </a:solidFill>
                <a:latin typeface="Microsoft YaHei" panose="020B0503020204020204" pitchFamily="34" charset="-122"/>
              </a:rPr>
              <a:t>、</a:t>
            </a:r>
            <a:r>
              <a:rPr lang="en-US" altLang="zh-CN" sz="1100">
                <a:solidFill>
                  <a:srgbClr val="5F6F82"/>
                </a:solidFill>
                <a:latin typeface="Microsoft YaHei" panose="020B0503020204020204" pitchFamily="34" charset="-122"/>
              </a:rPr>
              <a:t>mapping</a:t>
            </a:r>
            <a:r>
              <a:rPr lang="zh-CN" altLang="en-US" sz="1100">
                <a:solidFill>
                  <a:srgbClr val="5F6F82"/>
                </a:solidFill>
                <a:latin typeface="Microsoft YaHei" panose="020B0503020204020204" pitchFamily="34" charset="-122"/>
              </a:rPr>
              <a:t>、</a:t>
            </a:r>
            <a:r>
              <a:rPr lang="en-US" altLang="zh-CN" sz="1100">
                <a:solidFill>
                  <a:srgbClr val="5F6F82"/>
                </a:solidFill>
                <a:latin typeface="Microsoft YaHei" panose="020B0503020204020204" pitchFamily="34" charset="-122"/>
              </a:rPr>
              <a:t>manipulation</a:t>
            </a:r>
            <a:r>
              <a:rPr lang="zh-CN" altLang="en-US" sz="1100">
                <a:solidFill>
                  <a:srgbClr val="5F6F82"/>
                </a:solidFill>
                <a:latin typeface="Microsoft YaHei" panose="020B0503020204020204" pitchFamily="34" charset="-122"/>
              </a:rPr>
              <a:t>、</a:t>
            </a:r>
            <a:r>
              <a:rPr lang="en-US" altLang="zh-CN" sz="1100">
                <a:solidFill>
                  <a:srgbClr val="5F6F82"/>
                </a:solidFill>
                <a:latin typeface="Microsoft YaHei" panose="020B0503020204020204" pitchFamily="34" charset="-122"/>
              </a:rPr>
              <a:t>inspection </a:t>
            </a:r>
            <a:r>
              <a:rPr lang="zh-CN" altLang="en-US" sz="1100">
                <a:solidFill>
                  <a:srgbClr val="5F6F82"/>
                </a:solidFill>
                <a:latin typeface="Microsoft YaHei" panose="020B0503020204020204" pitchFamily="34" charset="-122"/>
              </a:rPr>
              <a:t>五类任务，包含优先级、规模、传输需求。</a:t>
            </a:r>
          </a:p>
        </p:txBody>
      </p:sp>
      <p:sp>
        <p:nvSpPr>
          <p:cNvPr id="33" name="矩形: 圆角 32">
            <a:extLst>
              <a:ext uri="{FF2B5EF4-FFF2-40B4-BE49-F238E27FC236}">
                <a16:creationId xmlns:a16="http://schemas.microsoft.com/office/drawing/2014/main" id="{751EEA7A-0B4A-459C-8BC9-82DF2BFF691A}"/>
              </a:ext>
            </a:extLst>
          </p:cNvPr>
          <p:cNvSpPr/>
          <p:nvPr/>
        </p:nvSpPr>
        <p:spPr>
          <a:xfrm>
            <a:off x="8026400" y="1460500"/>
            <a:ext cx="3302000" cy="13970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AB04A92F-4111-4FF8-97E5-8C7727FC68A3}"/>
              </a:ext>
            </a:extLst>
          </p:cNvPr>
          <p:cNvSpPr/>
          <p:nvPr/>
        </p:nvSpPr>
        <p:spPr>
          <a:xfrm>
            <a:off x="8026400" y="1562100"/>
            <a:ext cx="63500" cy="1193800"/>
          </a:xfrm>
          <a:prstGeom prst="rect">
            <a:avLst/>
          </a:prstGeom>
          <a:solidFill>
            <a:srgbClr val="53A05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9962C7FF-5421-445D-8668-341BBA88F715}"/>
              </a:ext>
            </a:extLst>
          </p:cNvPr>
          <p:cNvSpPr txBox="1"/>
          <p:nvPr/>
        </p:nvSpPr>
        <p:spPr>
          <a:xfrm>
            <a:off x="8204200" y="1587500"/>
            <a:ext cx="2997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节点侧</a:t>
            </a:r>
          </a:p>
        </p:txBody>
      </p:sp>
      <p:sp>
        <p:nvSpPr>
          <p:cNvPr id="42" name="文本框 41">
            <a:extLst>
              <a:ext uri="{FF2B5EF4-FFF2-40B4-BE49-F238E27FC236}">
                <a16:creationId xmlns:a16="http://schemas.microsoft.com/office/drawing/2014/main" id="{F76C1105-46F4-4860-83A4-AA96018B6D2D}"/>
              </a:ext>
            </a:extLst>
          </p:cNvPr>
          <p:cNvSpPr txBox="1"/>
          <p:nvPr/>
        </p:nvSpPr>
        <p:spPr>
          <a:xfrm>
            <a:off x="8204200" y="1993900"/>
            <a:ext cx="3022600" cy="610424"/>
          </a:xfrm>
          <a:prstGeom prst="rect">
            <a:avLst/>
          </a:prstGeom>
          <a:noFill/>
        </p:spPr>
        <p:txBody>
          <a:bodyPr vert="horz" lIns="76200" tIns="50800" rIns="76200" bIns="50800" rtlCol="0">
            <a:spAutoFit/>
          </a:bodyPr>
          <a:lstStyle/>
          <a:p>
            <a:r>
              <a:rPr lang="en-US" altLang="zh-CN" sz="1100">
                <a:solidFill>
                  <a:srgbClr val="5F6F82"/>
                </a:solidFill>
                <a:latin typeface="Microsoft YaHei" panose="020B0503020204020204" pitchFamily="34" charset="-122"/>
              </a:rPr>
              <a:t>local</a:t>
            </a:r>
            <a:r>
              <a:rPr lang="zh-CN" altLang="en-US" sz="1100">
                <a:solidFill>
                  <a:srgbClr val="5F6F82"/>
                </a:solidFill>
                <a:latin typeface="Microsoft YaHei" panose="020B0503020204020204" pitchFamily="34" charset="-122"/>
              </a:rPr>
              <a:t>、</a:t>
            </a:r>
            <a:r>
              <a:rPr lang="en-US" altLang="zh-CN" sz="1100">
                <a:solidFill>
                  <a:srgbClr val="5F6F82"/>
                </a:solidFill>
                <a:latin typeface="Microsoft YaHei" panose="020B0503020204020204" pitchFamily="34" charset="-122"/>
              </a:rPr>
              <a:t>edge</a:t>
            </a:r>
            <a:r>
              <a:rPr lang="zh-CN" altLang="en-US" sz="1100">
                <a:solidFill>
                  <a:srgbClr val="5F6F82"/>
                </a:solidFill>
                <a:latin typeface="Microsoft YaHei" panose="020B0503020204020204" pitchFamily="34" charset="-122"/>
              </a:rPr>
              <a:t>、</a:t>
            </a:r>
            <a:r>
              <a:rPr lang="en-US" altLang="zh-CN" sz="1100">
                <a:solidFill>
                  <a:srgbClr val="5F6F82"/>
                </a:solidFill>
                <a:latin typeface="Microsoft YaHei" panose="020B0503020204020204" pitchFamily="34" charset="-122"/>
              </a:rPr>
              <a:t>regional</a:t>
            </a:r>
            <a:r>
              <a:rPr lang="zh-CN" altLang="en-US" sz="1100">
                <a:solidFill>
                  <a:srgbClr val="5F6F82"/>
                </a:solidFill>
                <a:latin typeface="Microsoft YaHei" panose="020B0503020204020204" pitchFamily="34" charset="-122"/>
              </a:rPr>
              <a:t>、</a:t>
            </a:r>
            <a:r>
              <a:rPr lang="en-US" altLang="zh-CN" sz="1100">
                <a:solidFill>
                  <a:srgbClr val="5F6F82"/>
                </a:solidFill>
                <a:latin typeface="Microsoft YaHei" panose="020B0503020204020204" pitchFamily="34" charset="-122"/>
              </a:rPr>
              <a:t>cloud </a:t>
            </a:r>
            <a:r>
              <a:rPr lang="zh-CN" altLang="en-US" sz="1100">
                <a:solidFill>
                  <a:srgbClr val="5F6F82"/>
                </a:solidFill>
                <a:latin typeface="Microsoft YaHei" panose="020B0503020204020204" pitchFamily="34" charset="-122"/>
              </a:rPr>
              <a:t>四类节点，</a:t>
            </a:r>
            <a:r>
              <a:rPr lang="en-US" altLang="zh-CN" sz="1100">
                <a:solidFill>
                  <a:srgbClr val="5F6F82"/>
                </a:solidFill>
                <a:latin typeface="Microsoft YaHei" panose="020B0503020204020204" pitchFamily="34" charset="-122"/>
              </a:rPr>
              <a:t>CPU</a:t>
            </a:r>
            <a:r>
              <a:rPr lang="zh-CN" altLang="en-US" sz="1100">
                <a:solidFill>
                  <a:srgbClr val="5F6F82"/>
                </a:solidFill>
                <a:latin typeface="Microsoft YaHei" panose="020B0503020204020204" pitchFamily="34" charset="-122"/>
              </a:rPr>
              <a:t>容量、基础时延、能耗因子和实时负载异构。</a:t>
            </a:r>
          </a:p>
        </p:txBody>
      </p:sp>
      <p:sp>
        <p:nvSpPr>
          <p:cNvPr id="43" name="文本框 42">
            <a:extLst>
              <a:ext uri="{FF2B5EF4-FFF2-40B4-BE49-F238E27FC236}">
                <a16:creationId xmlns:a16="http://schemas.microsoft.com/office/drawing/2014/main" id="{4DA0D804-6995-4873-A8D6-8234B575709D}"/>
              </a:ext>
            </a:extLst>
          </p:cNvPr>
          <p:cNvSpPr txBox="1"/>
          <p:nvPr/>
        </p:nvSpPr>
        <p:spPr>
          <a:xfrm>
            <a:off x="889000" y="3429000"/>
            <a:ext cx="1905000" cy="410369"/>
          </a:xfrm>
          <a:prstGeom prst="rect">
            <a:avLst/>
          </a:prstGeom>
          <a:noFill/>
        </p:spPr>
        <p:txBody>
          <a:bodyPr vert="horz" lIns="76200" tIns="50800" rIns="76200" bIns="50800" rtlCol="0">
            <a:spAutoFit/>
          </a:bodyPr>
          <a:lstStyle/>
          <a:p>
            <a:r>
              <a:rPr lang="zh-CN" altLang="en-US" sz="2000" b="1">
                <a:solidFill>
                  <a:srgbClr val="1B3355"/>
                </a:solidFill>
                <a:latin typeface="Microsoft YaHei" panose="020B0503020204020204" pitchFamily="34" charset="-122"/>
              </a:rPr>
              <a:t>环境机制</a:t>
            </a:r>
          </a:p>
        </p:txBody>
      </p:sp>
      <p:sp>
        <p:nvSpPr>
          <p:cNvPr id="44" name="文本框 43">
            <a:extLst>
              <a:ext uri="{FF2B5EF4-FFF2-40B4-BE49-F238E27FC236}">
                <a16:creationId xmlns:a16="http://schemas.microsoft.com/office/drawing/2014/main" id="{9C12A754-DBB6-4A8C-AF67-A4E7263AD514}"/>
              </a:ext>
            </a:extLst>
          </p:cNvPr>
          <p:cNvSpPr txBox="1"/>
          <p:nvPr/>
        </p:nvSpPr>
        <p:spPr>
          <a:xfrm>
            <a:off x="1079500" y="3962400"/>
            <a:ext cx="9652000" cy="1256754"/>
          </a:xfrm>
          <a:prstGeom prst="rect">
            <a:avLst/>
          </a:prstGeom>
          <a:noFill/>
        </p:spPr>
        <p:txBody>
          <a:bodyPr vert="horz" lIns="76200" tIns="50800" rIns="76200" bIns="50800" rtlCol="0">
            <a:spAutoFit/>
          </a:bodyPr>
          <a:lstStyle/>
          <a:p>
            <a:pPr>
              <a:spcAft>
                <a:spcPts val="600"/>
              </a:spcAft>
            </a:pPr>
            <a:r>
              <a:rPr lang="en-US" altLang="zh-CN" sz="1500">
                <a:solidFill>
                  <a:srgbClr val="1B3355"/>
                </a:solidFill>
                <a:latin typeface="Microsoft YaHei" panose="020B0503020204020204" pitchFamily="34" charset="-122"/>
              </a:rPr>
              <a:t>• </a:t>
            </a:r>
            <a:r>
              <a:rPr lang="zh-CN" altLang="en-US" sz="1500">
                <a:solidFill>
                  <a:srgbClr val="1B3355"/>
                </a:solidFill>
                <a:latin typeface="Microsoft YaHei" panose="020B0503020204020204" pitchFamily="34" charset="-122"/>
              </a:rPr>
              <a:t>拓扑距离决定传输时延与传输能耗</a:t>
            </a:r>
          </a:p>
          <a:p>
            <a:pPr>
              <a:spcAft>
                <a:spcPts val="600"/>
              </a:spcAft>
            </a:pPr>
            <a:r>
              <a:rPr lang="en-US" altLang="zh-CN" sz="1500">
                <a:solidFill>
                  <a:srgbClr val="1B3355"/>
                </a:solidFill>
                <a:latin typeface="Microsoft YaHei" panose="020B0503020204020204" pitchFamily="34" charset="-122"/>
              </a:rPr>
              <a:t>• </a:t>
            </a:r>
            <a:r>
              <a:rPr lang="zh-CN" altLang="en-US" sz="1500">
                <a:solidFill>
                  <a:srgbClr val="1B3355"/>
                </a:solidFill>
                <a:latin typeface="Microsoft YaHei" panose="020B0503020204020204" pitchFamily="34" charset="-122"/>
              </a:rPr>
              <a:t>节点被选中后负载向邻接节点传播，形成拥塞效应</a:t>
            </a:r>
          </a:p>
          <a:p>
            <a:pPr>
              <a:spcAft>
                <a:spcPts val="600"/>
              </a:spcAft>
            </a:pPr>
            <a:r>
              <a:rPr lang="en-US" altLang="zh-CN" sz="1500">
                <a:solidFill>
                  <a:srgbClr val="1B3355"/>
                </a:solidFill>
                <a:latin typeface="Microsoft YaHei" panose="020B0503020204020204" pitchFamily="34" charset="-122"/>
              </a:rPr>
              <a:t>• </a:t>
            </a:r>
            <a:r>
              <a:rPr lang="zh-CN" altLang="en-US" sz="1500">
                <a:solidFill>
                  <a:srgbClr val="1B3355"/>
                </a:solidFill>
                <a:latin typeface="Microsoft YaHei" panose="020B0503020204020204" pitchFamily="34" charset="-122"/>
              </a:rPr>
              <a:t>任务按优先级、</a:t>
            </a:r>
            <a:r>
              <a:rPr lang="en-US" altLang="zh-CN" sz="1500">
                <a:solidFill>
                  <a:srgbClr val="1B3355"/>
                </a:solidFill>
                <a:latin typeface="Microsoft YaHei" panose="020B0503020204020204" pitchFamily="34" charset="-122"/>
              </a:rPr>
              <a:t>deadline</a:t>
            </a:r>
            <a:r>
              <a:rPr lang="zh-CN" altLang="en-US" sz="1500">
                <a:solidFill>
                  <a:srgbClr val="1B3355"/>
                </a:solidFill>
                <a:latin typeface="Microsoft YaHei" panose="020B0503020204020204" pitchFamily="34" charset="-122"/>
              </a:rPr>
              <a:t>、来源机器人和任务编号排序进入中央调度器</a:t>
            </a:r>
          </a:p>
          <a:p>
            <a:pPr>
              <a:spcAft>
                <a:spcPts val="600"/>
              </a:spcAft>
            </a:pPr>
            <a:r>
              <a:rPr lang="en-US" altLang="zh-CN" sz="1500">
                <a:solidFill>
                  <a:srgbClr val="1B3355"/>
                </a:solidFill>
                <a:latin typeface="Microsoft YaHei" panose="020B0503020204020204" pitchFamily="34" charset="-122"/>
              </a:rPr>
              <a:t>• </a:t>
            </a:r>
            <a:r>
              <a:rPr lang="zh-CN" altLang="en-US" sz="1500">
                <a:solidFill>
                  <a:srgbClr val="1B3355"/>
                </a:solidFill>
                <a:latin typeface="Microsoft YaHei" panose="020B0503020204020204" pitchFamily="34" charset="-122"/>
              </a:rPr>
              <a:t>机器人低电量与充电恢复机制已进入评估轨迹</a:t>
            </a:r>
          </a:p>
        </p:txBody>
      </p:sp>
    </p:spTree>
  </p:cSld>
  <p:clrMapOvr>
    <a:masterClrMapping/>
  </p:clrMapOvr>
  <mc:AlternateContent xmlns:mc="http://schemas.openxmlformats.org/markup-compatibility/2006" xmlns:p14="http://schemas.microsoft.com/office/powerpoint/2010/main">
    <mc:Choice Requires="p14">
      <p:transition spd="slow" p14:dur="1500" advTm="25283"/>
    </mc:Choice>
    <mc:Fallback xmlns="">
      <p:transition spd="slow" advTm="2528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D07D46F5-684D-4B24-B8E4-7484956E8BB0}"/>
              </a:ext>
            </a:extLst>
          </p:cNvPr>
          <p:cNvSpPr>
            <a:spLocks noGrp="1"/>
          </p:cNvSpPr>
          <p:nvPr>
            <p:ph type="title"/>
          </p:nvPr>
        </p:nvSpPr>
        <p:spPr/>
        <p:txBody>
          <a:bodyPr/>
          <a:lstStyle/>
          <a:p>
            <a:endParaRPr lang="zh-CN" altLang="en-US"/>
          </a:p>
        </p:txBody>
      </p:sp>
      <p:sp>
        <p:nvSpPr>
          <p:cNvPr id="10" name="文本框 9">
            <a:extLst>
              <a:ext uri="{FF2B5EF4-FFF2-40B4-BE49-F238E27FC236}">
                <a16:creationId xmlns:a16="http://schemas.microsoft.com/office/drawing/2014/main" id="{9D4B7038-9C10-4DB0-B71D-5C0CA46986E8}"/>
              </a:ext>
            </a:extLst>
          </p:cNvPr>
          <p:cNvSpPr txBox="1"/>
          <p:nvPr/>
        </p:nvSpPr>
        <p:spPr>
          <a:xfrm>
            <a:off x="533400" y="304800"/>
            <a:ext cx="9906000" cy="456535"/>
          </a:xfrm>
          <a:prstGeom prst="rect">
            <a:avLst/>
          </a:prstGeom>
          <a:noFill/>
        </p:spPr>
        <p:txBody>
          <a:bodyPr vert="horz" lIns="76200" tIns="50800" rIns="76200" bIns="50800" rtlCol="0">
            <a:spAutoFit/>
          </a:bodyPr>
          <a:lstStyle/>
          <a:p>
            <a:r>
              <a:rPr lang="zh-CN" altLang="en-US" sz="2300" b="1">
                <a:solidFill>
                  <a:srgbClr val="1B3355"/>
                </a:solidFill>
                <a:latin typeface="Microsoft YaHei" panose="020B0503020204020204" pitchFamily="34" charset="-122"/>
              </a:rPr>
              <a:t>算法实现：从普通</a:t>
            </a:r>
            <a:r>
              <a:rPr lang="en-US" altLang="zh-CN" sz="2300" b="1">
                <a:solidFill>
                  <a:srgbClr val="1B3355"/>
                </a:solidFill>
                <a:latin typeface="Microsoft YaHei" panose="020B0503020204020204" pitchFamily="34" charset="-122"/>
              </a:rPr>
              <a:t>PPO</a:t>
            </a:r>
            <a:r>
              <a:rPr lang="zh-CN" altLang="en-US" sz="2300" b="1">
                <a:solidFill>
                  <a:srgbClr val="1B3355"/>
                </a:solidFill>
                <a:latin typeface="Microsoft YaHei" panose="020B0503020204020204" pitchFamily="34" charset="-122"/>
              </a:rPr>
              <a:t>到节点打分式</a:t>
            </a:r>
            <a:r>
              <a:rPr lang="en-US" altLang="zh-CN" sz="2300" b="1">
                <a:solidFill>
                  <a:srgbClr val="1B3355"/>
                </a:solidFill>
                <a:latin typeface="Microsoft YaHei" panose="020B0503020204020204" pitchFamily="34" charset="-122"/>
              </a:rPr>
              <a:t>PPO-GAT</a:t>
            </a:r>
            <a:endParaRPr lang="zh-CN" altLang="en-US" sz="2300" b="1">
              <a:solidFill>
                <a:srgbClr val="1B3355"/>
              </a:solidFill>
              <a:latin typeface="Microsoft YaHei" panose="020B0503020204020204" pitchFamily="34" charset="-122"/>
            </a:endParaRPr>
          </a:p>
        </p:txBody>
      </p:sp>
      <p:sp>
        <p:nvSpPr>
          <p:cNvPr id="14" name="文本框 13">
            <a:extLst>
              <a:ext uri="{FF2B5EF4-FFF2-40B4-BE49-F238E27FC236}">
                <a16:creationId xmlns:a16="http://schemas.microsoft.com/office/drawing/2014/main" id="{B4F65383-E94C-4A62-877A-51C780E2C06E}"/>
              </a:ext>
            </a:extLst>
          </p:cNvPr>
          <p:cNvSpPr txBox="1"/>
          <p:nvPr/>
        </p:nvSpPr>
        <p:spPr>
          <a:xfrm>
            <a:off x="10058400" y="381000"/>
            <a:ext cx="1397000" cy="256480"/>
          </a:xfrm>
          <a:prstGeom prst="rect">
            <a:avLst/>
          </a:prstGeom>
          <a:noFill/>
        </p:spPr>
        <p:txBody>
          <a:bodyPr vert="horz" lIns="76200" tIns="50800" rIns="76200" bIns="50800" rtlCol="0">
            <a:spAutoFit/>
          </a:bodyPr>
          <a:lstStyle/>
          <a:p>
            <a:pPr algn="r"/>
            <a:r>
              <a:rPr lang="en-US" altLang="zh-CN" sz="1000" b="1">
                <a:solidFill>
                  <a:srgbClr val="2A8FA0"/>
                </a:solidFill>
                <a:latin typeface="Microsoft YaHei" panose="020B0503020204020204" pitchFamily="34" charset="-122"/>
              </a:rPr>
              <a:t>2 / 5</a:t>
            </a:r>
            <a:endParaRPr lang="zh-CN" altLang="en-US" sz="1000" b="1">
              <a:solidFill>
                <a:srgbClr val="2A8FA0"/>
              </a:solidFill>
              <a:latin typeface="Microsoft YaHei" panose="020B0503020204020204" pitchFamily="34" charset="-122"/>
            </a:endParaRPr>
          </a:p>
        </p:txBody>
      </p:sp>
      <p:sp>
        <p:nvSpPr>
          <p:cNvPr id="20" name="矩形 19">
            <a:extLst>
              <a:ext uri="{FF2B5EF4-FFF2-40B4-BE49-F238E27FC236}">
                <a16:creationId xmlns:a16="http://schemas.microsoft.com/office/drawing/2014/main" id="{8BF4A7BC-B333-4CF9-BFDB-98E7717E9737}"/>
              </a:ext>
            </a:extLst>
          </p:cNvPr>
          <p:cNvSpPr/>
          <p:nvPr/>
        </p:nvSpPr>
        <p:spPr>
          <a:xfrm>
            <a:off x="609600" y="914400"/>
            <a:ext cx="1524000" cy="50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E08ACB35-C82B-4B63-9BB4-50869F3BEB10}"/>
              </a:ext>
            </a:extLst>
          </p:cNvPr>
          <p:cNvSpPr txBox="1"/>
          <p:nvPr/>
        </p:nvSpPr>
        <p:spPr>
          <a:xfrm>
            <a:off x="11455400" y="6350000"/>
            <a:ext cx="381000" cy="256480"/>
          </a:xfrm>
          <a:prstGeom prst="rect">
            <a:avLst/>
          </a:prstGeom>
          <a:noFill/>
        </p:spPr>
        <p:txBody>
          <a:bodyPr vert="horz" lIns="76200" tIns="50800" rIns="76200" bIns="50800" rtlCol="0">
            <a:spAutoFit/>
          </a:bodyPr>
          <a:lstStyle/>
          <a:p>
            <a:pPr algn="r"/>
            <a:r>
              <a:rPr lang="en-US" altLang="zh-CN" sz="1000">
                <a:solidFill>
                  <a:srgbClr val="5F6F82"/>
                </a:solidFill>
                <a:latin typeface="Microsoft YaHei" panose="020B0503020204020204" pitchFamily="34" charset="-122"/>
              </a:rPr>
              <a:t>07</a:t>
            </a:r>
            <a:endParaRPr lang="zh-CN" altLang="en-US" sz="1000">
              <a:solidFill>
                <a:srgbClr val="5F6F82"/>
              </a:solidFill>
              <a:latin typeface="Microsoft YaHei" panose="020B0503020204020204" pitchFamily="34" charset="-122"/>
            </a:endParaRPr>
          </a:p>
        </p:txBody>
      </p:sp>
      <p:sp>
        <p:nvSpPr>
          <p:cNvPr id="25" name="矩形: 圆角 24">
            <a:extLst>
              <a:ext uri="{FF2B5EF4-FFF2-40B4-BE49-F238E27FC236}">
                <a16:creationId xmlns:a16="http://schemas.microsoft.com/office/drawing/2014/main" id="{6157EB64-57D2-4EF2-B7FB-A0B20BB4E414}"/>
              </a:ext>
            </a:extLst>
          </p:cNvPr>
          <p:cNvSpPr/>
          <p:nvPr/>
        </p:nvSpPr>
        <p:spPr>
          <a:xfrm>
            <a:off x="736600" y="1422400"/>
            <a:ext cx="3175000" cy="31750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90003ED7-D3AC-41AB-AEA0-3EA5B2702BE0}"/>
              </a:ext>
            </a:extLst>
          </p:cNvPr>
          <p:cNvSpPr/>
          <p:nvPr/>
        </p:nvSpPr>
        <p:spPr>
          <a:xfrm>
            <a:off x="736600" y="1524000"/>
            <a:ext cx="63500" cy="2971800"/>
          </a:xfrm>
          <a:prstGeom prst="rect">
            <a:avLst/>
          </a:prstGeom>
          <a:solidFill>
            <a:srgbClr val="1C67A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4ED83A1A-219F-4D90-83D3-4E8B5BC3C67B}"/>
              </a:ext>
            </a:extLst>
          </p:cNvPr>
          <p:cNvSpPr txBox="1"/>
          <p:nvPr/>
        </p:nvSpPr>
        <p:spPr>
          <a:xfrm>
            <a:off x="914400" y="1549400"/>
            <a:ext cx="2870200" cy="333425"/>
          </a:xfrm>
          <a:prstGeom prst="rect">
            <a:avLst/>
          </a:prstGeom>
          <a:noFill/>
        </p:spPr>
        <p:txBody>
          <a:bodyPr vert="horz" lIns="76200" tIns="50800" rIns="76200" bIns="50800" rtlCol="0">
            <a:spAutoFit/>
          </a:bodyPr>
          <a:lstStyle/>
          <a:p>
            <a:r>
              <a:rPr lang="en-US" altLang="zh-CN" sz="1500" b="1">
                <a:solidFill>
                  <a:srgbClr val="1B3355"/>
                </a:solidFill>
                <a:latin typeface="Microsoft YaHei" panose="020B0503020204020204" pitchFamily="34" charset="-122"/>
              </a:rPr>
              <a:t>PPO-Baseline</a:t>
            </a:r>
            <a:endParaRPr lang="zh-CN" altLang="en-US" sz="1500" b="1">
              <a:solidFill>
                <a:srgbClr val="1B3355"/>
              </a:solidFill>
              <a:latin typeface="Microsoft YaHei" panose="020B0503020204020204" pitchFamily="34" charset="-122"/>
            </a:endParaRPr>
          </a:p>
        </p:txBody>
      </p:sp>
      <p:sp>
        <p:nvSpPr>
          <p:cNvPr id="30" name="文本框 29">
            <a:extLst>
              <a:ext uri="{FF2B5EF4-FFF2-40B4-BE49-F238E27FC236}">
                <a16:creationId xmlns:a16="http://schemas.microsoft.com/office/drawing/2014/main" id="{E3E4720A-7545-4D7C-8DCE-013DFFFDD133}"/>
              </a:ext>
            </a:extLst>
          </p:cNvPr>
          <p:cNvSpPr txBox="1"/>
          <p:nvPr/>
        </p:nvSpPr>
        <p:spPr>
          <a:xfrm>
            <a:off x="914400" y="1955800"/>
            <a:ext cx="2895600" cy="610424"/>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作为强化学习基线，直接利用扁平状态输入学习节点选择策略，用于衡量</a:t>
            </a:r>
            <a:r>
              <a:rPr lang="en-US" altLang="zh-CN" sz="1100">
                <a:solidFill>
                  <a:srgbClr val="5F6F82"/>
                </a:solidFill>
                <a:latin typeface="Microsoft YaHei" panose="020B0503020204020204" pitchFamily="34" charset="-122"/>
              </a:rPr>
              <a:t>RL</a:t>
            </a:r>
            <a:r>
              <a:rPr lang="zh-CN" altLang="en-US" sz="1100">
                <a:solidFill>
                  <a:srgbClr val="5F6F82"/>
                </a:solidFill>
                <a:latin typeface="Microsoft YaHei" panose="020B0503020204020204" pitchFamily="34" charset="-122"/>
              </a:rPr>
              <a:t>相对传统策略的收益。</a:t>
            </a:r>
          </a:p>
        </p:txBody>
      </p:sp>
      <p:sp>
        <p:nvSpPr>
          <p:cNvPr id="31" name="矩形: 圆角 30">
            <a:extLst>
              <a:ext uri="{FF2B5EF4-FFF2-40B4-BE49-F238E27FC236}">
                <a16:creationId xmlns:a16="http://schemas.microsoft.com/office/drawing/2014/main" id="{6B381DA0-7362-4CDC-A569-2CCB9C2AB4D8}"/>
              </a:ext>
            </a:extLst>
          </p:cNvPr>
          <p:cNvSpPr/>
          <p:nvPr/>
        </p:nvSpPr>
        <p:spPr>
          <a:xfrm>
            <a:off x="4470400" y="1422400"/>
            <a:ext cx="3175000" cy="31750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615DCA98-F089-42CB-8196-815994BA67B2}"/>
              </a:ext>
            </a:extLst>
          </p:cNvPr>
          <p:cNvSpPr/>
          <p:nvPr/>
        </p:nvSpPr>
        <p:spPr>
          <a:xfrm>
            <a:off x="4470400" y="1524000"/>
            <a:ext cx="63500" cy="2971800"/>
          </a:xfrm>
          <a:prstGeom prst="rect">
            <a:avLst/>
          </a:prstGeom>
          <a:solidFill>
            <a:srgbClr val="A33B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62136395-351B-432F-A7CF-D29CED63A6F1}"/>
              </a:ext>
            </a:extLst>
          </p:cNvPr>
          <p:cNvSpPr txBox="1"/>
          <p:nvPr/>
        </p:nvSpPr>
        <p:spPr>
          <a:xfrm>
            <a:off x="4648200" y="1549400"/>
            <a:ext cx="2870200" cy="333425"/>
          </a:xfrm>
          <a:prstGeom prst="rect">
            <a:avLst/>
          </a:prstGeom>
          <a:noFill/>
        </p:spPr>
        <p:txBody>
          <a:bodyPr vert="horz" lIns="76200" tIns="50800" rIns="76200" bIns="50800" rtlCol="0">
            <a:spAutoFit/>
          </a:bodyPr>
          <a:lstStyle/>
          <a:p>
            <a:r>
              <a:rPr lang="en-US" altLang="zh-CN" sz="1500" b="1">
                <a:solidFill>
                  <a:srgbClr val="1B3355"/>
                </a:solidFill>
                <a:latin typeface="Microsoft YaHei" panose="020B0503020204020204" pitchFamily="34" charset="-122"/>
              </a:rPr>
              <a:t>PPO-GAT-Naive</a:t>
            </a:r>
            <a:endParaRPr lang="zh-CN" altLang="en-US" sz="1500" b="1">
              <a:solidFill>
                <a:srgbClr val="1B3355"/>
              </a:solidFill>
              <a:latin typeface="Microsoft YaHei" panose="020B0503020204020204" pitchFamily="34" charset="-122"/>
            </a:endParaRPr>
          </a:p>
        </p:txBody>
      </p:sp>
      <p:sp>
        <p:nvSpPr>
          <p:cNvPr id="36" name="文本框 35">
            <a:extLst>
              <a:ext uri="{FF2B5EF4-FFF2-40B4-BE49-F238E27FC236}">
                <a16:creationId xmlns:a16="http://schemas.microsoft.com/office/drawing/2014/main" id="{7F993020-51F5-40CF-AC48-A6168F66DFCD}"/>
              </a:ext>
            </a:extLst>
          </p:cNvPr>
          <p:cNvSpPr txBox="1"/>
          <p:nvPr/>
        </p:nvSpPr>
        <p:spPr>
          <a:xfrm>
            <a:off x="4648200" y="1955800"/>
            <a:ext cx="2895600" cy="610424"/>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将任务、机器人和计算节点构造成图，通过</a:t>
            </a:r>
            <a:r>
              <a:rPr lang="en-US" altLang="zh-CN" sz="1100">
                <a:solidFill>
                  <a:srgbClr val="5F6F82"/>
                </a:solidFill>
                <a:latin typeface="Microsoft YaHei" panose="020B0503020204020204" pitchFamily="34" charset="-122"/>
              </a:rPr>
              <a:t>GATConv</a:t>
            </a:r>
            <a:r>
              <a:rPr lang="zh-CN" altLang="en-US" sz="1100">
                <a:solidFill>
                  <a:srgbClr val="5F6F82"/>
                </a:solidFill>
                <a:latin typeface="Microsoft YaHei" panose="020B0503020204020204" pitchFamily="34" charset="-122"/>
              </a:rPr>
              <a:t>提取结构嵌入，验证图结构特征的基础作用。</a:t>
            </a:r>
          </a:p>
        </p:txBody>
      </p:sp>
      <p:sp>
        <p:nvSpPr>
          <p:cNvPr id="37" name="矩形: 圆角 36">
            <a:extLst>
              <a:ext uri="{FF2B5EF4-FFF2-40B4-BE49-F238E27FC236}">
                <a16:creationId xmlns:a16="http://schemas.microsoft.com/office/drawing/2014/main" id="{0DCC9A3D-C14F-46C0-8C75-3B4A3D3BFB79}"/>
              </a:ext>
            </a:extLst>
          </p:cNvPr>
          <p:cNvSpPr/>
          <p:nvPr/>
        </p:nvSpPr>
        <p:spPr>
          <a:xfrm>
            <a:off x="8204200" y="1422400"/>
            <a:ext cx="3175000" cy="31750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CB58E967-6CF9-4D30-A517-DF13A9F49C7A}"/>
              </a:ext>
            </a:extLst>
          </p:cNvPr>
          <p:cNvSpPr/>
          <p:nvPr/>
        </p:nvSpPr>
        <p:spPr>
          <a:xfrm>
            <a:off x="8204200" y="1524000"/>
            <a:ext cx="63500" cy="2971800"/>
          </a:xfrm>
          <a:prstGeom prst="rect">
            <a:avLst/>
          </a:prstGeom>
          <a:solidFill>
            <a:srgbClr val="EE8E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F1F89D3C-E49A-4EE7-910F-EEF3B151F887}"/>
              </a:ext>
            </a:extLst>
          </p:cNvPr>
          <p:cNvSpPr txBox="1"/>
          <p:nvPr/>
        </p:nvSpPr>
        <p:spPr>
          <a:xfrm>
            <a:off x="8382000" y="1549400"/>
            <a:ext cx="2870200" cy="333425"/>
          </a:xfrm>
          <a:prstGeom prst="rect">
            <a:avLst/>
          </a:prstGeom>
          <a:noFill/>
        </p:spPr>
        <p:txBody>
          <a:bodyPr vert="horz" lIns="76200" tIns="50800" rIns="76200" bIns="50800" rtlCol="0">
            <a:spAutoFit/>
          </a:bodyPr>
          <a:lstStyle/>
          <a:p>
            <a:r>
              <a:rPr lang="en-US" altLang="zh-CN" sz="1500" b="1">
                <a:solidFill>
                  <a:srgbClr val="1B3355"/>
                </a:solidFill>
                <a:latin typeface="Microsoft YaHei" panose="020B0503020204020204" pitchFamily="34" charset="-122"/>
              </a:rPr>
              <a:t>PPO-GAT-Scoring</a:t>
            </a:r>
            <a:endParaRPr lang="zh-CN" altLang="en-US" sz="1500" b="1">
              <a:solidFill>
                <a:srgbClr val="1B3355"/>
              </a:solidFill>
              <a:latin typeface="Microsoft YaHei" panose="020B0503020204020204" pitchFamily="34" charset="-122"/>
            </a:endParaRPr>
          </a:p>
        </p:txBody>
      </p:sp>
      <p:sp>
        <p:nvSpPr>
          <p:cNvPr id="40" name="文本框 39">
            <a:extLst>
              <a:ext uri="{FF2B5EF4-FFF2-40B4-BE49-F238E27FC236}">
                <a16:creationId xmlns:a16="http://schemas.microsoft.com/office/drawing/2014/main" id="{FA6E2DE8-EF78-49E2-B8D4-DEE329E616B0}"/>
              </a:ext>
            </a:extLst>
          </p:cNvPr>
          <p:cNvSpPr txBox="1"/>
          <p:nvPr/>
        </p:nvSpPr>
        <p:spPr>
          <a:xfrm>
            <a:off x="8382000" y="1955800"/>
            <a:ext cx="2895600" cy="610424"/>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针对每个候选节点显式构造评分特征，将图嵌入、启发式指标和任务上下文对齐到动作空间。</a:t>
            </a:r>
          </a:p>
        </p:txBody>
      </p:sp>
      <p:sp>
        <p:nvSpPr>
          <p:cNvPr id="41" name="文本框 40">
            <a:extLst>
              <a:ext uri="{FF2B5EF4-FFF2-40B4-BE49-F238E27FC236}">
                <a16:creationId xmlns:a16="http://schemas.microsoft.com/office/drawing/2014/main" id="{86F1FF77-D91D-4B05-86BC-BA6991ACCFF3}"/>
              </a:ext>
            </a:extLst>
          </p:cNvPr>
          <p:cNvSpPr txBox="1"/>
          <p:nvPr/>
        </p:nvSpPr>
        <p:spPr>
          <a:xfrm>
            <a:off x="990600" y="5105400"/>
            <a:ext cx="9906000" cy="595035"/>
          </a:xfrm>
          <a:prstGeom prst="rect">
            <a:avLst/>
          </a:prstGeom>
          <a:noFill/>
        </p:spPr>
        <p:txBody>
          <a:bodyPr vert="horz" lIns="76200" tIns="50800" rIns="76200" bIns="50800" rtlCol="0">
            <a:spAutoFit/>
          </a:bodyPr>
          <a:lstStyle/>
          <a:p>
            <a:pPr algn="ctr"/>
            <a:r>
              <a:rPr lang="zh-CN" altLang="en-US" sz="1600" b="1">
                <a:solidFill>
                  <a:srgbClr val="2A8FA0"/>
                </a:solidFill>
                <a:latin typeface="Microsoft YaHei" panose="020B0503020204020204" pitchFamily="34" charset="-122"/>
              </a:rPr>
              <a:t>阶段发现：单纯引入</a:t>
            </a:r>
            <a:r>
              <a:rPr lang="en-US" altLang="zh-CN" sz="1600" b="1">
                <a:solidFill>
                  <a:srgbClr val="2A8FA0"/>
                </a:solidFill>
                <a:latin typeface="Microsoft YaHei" panose="020B0503020204020204" pitchFamily="34" charset="-122"/>
              </a:rPr>
              <a:t>GAT</a:t>
            </a:r>
            <a:r>
              <a:rPr lang="zh-CN" altLang="en-US" sz="1600" b="1">
                <a:solidFill>
                  <a:srgbClr val="2A8FA0"/>
                </a:solidFill>
                <a:latin typeface="Microsoft YaHei" panose="020B0503020204020204" pitchFamily="34" charset="-122"/>
              </a:rPr>
              <a:t>并不必然提升性能，关键在于图嵌入是否服务于“选择哪个算力节点”这一动作语义。</a:t>
            </a:r>
          </a:p>
        </p:txBody>
      </p:sp>
    </p:spTree>
  </p:cSld>
  <p:clrMapOvr>
    <a:masterClrMapping/>
  </p:clrMapOvr>
  <mc:AlternateContent xmlns:mc="http://schemas.openxmlformats.org/markup-compatibility/2006" xmlns:p14="http://schemas.microsoft.com/office/powerpoint/2010/main">
    <mc:Choice Requires="p14">
      <p:transition spd="slow" p14:dur="1500" advTm="25283"/>
    </mc:Choice>
    <mc:Fallback xmlns="">
      <p:transition spd="slow" advTm="2528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7649D5B-3699-4B17-A6B5-EED0BB96A18C}"/>
              </a:ext>
            </a:extLst>
          </p:cNvPr>
          <p:cNvSpPr>
            <a:spLocks noGrp="1"/>
          </p:cNvSpPr>
          <p:nvPr>
            <p:ph type="title"/>
          </p:nvPr>
        </p:nvSpPr>
        <p:spPr/>
        <p:txBody>
          <a:bodyPr/>
          <a:lstStyle/>
          <a:p>
            <a:endParaRPr lang="zh-CN" altLang="en-US"/>
          </a:p>
        </p:txBody>
      </p:sp>
      <p:sp>
        <p:nvSpPr>
          <p:cNvPr id="6" name="文本框 5">
            <a:extLst>
              <a:ext uri="{FF2B5EF4-FFF2-40B4-BE49-F238E27FC236}">
                <a16:creationId xmlns:a16="http://schemas.microsoft.com/office/drawing/2014/main" id="{6FA395BD-5151-4180-9904-4E01A607B157}"/>
              </a:ext>
            </a:extLst>
          </p:cNvPr>
          <p:cNvSpPr txBox="1"/>
          <p:nvPr/>
        </p:nvSpPr>
        <p:spPr>
          <a:xfrm>
            <a:off x="533400" y="304800"/>
            <a:ext cx="9906000" cy="456535"/>
          </a:xfrm>
          <a:prstGeom prst="rect">
            <a:avLst/>
          </a:prstGeom>
          <a:noFill/>
        </p:spPr>
        <p:txBody>
          <a:bodyPr vert="horz" lIns="76200" tIns="50800" rIns="76200" bIns="50800" rtlCol="0">
            <a:spAutoFit/>
          </a:bodyPr>
          <a:lstStyle/>
          <a:p>
            <a:r>
              <a:rPr lang="zh-CN" altLang="en-US" sz="2300" b="1">
                <a:solidFill>
                  <a:srgbClr val="1B3355"/>
                </a:solidFill>
                <a:latin typeface="Microsoft YaHei" panose="020B0503020204020204" pitchFamily="34" charset="-122"/>
              </a:rPr>
              <a:t>动态奖励函数：场景识别与目标权重自适应</a:t>
            </a:r>
          </a:p>
        </p:txBody>
      </p:sp>
      <p:sp>
        <p:nvSpPr>
          <p:cNvPr id="12" name="文本框 11">
            <a:extLst>
              <a:ext uri="{FF2B5EF4-FFF2-40B4-BE49-F238E27FC236}">
                <a16:creationId xmlns:a16="http://schemas.microsoft.com/office/drawing/2014/main" id="{8AA109BD-5225-4590-8BF9-6C7F57EAB489}"/>
              </a:ext>
            </a:extLst>
          </p:cNvPr>
          <p:cNvSpPr txBox="1"/>
          <p:nvPr/>
        </p:nvSpPr>
        <p:spPr>
          <a:xfrm>
            <a:off x="10058400" y="381000"/>
            <a:ext cx="1397000" cy="256480"/>
          </a:xfrm>
          <a:prstGeom prst="rect">
            <a:avLst/>
          </a:prstGeom>
          <a:noFill/>
        </p:spPr>
        <p:txBody>
          <a:bodyPr vert="horz" lIns="76200" tIns="50800" rIns="76200" bIns="50800" rtlCol="0">
            <a:spAutoFit/>
          </a:bodyPr>
          <a:lstStyle/>
          <a:p>
            <a:pPr algn="r"/>
            <a:r>
              <a:rPr lang="en-US" altLang="zh-CN" sz="1000" b="1">
                <a:solidFill>
                  <a:srgbClr val="2A8FA0"/>
                </a:solidFill>
                <a:latin typeface="Microsoft YaHei" panose="020B0503020204020204" pitchFamily="34" charset="-122"/>
              </a:rPr>
              <a:t>2 / 5</a:t>
            </a:r>
            <a:endParaRPr lang="zh-CN" altLang="en-US" sz="1000" b="1">
              <a:solidFill>
                <a:srgbClr val="2A8FA0"/>
              </a:solidFill>
              <a:latin typeface="Microsoft YaHei" panose="020B0503020204020204" pitchFamily="34" charset="-122"/>
            </a:endParaRPr>
          </a:p>
        </p:txBody>
      </p:sp>
      <p:sp>
        <p:nvSpPr>
          <p:cNvPr id="14" name="矩形 13">
            <a:extLst>
              <a:ext uri="{FF2B5EF4-FFF2-40B4-BE49-F238E27FC236}">
                <a16:creationId xmlns:a16="http://schemas.microsoft.com/office/drawing/2014/main" id="{DFD7ADF6-9D27-456C-AB67-C64873EA74D4}"/>
              </a:ext>
            </a:extLst>
          </p:cNvPr>
          <p:cNvSpPr/>
          <p:nvPr/>
        </p:nvSpPr>
        <p:spPr>
          <a:xfrm>
            <a:off x="609600" y="914400"/>
            <a:ext cx="1524000" cy="50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9092C075-FFC0-4C1B-91D6-FD4F63125335}"/>
              </a:ext>
            </a:extLst>
          </p:cNvPr>
          <p:cNvSpPr txBox="1"/>
          <p:nvPr/>
        </p:nvSpPr>
        <p:spPr>
          <a:xfrm>
            <a:off x="11455400" y="6350000"/>
            <a:ext cx="381000" cy="256480"/>
          </a:xfrm>
          <a:prstGeom prst="rect">
            <a:avLst/>
          </a:prstGeom>
          <a:noFill/>
        </p:spPr>
        <p:txBody>
          <a:bodyPr vert="horz" lIns="76200" tIns="50800" rIns="76200" bIns="50800" rtlCol="0">
            <a:spAutoFit/>
          </a:bodyPr>
          <a:lstStyle/>
          <a:p>
            <a:pPr algn="r"/>
            <a:r>
              <a:rPr lang="en-US" altLang="zh-CN" sz="1000">
                <a:solidFill>
                  <a:srgbClr val="5F6F82"/>
                </a:solidFill>
                <a:latin typeface="Microsoft YaHei" panose="020B0503020204020204" pitchFamily="34" charset="-122"/>
              </a:rPr>
              <a:t>08</a:t>
            </a:r>
            <a:endParaRPr lang="zh-CN" altLang="en-US" sz="1000">
              <a:solidFill>
                <a:srgbClr val="5F6F82"/>
              </a:solidFill>
              <a:latin typeface="Microsoft YaHei" panose="020B0503020204020204" pitchFamily="34" charset="-122"/>
            </a:endParaRPr>
          </a:p>
        </p:txBody>
      </p:sp>
      <p:sp>
        <p:nvSpPr>
          <p:cNvPr id="19" name="文本框 18">
            <a:extLst>
              <a:ext uri="{FF2B5EF4-FFF2-40B4-BE49-F238E27FC236}">
                <a16:creationId xmlns:a16="http://schemas.microsoft.com/office/drawing/2014/main" id="{F12C373F-5F62-42BC-855D-8A49423361FC}"/>
              </a:ext>
            </a:extLst>
          </p:cNvPr>
          <p:cNvSpPr txBox="1"/>
          <p:nvPr/>
        </p:nvSpPr>
        <p:spPr>
          <a:xfrm>
            <a:off x="914400" y="1397000"/>
            <a:ext cx="4445000" cy="528350"/>
          </a:xfrm>
          <a:prstGeom prst="rect">
            <a:avLst/>
          </a:prstGeom>
          <a:noFill/>
        </p:spPr>
        <p:txBody>
          <a:bodyPr vert="horz" lIns="76200" tIns="50800" rIns="76200" bIns="50800" rtlCol="0">
            <a:spAutoFit/>
          </a:bodyPr>
          <a:lstStyle/>
          <a:p>
            <a:r>
              <a:rPr lang="pt-BR" altLang="zh-CN" sz="2800" b="1">
                <a:solidFill>
                  <a:srgbClr val="2A8FA0"/>
                </a:solidFill>
                <a:latin typeface="Microsoft YaHei" panose="020B0503020204020204" pitchFamily="34" charset="-122"/>
              </a:rPr>
              <a:t>r_t = r_base + r_context</a:t>
            </a:r>
            <a:endParaRPr lang="zh-CN" altLang="en-US" sz="2800" b="1">
              <a:solidFill>
                <a:srgbClr val="2A8FA0"/>
              </a:solidFill>
              <a:latin typeface="Microsoft YaHei" panose="020B0503020204020204" pitchFamily="34" charset="-122"/>
            </a:endParaRPr>
          </a:p>
        </p:txBody>
      </p:sp>
      <p:sp>
        <p:nvSpPr>
          <p:cNvPr id="20" name="文本框 19">
            <a:extLst>
              <a:ext uri="{FF2B5EF4-FFF2-40B4-BE49-F238E27FC236}">
                <a16:creationId xmlns:a16="http://schemas.microsoft.com/office/drawing/2014/main" id="{1C71250E-8A9A-4151-982F-FBB4415FE8B4}"/>
              </a:ext>
            </a:extLst>
          </p:cNvPr>
          <p:cNvSpPr txBox="1"/>
          <p:nvPr/>
        </p:nvSpPr>
        <p:spPr>
          <a:xfrm>
            <a:off x="939800" y="2032000"/>
            <a:ext cx="5334000" cy="564257"/>
          </a:xfrm>
          <a:prstGeom prst="rect">
            <a:avLst/>
          </a:prstGeom>
          <a:noFill/>
        </p:spPr>
        <p:txBody>
          <a:bodyPr vert="horz" lIns="76200" tIns="50800" rIns="76200" bIns="50800" rtlCol="0">
            <a:spAutoFit/>
          </a:bodyPr>
          <a:lstStyle/>
          <a:p>
            <a:r>
              <a:rPr lang="zh-CN" altLang="en-US" sz="1500">
                <a:solidFill>
                  <a:srgbClr val="1B3355"/>
                </a:solidFill>
                <a:latin typeface="Microsoft YaHei" panose="020B0503020204020204" pitchFamily="34" charset="-122"/>
              </a:rPr>
              <a:t>基础奖励刻画完成时间、能耗、</a:t>
            </a:r>
            <a:r>
              <a:rPr lang="en-US" altLang="zh-CN" sz="1500">
                <a:solidFill>
                  <a:srgbClr val="1B3355"/>
                </a:solidFill>
                <a:latin typeface="Microsoft YaHei" panose="020B0503020204020204" pitchFamily="34" charset="-122"/>
              </a:rPr>
              <a:t>deadline</a:t>
            </a:r>
            <a:r>
              <a:rPr lang="zh-CN" altLang="en-US" sz="1500">
                <a:solidFill>
                  <a:srgbClr val="1B3355"/>
                </a:solidFill>
                <a:latin typeface="Microsoft YaHei" panose="020B0503020204020204" pitchFamily="34" charset="-122"/>
              </a:rPr>
              <a:t>、队列、过载、拓扑距离等目标；上下文奖励根据场景风险动态调整权重。</a:t>
            </a:r>
          </a:p>
        </p:txBody>
      </p:sp>
      <p:graphicFrame>
        <p:nvGraphicFramePr>
          <p:cNvPr id="22" name="表格 21">
            <a:extLst>
              <a:ext uri="{FF2B5EF4-FFF2-40B4-BE49-F238E27FC236}">
                <a16:creationId xmlns:a16="http://schemas.microsoft.com/office/drawing/2014/main" id="{754ACCF2-C94F-48E0-B9C1-ED8538549C53}"/>
              </a:ext>
            </a:extLst>
          </p:cNvPr>
          <p:cNvGraphicFramePr>
            <a:graphicFrameLocks noGrp="1"/>
          </p:cNvGraphicFramePr>
          <p:nvPr>
            <p:extLst>
              <p:ext uri="{D42A27DB-BD31-4B8C-83A1-F6EECF244321}">
                <p14:modId xmlns:p14="http://schemas.microsoft.com/office/powerpoint/2010/main" val="1635818853"/>
              </p:ext>
            </p:extLst>
          </p:nvPr>
        </p:nvGraphicFramePr>
        <p:xfrm>
          <a:off x="6604000" y="1333500"/>
          <a:ext cx="4572000" cy="31750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758824660"/>
                    </a:ext>
                  </a:extLst>
                </a:gridCol>
                <a:gridCol w="1524000">
                  <a:extLst>
                    <a:ext uri="{9D8B030D-6E8A-4147-A177-3AD203B41FA5}">
                      <a16:colId xmlns:a16="http://schemas.microsoft.com/office/drawing/2014/main" val="1248429047"/>
                    </a:ext>
                  </a:extLst>
                </a:gridCol>
                <a:gridCol w="1524000">
                  <a:extLst>
                    <a:ext uri="{9D8B030D-6E8A-4147-A177-3AD203B41FA5}">
                      <a16:colId xmlns:a16="http://schemas.microsoft.com/office/drawing/2014/main" val="1825350981"/>
                    </a:ext>
                  </a:extLst>
                </a:gridCol>
              </a:tblGrid>
              <a:tr h="635000">
                <a:tc>
                  <a:txBody>
                    <a:bodyPr/>
                    <a:lstStyle/>
                    <a:p>
                      <a:r>
                        <a:rPr lang="zh-CN" altLang="en-US" sz="1000" b="1">
                          <a:solidFill>
                            <a:srgbClr val="FFFFFF"/>
                          </a:solidFill>
                          <a:latin typeface="Microsoft YaHei" panose="020B0503020204020204" pitchFamily="34" charset="-122"/>
                        </a:rPr>
                        <a:t>场景</a:t>
                      </a:r>
                    </a:p>
                  </a:txBody>
                  <a:tcPr>
                    <a:solidFill>
                      <a:srgbClr val="1C67A6"/>
                    </a:solidFill>
                  </a:tcPr>
                </a:tc>
                <a:tc>
                  <a:txBody>
                    <a:bodyPr/>
                    <a:lstStyle/>
                    <a:p>
                      <a:r>
                        <a:rPr lang="zh-CN" altLang="en-US" sz="1000" b="1">
                          <a:solidFill>
                            <a:srgbClr val="FFFFFF"/>
                          </a:solidFill>
                          <a:latin typeface="Microsoft YaHei" panose="020B0503020204020204" pitchFamily="34" charset="-122"/>
                        </a:rPr>
                        <a:t>触发因素</a:t>
                      </a:r>
                    </a:p>
                  </a:txBody>
                  <a:tcPr>
                    <a:solidFill>
                      <a:srgbClr val="1C67A6"/>
                    </a:solidFill>
                  </a:tcPr>
                </a:tc>
                <a:tc>
                  <a:txBody>
                    <a:bodyPr/>
                    <a:lstStyle/>
                    <a:p>
                      <a:r>
                        <a:rPr lang="zh-CN" altLang="en-US" sz="1000" b="1">
                          <a:solidFill>
                            <a:srgbClr val="FFFFFF"/>
                          </a:solidFill>
                          <a:latin typeface="Microsoft YaHei" panose="020B0503020204020204" pitchFamily="34" charset="-122"/>
                        </a:rPr>
                        <a:t>奖励侧重点</a:t>
                      </a:r>
                    </a:p>
                  </a:txBody>
                  <a:tcPr>
                    <a:solidFill>
                      <a:srgbClr val="1C67A6"/>
                    </a:solidFill>
                  </a:tcPr>
                </a:tc>
                <a:extLst>
                  <a:ext uri="{0D108BD9-81ED-4DB2-BD59-A6C34878D82A}">
                    <a16:rowId xmlns:a16="http://schemas.microsoft.com/office/drawing/2014/main" val="4112935180"/>
                  </a:ext>
                </a:extLst>
              </a:tr>
              <a:tr h="635000">
                <a:tc>
                  <a:txBody>
                    <a:bodyPr/>
                    <a:lstStyle/>
                    <a:p>
                      <a:r>
                        <a:rPr lang="zh-CN" altLang="en-US" sz="1000">
                          <a:solidFill>
                            <a:srgbClr val="1B3355"/>
                          </a:solidFill>
                          <a:latin typeface="Microsoft YaHei" panose="020B0503020204020204" pitchFamily="34" charset="-122"/>
                        </a:rPr>
                        <a:t>低电量</a:t>
                      </a:r>
                    </a:p>
                  </a:txBody>
                  <a:tcPr>
                    <a:solidFill>
                      <a:srgbClr val="F5F8FB"/>
                    </a:solidFill>
                  </a:tcPr>
                </a:tc>
                <a:tc>
                  <a:txBody>
                    <a:bodyPr/>
                    <a:lstStyle/>
                    <a:p>
                      <a:r>
                        <a:rPr lang="zh-CN" altLang="en-US" sz="1000">
                          <a:solidFill>
                            <a:srgbClr val="1B3355"/>
                          </a:solidFill>
                          <a:latin typeface="Microsoft YaHei" panose="020B0503020204020204" pitchFamily="34" charset="-122"/>
                        </a:rPr>
                        <a:t>机器人剩余电量下降</a:t>
                      </a:r>
                    </a:p>
                  </a:txBody>
                  <a:tcPr>
                    <a:solidFill>
                      <a:srgbClr val="F5F8FB"/>
                    </a:solidFill>
                  </a:tcPr>
                </a:tc>
                <a:tc>
                  <a:txBody>
                    <a:bodyPr/>
                    <a:lstStyle/>
                    <a:p>
                      <a:r>
                        <a:rPr lang="zh-CN" altLang="en-US" sz="1000">
                          <a:solidFill>
                            <a:srgbClr val="1B3355"/>
                          </a:solidFill>
                          <a:latin typeface="Microsoft YaHei" panose="020B0503020204020204" pitchFamily="34" charset="-122"/>
                        </a:rPr>
                        <a:t>能耗、通信代价</a:t>
                      </a:r>
                    </a:p>
                  </a:txBody>
                  <a:tcPr>
                    <a:solidFill>
                      <a:srgbClr val="F5F8FB"/>
                    </a:solidFill>
                  </a:tcPr>
                </a:tc>
                <a:extLst>
                  <a:ext uri="{0D108BD9-81ED-4DB2-BD59-A6C34878D82A}">
                    <a16:rowId xmlns:a16="http://schemas.microsoft.com/office/drawing/2014/main" val="2694372647"/>
                  </a:ext>
                </a:extLst>
              </a:tr>
              <a:tr h="635000">
                <a:tc>
                  <a:txBody>
                    <a:bodyPr/>
                    <a:lstStyle/>
                    <a:p>
                      <a:r>
                        <a:rPr lang="zh-CN" altLang="en-US" sz="1000">
                          <a:solidFill>
                            <a:srgbClr val="1B3355"/>
                          </a:solidFill>
                          <a:latin typeface="Microsoft YaHei" panose="020B0503020204020204" pitchFamily="34" charset="-122"/>
                        </a:rPr>
                        <a:t>高负载</a:t>
                      </a:r>
                    </a:p>
                  </a:txBody>
                  <a:tcPr>
                    <a:solidFill>
                      <a:srgbClr val="F5F8FB"/>
                    </a:solidFill>
                  </a:tcPr>
                </a:tc>
                <a:tc>
                  <a:txBody>
                    <a:bodyPr/>
                    <a:lstStyle/>
                    <a:p>
                      <a:r>
                        <a:rPr lang="zh-CN" altLang="en-US" sz="1000">
                          <a:solidFill>
                            <a:srgbClr val="1B3355"/>
                          </a:solidFill>
                          <a:latin typeface="Microsoft YaHei" panose="020B0503020204020204" pitchFamily="34" charset="-122"/>
                        </a:rPr>
                        <a:t>节点负载与系统</a:t>
                      </a:r>
                      <a:r>
                        <a:rPr lang="en-US" altLang="zh-CN" sz="1000">
                          <a:solidFill>
                            <a:srgbClr val="1B3355"/>
                          </a:solidFill>
                          <a:latin typeface="Microsoft YaHei" panose="020B0503020204020204" pitchFamily="34" charset="-122"/>
                        </a:rPr>
                        <a:t>backlog</a:t>
                      </a:r>
                      <a:r>
                        <a:rPr lang="zh-CN" altLang="en-US" sz="1000">
                          <a:solidFill>
                            <a:srgbClr val="1B3355"/>
                          </a:solidFill>
                          <a:latin typeface="Microsoft YaHei" panose="020B0503020204020204" pitchFamily="34" charset="-122"/>
                        </a:rPr>
                        <a:t>升高</a:t>
                      </a:r>
                    </a:p>
                  </a:txBody>
                  <a:tcPr>
                    <a:solidFill>
                      <a:srgbClr val="F5F8FB"/>
                    </a:solidFill>
                  </a:tcPr>
                </a:tc>
                <a:tc>
                  <a:txBody>
                    <a:bodyPr/>
                    <a:lstStyle/>
                    <a:p>
                      <a:r>
                        <a:rPr lang="zh-CN" altLang="en-US" sz="1000">
                          <a:solidFill>
                            <a:srgbClr val="1B3355"/>
                          </a:solidFill>
                          <a:latin typeface="Microsoft YaHei" panose="020B0503020204020204" pitchFamily="34" charset="-122"/>
                        </a:rPr>
                        <a:t>队列、过载、均衡</a:t>
                      </a:r>
                    </a:p>
                  </a:txBody>
                  <a:tcPr>
                    <a:solidFill>
                      <a:srgbClr val="F5F8FB"/>
                    </a:solidFill>
                  </a:tcPr>
                </a:tc>
                <a:extLst>
                  <a:ext uri="{0D108BD9-81ED-4DB2-BD59-A6C34878D82A}">
                    <a16:rowId xmlns:a16="http://schemas.microsoft.com/office/drawing/2014/main" val="3297468436"/>
                  </a:ext>
                </a:extLst>
              </a:tr>
              <a:tr h="635000">
                <a:tc>
                  <a:txBody>
                    <a:bodyPr/>
                    <a:lstStyle/>
                    <a:p>
                      <a:r>
                        <a:rPr lang="zh-CN" altLang="en-US" sz="1000">
                          <a:solidFill>
                            <a:srgbClr val="1B3355"/>
                          </a:solidFill>
                          <a:latin typeface="Microsoft YaHei" panose="020B0503020204020204" pitchFamily="34" charset="-122"/>
                        </a:rPr>
                        <a:t>紧急任务</a:t>
                      </a:r>
                    </a:p>
                  </a:txBody>
                  <a:tcPr>
                    <a:solidFill>
                      <a:srgbClr val="F5F8FB"/>
                    </a:solidFill>
                  </a:tcPr>
                </a:tc>
                <a:tc>
                  <a:txBody>
                    <a:bodyPr/>
                    <a:lstStyle/>
                    <a:p>
                      <a:r>
                        <a:rPr lang="en-US" altLang="zh-CN" sz="1000">
                          <a:solidFill>
                            <a:srgbClr val="1B3355"/>
                          </a:solidFill>
                          <a:latin typeface="Microsoft YaHei" panose="020B0503020204020204" pitchFamily="34" charset="-122"/>
                        </a:rPr>
                        <a:t>deadline</a:t>
                      </a:r>
                      <a:r>
                        <a:rPr lang="zh-CN" altLang="en-US" sz="1000">
                          <a:solidFill>
                            <a:srgbClr val="1B3355"/>
                          </a:solidFill>
                          <a:latin typeface="Microsoft YaHei" panose="020B0503020204020204" pitchFamily="34" charset="-122"/>
                        </a:rPr>
                        <a:t>紧迫、优先级高</a:t>
                      </a:r>
                    </a:p>
                  </a:txBody>
                  <a:tcPr>
                    <a:solidFill>
                      <a:srgbClr val="F5F8FB"/>
                    </a:solidFill>
                  </a:tcPr>
                </a:tc>
                <a:tc>
                  <a:txBody>
                    <a:bodyPr/>
                    <a:lstStyle/>
                    <a:p>
                      <a:r>
                        <a:rPr lang="en-US" altLang="zh-CN" sz="1000">
                          <a:solidFill>
                            <a:srgbClr val="1B3355"/>
                          </a:solidFill>
                          <a:latin typeface="Microsoft YaHei" panose="020B0503020204020204" pitchFamily="34" charset="-122"/>
                        </a:rPr>
                        <a:t>deadline</a:t>
                      </a:r>
                      <a:r>
                        <a:rPr lang="zh-CN" altLang="en-US" sz="1000">
                          <a:solidFill>
                            <a:srgbClr val="1B3355"/>
                          </a:solidFill>
                          <a:latin typeface="Microsoft YaHei" panose="020B0503020204020204" pitchFamily="34" charset="-122"/>
                        </a:rPr>
                        <a:t>、</a:t>
                      </a:r>
                      <a:r>
                        <a:rPr lang="en-US" altLang="zh-CN" sz="1000">
                          <a:solidFill>
                            <a:srgbClr val="1B3355"/>
                          </a:solidFill>
                          <a:latin typeface="Microsoft YaHei" panose="020B0503020204020204" pitchFamily="34" charset="-122"/>
                        </a:rPr>
                        <a:t>slack</a:t>
                      </a:r>
                      <a:endParaRPr lang="zh-CN" altLang="en-US" sz="1000">
                        <a:solidFill>
                          <a:srgbClr val="1B3355"/>
                        </a:solidFill>
                        <a:latin typeface="Microsoft YaHei" panose="020B0503020204020204" pitchFamily="34" charset="-122"/>
                      </a:endParaRPr>
                    </a:p>
                  </a:txBody>
                  <a:tcPr>
                    <a:solidFill>
                      <a:srgbClr val="F5F8FB"/>
                    </a:solidFill>
                  </a:tcPr>
                </a:tc>
                <a:extLst>
                  <a:ext uri="{0D108BD9-81ED-4DB2-BD59-A6C34878D82A}">
                    <a16:rowId xmlns:a16="http://schemas.microsoft.com/office/drawing/2014/main" val="3556574238"/>
                  </a:ext>
                </a:extLst>
              </a:tr>
              <a:tr h="635000">
                <a:tc>
                  <a:txBody>
                    <a:bodyPr/>
                    <a:lstStyle/>
                    <a:p>
                      <a:r>
                        <a:rPr lang="zh-CN" altLang="en-US" sz="1000">
                          <a:solidFill>
                            <a:srgbClr val="1B3355"/>
                          </a:solidFill>
                          <a:latin typeface="Microsoft YaHei" panose="020B0503020204020204" pitchFamily="34" charset="-122"/>
                        </a:rPr>
                        <a:t>高延迟</a:t>
                      </a:r>
                    </a:p>
                  </a:txBody>
                  <a:tcPr>
                    <a:solidFill>
                      <a:srgbClr val="F5F8FB"/>
                    </a:solidFill>
                  </a:tcPr>
                </a:tc>
                <a:tc>
                  <a:txBody>
                    <a:bodyPr/>
                    <a:lstStyle/>
                    <a:p>
                      <a:r>
                        <a:rPr lang="zh-CN" altLang="en-US" sz="1000">
                          <a:solidFill>
                            <a:srgbClr val="1B3355"/>
                          </a:solidFill>
                          <a:latin typeface="Microsoft YaHei" panose="020B0503020204020204" pitchFamily="34" charset="-122"/>
                        </a:rPr>
                        <a:t>通信风险升高</a:t>
                      </a:r>
                    </a:p>
                  </a:txBody>
                  <a:tcPr>
                    <a:solidFill>
                      <a:srgbClr val="F5F8FB"/>
                    </a:solidFill>
                  </a:tcPr>
                </a:tc>
                <a:tc>
                  <a:txBody>
                    <a:bodyPr/>
                    <a:lstStyle/>
                    <a:p>
                      <a:r>
                        <a:rPr lang="zh-CN" altLang="en-US" sz="1000">
                          <a:solidFill>
                            <a:srgbClr val="1B3355"/>
                          </a:solidFill>
                          <a:latin typeface="Microsoft YaHei" panose="020B0503020204020204" pitchFamily="34" charset="-122"/>
                        </a:rPr>
                        <a:t>网络时延、远端代价</a:t>
                      </a:r>
                    </a:p>
                  </a:txBody>
                  <a:tcPr>
                    <a:solidFill>
                      <a:srgbClr val="F5F8FB"/>
                    </a:solidFill>
                  </a:tcPr>
                </a:tc>
                <a:extLst>
                  <a:ext uri="{0D108BD9-81ED-4DB2-BD59-A6C34878D82A}">
                    <a16:rowId xmlns:a16="http://schemas.microsoft.com/office/drawing/2014/main" val="2390285057"/>
                  </a:ext>
                </a:extLst>
              </a:tr>
            </a:tbl>
          </a:graphicData>
        </a:graphic>
      </p:graphicFrame>
      <p:sp>
        <p:nvSpPr>
          <p:cNvPr id="23" name="文本框 22">
            <a:extLst>
              <a:ext uri="{FF2B5EF4-FFF2-40B4-BE49-F238E27FC236}">
                <a16:creationId xmlns:a16="http://schemas.microsoft.com/office/drawing/2014/main" id="{D4657BEF-B682-4180-B621-EAC42050D224}"/>
              </a:ext>
            </a:extLst>
          </p:cNvPr>
          <p:cNvSpPr txBox="1"/>
          <p:nvPr/>
        </p:nvSpPr>
        <p:spPr>
          <a:xfrm>
            <a:off x="1066800" y="4127500"/>
            <a:ext cx="9525000" cy="948978"/>
          </a:xfrm>
          <a:prstGeom prst="rect">
            <a:avLst/>
          </a:prstGeom>
          <a:noFill/>
        </p:spPr>
        <p:txBody>
          <a:bodyPr vert="horz" lIns="76200" tIns="50800" rIns="76200" bIns="50800" rtlCol="0">
            <a:spAutoFit/>
          </a:bodyPr>
          <a:lstStyle/>
          <a:p>
            <a:pPr>
              <a:spcAft>
                <a:spcPts val="600"/>
              </a:spcAft>
            </a:pPr>
            <a:r>
              <a:rPr lang="en-US" altLang="zh-CN" sz="1500">
                <a:solidFill>
                  <a:srgbClr val="1B3355"/>
                </a:solidFill>
                <a:latin typeface="Microsoft YaHei" panose="020B0503020204020204" pitchFamily="34" charset="-122"/>
              </a:rPr>
              <a:t>• </a:t>
            </a:r>
            <a:r>
              <a:rPr lang="zh-CN" altLang="en-US" sz="1500">
                <a:solidFill>
                  <a:srgbClr val="1B3355"/>
                </a:solidFill>
                <a:latin typeface="Microsoft YaHei" panose="020B0503020204020204" pitchFamily="34" charset="-122"/>
              </a:rPr>
              <a:t>输出</a:t>
            </a:r>
            <a:r>
              <a:rPr lang="en-US" altLang="zh-CN" sz="1500">
                <a:solidFill>
                  <a:srgbClr val="1B3355"/>
                </a:solidFill>
                <a:latin typeface="Microsoft YaHei" panose="020B0503020204020204" pitchFamily="34" charset="-122"/>
              </a:rPr>
              <a:t>avg_context_load</a:t>
            </a:r>
            <a:r>
              <a:rPr lang="zh-CN" altLang="en-US" sz="1500">
                <a:solidFill>
                  <a:srgbClr val="1B3355"/>
                </a:solidFill>
                <a:latin typeface="Microsoft YaHei" panose="020B0503020204020204" pitchFamily="34" charset="-122"/>
              </a:rPr>
              <a:t>、</a:t>
            </a:r>
            <a:r>
              <a:rPr lang="en-US" altLang="zh-CN" sz="1500">
                <a:solidFill>
                  <a:srgbClr val="1B3355"/>
                </a:solidFill>
                <a:latin typeface="Microsoft YaHei" panose="020B0503020204020204" pitchFamily="34" charset="-122"/>
              </a:rPr>
              <a:t>energy_risk</a:t>
            </a:r>
            <a:r>
              <a:rPr lang="zh-CN" altLang="en-US" sz="1500">
                <a:solidFill>
                  <a:srgbClr val="1B3355"/>
                </a:solidFill>
                <a:latin typeface="Microsoft YaHei" panose="020B0503020204020204" pitchFamily="34" charset="-122"/>
              </a:rPr>
              <a:t>、</a:t>
            </a:r>
            <a:r>
              <a:rPr lang="en-US" altLang="zh-CN" sz="1500">
                <a:solidFill>
                  <a:srgbClr val="1B3355"/>
                </a:solidFill>
                <a:latin typeface="Microsoft YaHei" panose="020B0503020204020204" pitchFamily="34" charset="-122"/>
              </a:rPr>
              <a:t>urgency</a:t>
            </a:r>
            <a:r>
              <a:rPr lang="zh-CN" altLang="en-US" sz="1500">
                <a:solidFill>
                  <a:srgbClr val="1B3355"/>
                </a:solidFill>
                <a:latin typeface="Microsoft YaHei" panose="020B0503020204020204" pitchFamily="34" charset="-122"/>
              </a:rPr>
              <a:t>、</a:t>
            </a:r>
            <a:r>
              <a:rPr lang="en-US" altLang="zh-CN" sz="1500">
                <a:solidFill>
                  <a:srgbClr val="1B3355"/>
                </a:solidFill>
                <a:latin typeface="Microsoft YaHei" panose="020B0503020204020204" pitchFamily="34" charset="-122"/>
              </a:rPr>
              <a:t>comm_risk</a:t>
            </a:r>
            <a:r>
              <a:rPr lang="zh-CN" altLang="en-US" sz="1500">
                <a:solidFill>
                  <a:srgbClr val="1B3355"/>
                </a:solidFill>
                <a:latin typeface="Microsoft YaHei" panose="020B0503020204020204" pitchFamily="34" charset="-122"/>
              </a:rPr>
              <a:t>等字段</a:t>
            </a:r>
          </a:p>
          <a:p>
            <a:pPr>
              <a:spcAft>
                <a:spcPts val="600"/>
              </a:spcAft>
            </a:pPr>
            <a:r>
              <a:rPr lang="en-US" altLang="zh-CN" sz="1500">
                <a:solidFill>
                  <a:srgbClr val="1B3355"/>
                </a:solidFill>
                <a:latin typeface="Microsoft YaHei" panose="020B0503020204020204" pitchFamily="34" charset="-122"/>
              </a:rPr>
              <a:t>• </a:t>
            </a:r>
            <a:r>
              <a:rPr lang="zh-CN" altLang="en-US" sz="1500">
                <a:solidFill>
                  <a:srgbClr val="1B3355"/>
                </a:solidFill>
                <a:latin typeface="Microsoft YaHei" panose="020B0503020204020204" pitchFamily="34" charset="-122"/>
              </a:rPr>
              <a:t>自动推断</a:t>
            </a:r>
            <a:r>
              <a:rPr lang="en-US" altLang="zh-CN" sz="1500">
                <a:solidFill>
                  <a:srgbClr val="1B3355"/>
                </a:solidFill>
                <a:latin typeface="Microsoft YaHei" panose="020B0503020204020204" pitchFamily="34" charset="-122"/>
              </a:rPr>
              <a:t>low_energy</a:t>
            </a:r>
            <a:r>
              <a:rPr lang="zh-CN" altLang="en-US" sz="1500">
                <a:solidFill>
                  <a:srgbClr val="1B3355"/>
                </a:solidFill>
                <a:latin typeface="Microsoft YaHei" panose="020B0503020204020204" pitchFamily="34" charset="-122"/>
              </a:rPr>
              <a:t>、</a:t>
            </a:r>
            <a:r>
              <a:rPr lang="en-US" altLang="zh-CN" sz="1500">
                <a:solidFill>
                  <a:srgbClr val="1B3355"/>
                </a:solidFill>
                <a:latin typeface="Microsoft YaHei" panose="020B0503020204020204" pitchFamily="34" charset="-122"/>
              </a:rPr>
              <a:t>high_load</a:t>
            </a:r>
            <a:r>
              <a:rPr lang="zh-CN" altLang="en-US" sz="1500">
                <a:solidFill>
                  <a:srgbClr val="1B3355"/>
                </a:solidFill>
                <a:latin typeface="Microsoft YaHei" panose="020B0503020204020204" pitchFamily="34" charset="-122"/>
              </a:rPr>
              <a:t>、</a:t>
            </a:r>
            <a:r>
              <a:rPr lang="en-US" altLang="zh-CN" sz="1500">
                <a:solidFill>
                  <a:srgbClr val="1B3355"/>
                </a:solidFill>
                <a:latin typeface="Microsoft YaHei" panose="020B0503020204020204" pitchFamily="34" charset="-122"/>
              </a:rPr>
              <a:t>emergency</a:t>
            </a:r>
            <a:r>
              <a:rPr lang="zh-CN" altLang="en-US" sz="1500">
                <a:solidFill>
                  <a:srgbClr val="1B3355"/>
                </a:solidFill>
                <a:latin typeface="Microsoft YaHei" panose="020B0503020204020204" pitchFamily="34" charset="-122"/>
              </a:rPr>
              <a:t>、</a:t>
            </a:r>
            <a:r>
              <a:rPr lang="en-US" altLang="zh-CN" sz="1500">
                <a:solidFill>
                  <a:srgbClr val="1B3355"/>
                </a:solidFill>
                <a:latin typeface="Microsoft YaHei" panose="020B0503020204020204" pitchFamily="34" charset="-122"/>
              </a:rPr>
              <a:t>high_latency</a:t>
            </a:r>
            <a:r>
              <a:rPr lang="zh-CN" altLang="en-US" sz="1500">
                <a:solidFill>
                  <a:srgbClr val="1B3355"/>
                </a:solidFill>
                <a:latin typeface="Microsoft YaHei" panose="020B0503020204020204" pitchFamily="34" charset="-122"/>
              </a:rPr>
              <a:t>等场景得分</a:t>
            </a:r>
          </a:p>
          <a:p>
            <a:pPr>
              <a:spcAft>
                <a:spcPts val="600"/>
              </a:spcAft>
            </a:pPr>
            <a:r>
              <a:rPr lang="en-US" altLang="zh-CN" sz="1500">
                <a:solidFill>
                  <a:srgbClr val="1B3355"/>
                </a:solidFill>
                <a:latin typeface="Microsoft YaHei" panose="020B0503020204020204" pitchFamily="34" charset="-122"/>
              </a:rPr>
              <a:t>• </a:t>
            </a:r>
            <a:r>
              <a:rPr lang="zh-CN" altLang="en-US" sz="1500">
                <a:solidFill>
                  <a:srgbClr val="1B3355"/>
                </a:solidFill>
                <a:latin typeface="Microsoft YaHei" panose="020B0503020204020204" pitchFamily="34" charset="-122"/>
              </a:rPr>
              <a:t>为论文奖励函数公式化与场景分析提供数据基础</a:t>
            </a:r>
          </a:p>
        </p:txBody>
      </p:sp>
    </p:spTree>
  </p:cSld>
  <p:clrMapOvr>
    <a:masterClrMapping/>
  </p:clrMapOvr>
  <mc:AlternateContent xmlns:mc="http://schemas.openxmlformats.org/markup-compatibility/2006" xmlns:p14="http://schemas.microsoft.com/office/powerpoint/2010/main">
    <mc:Choice Requires="p14">
      <p:transition spd="slow" p14:dur="1500" advTm="25283"/>
    </mc:Choice>
    <mc:Fallback xmlns="">
      <p:transition spd="slow" advTm="2528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D9368-6F7A-FDDE-1193-A80156ED169D}"/>
            </a:ext>
          </a:extLst>
        </p:cNvPr>
        <p:cNvGrpSpPr/>
        <p:nvPr/>
      </p:nvGrpSpPr>
      <p:grpSpPr>
        <a:xfrm>
          <a:off x="0" y="0"/>
          <a:ext cx="0" cy="0"/>
          <a:chOff x="0" y="0"/>
          <a:chExt cx="0" cy="0"/>
        </a:xfrm>
      </p:grpSpPr>
      <p:sp>
        <p:nvSpPr>
          <p:cNvPr id="49" name="文本框 48">
            <a:extLst>
              <a:ext uri="{FF2B5EF4-FFF2-40B4-BE49-F238E27FC236}">
                <a16:creationId xmlns:a16="http://schemas.microsoft.com/office/drawing/2014/main" id="{2F193BC2-16CA-4860-B091-C19C3983556C}"/>
              </a:ext>
            </a:extLst>
          </p:cNvPr>
          <p:cNvSpPr txBox="1"/>
          <p:nvPr/>
        </p:nvSpPr>
        <p:spPr>
          <a:xfrm>
            <a:off x="533400" y="304800"/>
            <a:ext cx="9906000" cy="456535"/>
          </a:xfrm>
          <a:prstGeom prst="rect">
            <a:avLst/>
          </a:prstGeom>
          <a:noFill/>
        </p:spPr>
        <p:txBody>
          <a:bodyPr vert="horz" lIns="76200" tIns="50800" rIns="76200" bIns="50800" rtlCol="0">
            <a:spAutoFit/>
          </a:bodyPr>
          <a:lstStyle/>
          <a:p>
            <a:r>
              <a:rPr lang="zh-CN" altLang="en-US" sz="2300" b="1">
                <a:solidFill>
                  <a:srgbClr val="1B3355"/>
                </a:solidFill>
                <a:latin typeface="Microsoft YaHei" panose="020B0503020204020204" pitchFamily="34" charset="-122"/>
              </a:rPr>
              <a:t>实验流程与轻量系统验证：形成闭环证据链</a:t>
            </a:r>
          </a:p>
        </p:txBody>
      </p:sp>
      <p:sp>
        <p:nvSpPr>
          <p:cNvPr id="50" name="文本框 49">
            <a:extLst>
              <a:ext uri="{FF2B5EF4-FFF2-40B4-BE49-F238E27FC236}">
                <a16:creationId xmlns:a16="http://schemas.microsoft.com/office/drawing/2014/main" id="{67DED125-1A1C-4410-AD60-F85578CD88D4}"/>
              </a:ext>
            </a:extLst>
          </p:cNvPr>
          <p:cNvSpPr txBox="1"/>
          <p:nvPr/>
        </p:nvSpPr>
        <p:spPr>
          <a:xfrm>
            <a:off x="10058400" y="381000"/>
            <a:ext cx="1397000" cy="256480"/>
          </a:xfrm>
          <a:prstGeom prst="rect">
            <a:avLst/>
          </a:prstGeom>
          <a:noFill/>
        </p:spPr>
        <p:txBody>
          <a:bodyPr vert="horz" lIns="76200" tIns="50800" rIns="76200" bIns="50800" rtlCol="0">
            <a:spAutoFit/>
          </a:bodyPr>
          <a:lstStyle/>
          <a:p>
            <a:pPr algn="r"/>
            <a:r>
              <a:rPr lang="en-US" altLang="zh-CN" sz="1000" b="1">
                <a:solidFill>
                  <a:srgbClr val="2A8FA0"/>
                </a:solidFill>
                <a:latin typeface="Microsoft YaHei" panose="020B0503020204020204" pitchFamily="34" charset="-122"/>
              </a:rPr>
              <a:t>2 / 5</a:t>
            </a:r>
            <a:endParaRPr lang="zh-CN" altLang="en-US" sz="1000" b="1">
              <a:solidFill>
                <a:srgbClr val="2A8FA0"/>
              </a:solidFill>
              <a:latin typeface="Microsoft YaHei" panose="020B0503020204020204" pitchFamily="34" charset="-122"/>
            </a:endParaRPr>
          </a:p>
        </p:txBody>
      </p:sp>
      <p:sp>
        <p:nvSpPr>
          <p:cNvPr id="51" name="矩形 50">
            <a:extLst>
              <a:ext uri="{FF2B5EF4-FFF2-40B4-BE49-F238E27FC236}">
                <a16:creationId xmlns:a16="http://schemas.microsoft.com/office/drawing/2014/main" id="{07DFE515-FBED-4FE1-A818-022CC648456D}"/>
              </a:ext>
            </a:extLst>
          </p:cNvPr>
          <p:cNvSpPr/>
          <p:nvPr/>
        </p:nvSpPr>
        <p:spPr>
          <a:xfrm>
            <a:off x="609600" y="914400"/>
            <a:ext cx="1524000" cy="50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9AC5E6A0-38C4-4D29-B169-92627EB98AB7}"/>
              </a:ext>
            </a:extLst>
          </p:cNvPr>
          <p:cNvSpPr txBox="1"/>
          <p:nvPr/>
        </p:nvSpPr>
        <p:spPr>
          <a:xfrm>
            <a:off x="11455400" y="6350000"/>
            <a:ext cx="381000" cy="256480"/>
          </a:xfrm>
          <a:prstGeom prst="rect">
            <a:avLst/>
          </a:prstGeom>
          <a:noFill/>
        </p:spPr>
        <p:txBody>
          <a:bodyPr vert="horz" lIns="76200" tIns="50800" rIns="76200" bIns="50800" rtlCol="0">
            <a:spAutoFit/>
          </a:bodyPr>
          <a:lstStyle/>
          <a:p>
            <a:pPr algn="r"/>
            <a:r>
              <a:rPr lang="en-US" altLang="zh-CN" sz="1000">
                <a:solidFill>
                  <a:srgbClr val="5F6F82"/>
                </a:solidFill>
                <a:latin typeface="Microsoft YaHei" panose="020B0503020204020204" pitchFamily="34" charset="-122"/>
              </a:rPr>
              <a:t>09</a:t>
            </a:r>
            <a:endParaRPr lang="zh-CN" altLang="en-US" sz="1000">
              <a:solidFill>
                <a:srgbClr val="5F6F82"/>
              </a:solidFill>
              <a:latin typeface="Microsoft YaHei" panose="020B0503020204020204" pitchFamily="34" charset="-122"/>
            </a:endParaRPr>
          </a:p>
        </p:txBody>
      </p:sp>
      <p:sp>
        <p:nvSpPr>
          <p:cNvPr id="53" name="矩形: 圆角 52">
            <a:extLst>
              <a:ext uri="{FF2B5EF4-FFF2-40B4-BE49-F238E27FC236}">
                <a16:creationId xmlns:a16="http://schemas.microsoft.com/office/drawing/2014/main" id="{00E370B8-4F8E-487C-B807-D0BD4AD1D240}"/>
              </a:ext>
            </a:extLst>
          </p:cNvPr>
          <p:cNvSpPr/>
          <p:nvPr/>
        </p:nvSpPr>
        <p:spPr>
          <a:xfrm>
            <a:off x="889000" y="1422400"/>
            <a:ext cx="2921000" cy="2984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a:extLst>
              <a:ext uri="{FF2B5EF4-FFF2-40B4-BE49-F238E27FC236}">
                <a16:creationId xmlns:a16="http://schemas.microsoft.com/office/drawing/2014/main" id="{59871EEF-2223-4D98-962E-6DC28D918DAD}"/>
              </a:ext>
            </a:extLst>
          </p:cNvPr>
          <p:cNvSpPr/>
          <p:nvPr/>
        </p:nvSpPr>
        <p:spPr>
          <a:xfrm>
            <a:off x="889000" y="1524000"/>
            <a:ext cx="63500" cy="27813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67F53A55-815A-4C34-B36D-ECA97649050A}"/>
              </a:ext>
            </a:extLst>
          </p:cNvPr>
          <p:cNvSpPr txBox="1"/>
          <p:nvPr/>
        </p:nvSpPr>
        <p:spPr>
          <a:xfrm>
            <a:off x="1066800" y="1549400"/>
            <a:ext cx="2616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训练与评估</a:t>
            </a:r>
          </a:p>
        </p:txBody>
      </p:sp>
      <p:sp>
        <p:nvSpPr>
          <p:cNvPr id="56" name="文本框 55">
            <a:extLst>
              <a:ext uri="{FF2B5EF4-FFF2-40B4-BE49-F238E27FC236}">
                <a16:creationId xmlns:a16="http://schemas.microsoft.com/office/drawing/2014/main" id="{E903E413-0B6B-4E4E-BE14-BCA72AA35062}"/>
              </a:ext>
            </a:extLst>
          </p:cNvPr>
          <p:cNvSpPr txBox="1"/>
          <p:nvPr/>
        </p:nvSpPr>
        <p:spPr>
          <a:xfrm>
            <a:off x="1066800" y="1955800"/>
            <a:ext cx="2641600" cy="610424"/>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训练脚本、对比脚本、绘图脚本、一键场景实验脚本已经整理，结果统一输出到</a:t>
            </a:r>
            <a:r>
              <a:rPr lang="en-US" altLang="zh-CN" sz="1100">
                <a:solidFill>
                  <a:srgbClr val="5F6F82"/>
                </a:solidFill>
                <a:latin typeface="Microsoft YaHei" panose="020B0503020204020204" pitchFamily="34" charset="-122"/>
              </a:rPr>
              <a:t>outputs</a:t>
            </a:r>
            <a:r>
              <a:rPr lang="zh-CN" altLang="en-US" sz="1100">
                <a:solidFill>
                  <a:srgbClr val="5F6F82"/>
                </a:solidFill>
                <a:latin typeface="Microsoft YaHei" panose="020B0503020204020204" pitchFamily="34" charset="-122"/>
              </a:rPr>
              <a:t>目录。</a:t>
            </a:r>
          </a:p>
        </p:txBody>
      </p:sp>
      <p:sp>
        <p:nvSpPr>
          <p:cNvPr id="57" name="矩形: 圆角 56">
            <a:extLst>
              <a:ext uri="{FF2B5EF4-FFF2-40B4-BE49-F238E27FC236}">
                <a16:creationId xmlns:a16="http://schemas.microsoft.com/office/drawing/2014/main" id="{34E3C37D-902E-4DB9-AE59-F784975DB878}"/>
              </a:ext>
            </a:extLst>
          </p:cNvPr>
          <p:cNvSpPr/>
          <p:nvPr/>
        </p:nvSpPr>
        <p:spPr>
          <a:xfrm>
            <a:off x="4635500" y="1422400"/>
            <a:ext cx="2921000" cy="2984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AE19413B-BBA0-411A-9037-95B84A3362A1}"/>
              </a:ext>
            </a:extLst>
          </p:cNvPr>
          <p:cNvSpPr/>
          <p:nvPr/>
        </p:nvSpPr>
        <p:spPr>
          <a:xfrm>
            <a:off x="4635500" y="1524000"/>
            <a:ext cx="63500" cy="2781300"/>
          </a:xfrm>
          <a:prstGeom prst="rect">
            <a:avLst/>
          </a:prstGeom>
          <a:solidFill>
            <a:srgbClr val="DDAA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a:extLst>
              <a:ext uri="{FF2B5EF4-FFF2-40B4-BE49-F238E27FC236}">
                <a16:creationId xmlns:a16="http://schemas.microsoft.com/office/drawing/2014/main" id="{A54F893F-1A3C-4815-979E-5AE0F3E0D055}"/>
              </a:ext>
            </a:extLst>
          </p:cNvPr>
          <p:cNvSpPr txBox="1"/>
          <p:nvPr/>
        </p:nvSpPr>
        <p:spPr>
          <a:xfrm>
            <a:off x="4813300" y="1549400"/>
            <a:ext cx="2616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结果管理</a:t>
            </a:r>
          </a:p>
        </p:txBody>
      </p:sp>
      <p:sp>
        <p:nvSpPr>
          <p:cNvPr id="60" name="文本框 59">
            <a:extLst>
              <a:ext uri="{FF2B5EF4-FFF2-40B4-BE49-F238E27FC236}">
                <a16:creationId xmlns:a16="http://schemas.microsoft.com/office/drawing/2014/main" id="{739AC138-B9AD-4C05-B8CF-0E09F76503E5}"/>
              </a:ext>
            </a:extLst>
          </p:cNvPr>
          <p:cNvSpPr txBox="1"/>
          <p:nvPr/>
        </p:nvSpPr>
        <p:spPr>
          <a:xfrm>
            <a:off x="4813300" y="1955800"/>
            <a:ext cx="2641600" cy="441146"/>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保存多</a:t>
            </a:r>
            <a:r>
              <a:rPr lang="en-US" altLang="zh-CN" sz="1100">
                <a:solidFill>
                  <a:srgbClr val="5F6F82"/>
                </a:solidFill>
                <a:latin typeface="Microsoft YaHei" panose="020B0503020204020204" pitchFamily="34" charset="-122"/>
              </a:rPr>
              <a:t>seed</a:t>
            </a:r>
            <a:r>
              <a:rPr lang="zh-CN" altLang="en-US" sz="1100">
                <a:solidFill>
                  <a:srgbClr val="5F6F82"/>
                </a:solidFill>
                <a:latin typeface="Microsoft YaHei" panose="020B0503020204020204" pitchFamily="34" charset="-122"/>
              </a:rPr>
              <a:t>评估</a:t>
            </a:r>
            <a:r>
              <a:rPr lang="en-US" altLang="zh-CN" sz="1100">
                <a:solidFill>
                  <a:srgbClr val="5F6F82"/>
                </a:solidFill>
                <a:latin typeface="Microsoft YaHei" panose="020B0503020204020204" pitchFamily="34" charset="-122"/>
              </a:rPr>
              <a:t>CSV</a:t>
            </a:r>
            <a:r>
              <a:rPr lang="zh-CN" altLang="en-US" sz="1100">
                <a:solidFill>
                  <a:srgbClr val="5F6F82"/>
                </a:solidFill>
                <a:latin typeface="Microsoft YaHei" panose="020B0503020204020204" pitchFamily="34" charset="-122"/>
              </a:rPr>
              <a:t>、</a:t>
            </a:r>
            <a:r>
              <a:rPr lang="en-US" altLang="zh-CN" sz="1100">
                <a:solidFill>
                  <a:srgbClr val="5F6F82"/>
                </a:solidFill>
                <a:latin typeface="Microsoft YaHei" panose="020B0503020204020204" pitchFamily="34" charset="-122"/>
              </a:rPr>
              <a:t>per-seed</a:t>
            </a:r>
            <a:r>
              <a:rPr lang="zh-CN" altLang="en-US" sz="1100">
                <a:solidFill>
                  <a:srgbClr val="5F6F82"/>
                </a:solidFill>
                <a:latin typeface="Microsoft YaHei" panose="020B0503020204020204" pitchFamily="34" charset="-122"/>
              </a:rPr>
              <a:t>明细、图表、轻量验证</a:t>
            </a:r>
            <a:r>
              <a:rPr lang="en-US" altLang="zh-CN" sz="1100">
                <a:solidFill>
                  <a:srgbClr val="5F6F82"/>
                </a:solidFill>
                <a:latin typeface="Microsoft YaHei" panose="020B0503020204020204" pitchFamily="34" charset="-122"/>
              </a:rPr>
              <a:t>summary</a:t>
            </a:r>
            <a:r>
              <a:rPr lang="zh-CN" altLang="en-US" sz="1100">
                <a:solidFill>
                  <a:srgbClr val="5F6F82"/>
                </a:solidFill>
                <a:latin typeface="Microsoft YaHei" panose="020B0503020204020204" pitchFamily="34" charset="-122"/>
              </a:rPr>
              <a:t>与事件级日志。</a:t>
            </a:r>
          </a:p>
        </p:txBody>
      </p:sp>
      <p:sp>
        <p:nvSpPr>
          <p:cNvPr id="61" name="矩形: 圆角 60">
            <a:extLst>
              <a:ext uri="{FF2B5EF4-FFF2-40B4-BE49-F238E27FC236}">
                <a16:creationId xmlns:a16="http://schemas.microsoft.com/office/drawing/2014/main" id="{BD81C306-D907-422F-BDD9-D2865AA9E4FE}"/>
              </a:ext>
            </a:extLst>
          </p:cNvPr>
          <p:cNvSpPr/>
          <p:nvPr/>
        </p:nvSpPr>
        <p:spPr>
          <a:xfrm>
            <a:off x="8382000" y="1422400"/>
            <a:ext cx="2921000" cy="2984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D9DBDF20-2DC2-497A-B40A-DA3F7227EF72}"/>
              </a:ext>
            </a:extLst>
          </p:cNvPr>
          <p:cNvSpPr/>
          <p:nvPr/>
        </p:nvSpPr>
        <p:spPr>
          <a:xfrm>
            <a:off x="8382000" y="1524000"/>
            <a:ext cx="63500" cy="2781300"/>
          </a:xfrm>
          <a:prstGeom prst="rect">
            <a:avLst/>
          </a:prstGeom>
          <a:solidFill>
            <a:srgbClr val="53A05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9B85B212-1CFF-48AD-8A20-9A84CCD91A50}"/>
              </a:ext>
            </a:extLst>
          </p:cNvPr>
          <p:cNvSpPr txBox="1"/>
          <p:nvPr/>
        </p:nvSpPr>
        <p:spPr>
          <a:xfrm>
            <a:off x="8559800" y="1549400"/>
            <a:ext cx="2616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系统闭环</a:t>
            </a:r>
          </a:p>
        </p:txBody>
      </p:sp>
      <p:sp>
        <p:nvSpPr>
          <p:cNvPr id="64" name="文本框 63">
            <a:extLst>
              <a:ext uri="{FF2B5EF4-FFF2-40B4-BE49-F238E27FC236}">
                <a16:creationId xmlns:a16="http://schemas.microsoft.com/office/drawing/2014/main" id="{B1F8C87B-6234-4380-B718-2DD195EEEDB1}"/>
              </a:ext>
            </a:extLst>
          </p:cNvPr>
          <p:cNvSpPr txBox="1"/>
          <p:nvPr/>
        </p:nvSpPr>
        <p:spPr>
          <a:xfrm>
            <a:off x="8559800" y="1955800"/>
            <a:ext cx="2641600" cy="441146"/>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任务持续产生</a:t>
            </a:r>
            <a:r>
              <a:rPr lang="en-US" altLang="zh-CN" sz="1100">
                <a:solidFill>
                  <a:srgbClr val="5F6F82"/>
                </a:solidFill>
                <a:latin typeface="Microsoft YaHei" panose="020B0503020204020204" pitchFamily="34" charset="-122"/>
              </a:rPr>
              <a:t>—</a:t>
            </a:r>
            <a:r>
              <a:rPr lang="zh-CN" altLang="en-US" sz="1100">
                <a:solidFill>
                  <a:srgbClr val="5F6F82"/>
                </a:solidFill>
                <a:latin typeface="Microsoft YaHei" panose="020B0503020204020204" pitchFamily="34" charset="-122"/>
              </a:rPr>
              <a:t>中央调度器决策</a:t>
            </a:r>
            <a:r>
              <a:rPr lang="en-US" altLang="zh-CN" sz="1100">
                <a:solidFill>
                  <a:srgbClr val="5F6F82"/>
                </a:solidFill>
                <a:latin typeface="Microsoft YaHei" panose="020B0503020204020204" pitchFamily="34" charset="-122"/>
              </a:rPr>
              <a:t>—</a:t>
            </a:r>
            <a:r>
              <a:rPr lang="zh-CN" altLang="en-US" sz="1100">
                <a:solidFill>
                  <a:srgbClr val="5F6F82"/>
                </a:solidFill>
                <a:latin typeface="Microsoft YaHei" panose="020B0503020204020204" pitchFamily="34" charset="-122"/>
              </a:rPr>
              <a:t>计算节点执行</a:t>
            </a:r>
            <a:r>
              <a:rPr lang="en-US" altLang="zh-CN" sz="1100">
                <a:solidFill>
                  <a:srgbClr val="5F6F82"/>
                </a:solidFill>
                <a:latin typeface="Microsoft YaHei" panose="020B0503020204020204" pitchFamily="34" charset="-122"/>
              </a:rPr>
              <a:t>—</a:t>
            </a:r>
            <a:r>
              <a:rPr lang="zh-CN" altLang="en-US" sz="1100">
                <a:solidFill>
                  <a:srgbClr val="5F6F82"/>
                </a:solidFill>
                <a:latin typeface="Microsoft YaHei" panose="020B0503020204020204" pitchFamily="34" charset="-122"/>
              </a:rPr>
              <a:t>机器人电量变化与充电恢复。</a:t>
            </a:r>
          </a:p>
        </p:txBody>
      </p:sp>
      <p:sp>
        <p:nvSpPr>
          <p:cNvPr id="65" name="文本框 64">
            <a:extLst>
              <a:ext uri="{FF2B5EF4-FFF2-40B4-BE49-F238E27FC236}">
                <a16:creationId xmlns:a16="http://schemas.microsoft.com/office/drawing/2014/main" id="{95A54B8C-76D7-422C-8F22-A218A92171C9}"/>
              </a:ext>
            </a:extLst>
          </p:cNvPr>
          <p:cNvSpPr txBox="1"/>
          <p:nvPr/>
        </p:nvSpPr>
        <p:spPr>
          <a:xfrm>
            <a:off x="1016000" y="5016500"/>
            <a:ext cx="9652000" cy="595035"/>
          </a:xfrm>
          <a:prstGeom prst="rect">
            <a:avLst/>
          </a:prstGeom>
          <a:noFill/>
        </p:spPr>
        <p:txBody>
          <a:bodyPr vert="horz" lIns="76200" tIns="50800" rIns="76200" bIns="50800" rtlCol="0">
            <a:spAutoFit/>
          </a:bodyPr>
          <a:lstStyle/>
          <a:p>
            <a:pPr algn="ctr"/>
            <a:r>
              <a:rPr lang="zh-CN" altLang="en-US" sz="1600" b="1">
                <a:solidFill>
                  <a:srgbClr val="1B3355"/>
                </a:solidFill>
                <a:latin typeface="Microsoft YaHei" panose="020B0503020204020204" pitchFamily="34" charset="-122"/>
              </a:rPr>
              <a:t>当前轻量验证不依赖</a:t>
            </a:r>
            <a:r>
              <a:rPr lang="en-US" altLang="zh-CN" sz="1600" b="1">
                <a:solidFill>
                  <a:srgbClr val="1B3355"/>
                </a:solidFill>
                <a:latin typeface="Microsoft YaHei" panose="020B0503020204020204" pitchFamily="34" charset="-122"/>
              </a:rPr>
              <a:t>Gazebo/ROS2</a:t>
            </a:r>
            <a:r>
              <a:rPr lang="zh-CN" altLang="en-US" sz="1600" b="1">
                <a:solidFill>
                  <a:srgbClr val="1B3355"/>
                </a:solidFill>
                <a:latin typeface="Microsoft YaHei" panose="020B0503020204020204" pitchFamily="34" charset="-122"/>
              </a:rPr>
              <a:t>，主要用于快速确认算法调度闭环；下一阶段将增强真实机器人仿真对接。</a:t>
            </a:r>
          </a:p>
        </p:txBody>
      </p:sp>
    </p:spTree>
    <p:extLst>
      <p:ext uri="{BB962C8B-B14F-4D97-AF65-F5344CB8AC3E}">
        <p14:creationId xmlns:p14="http://schemas.microsoft.com/office/powerpoint/2010/main" val="14510936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C0034599-5EBE-4E4E-8A14-05782E58A358}"/>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6710A135-A0BE-41CA-991E-D9BECC792ADF}"/>
              </a:ext>
            </a:extLst>
          </p:cNvPr>
          <p:cNvSpPr/>
          <p:nvPr/>
        </p:nvSpPr>
        <p:spPr>
          <a:xfrm>
            <a:off x="0" y="0"/>
            <a:ext cx="4389120" cy="6858000"/>
          </a:xfrm>
          <a:prstGeom prst="rect">
            <a:avLst/>
          </a:prstGeom>
          <a:solidFill>
            <a:srgbClr val="1B335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4ECD8692-DD72-4DA7-9ED5-2241131E9D72}"/>
              </a:ext>
            </a:extLst>
          </p:cNvPr>
          <p:cNvSpPr txBox="1"/>
          <p:nvPr/>
        </p:nvSpPr>
        <p:spPr>
          <a:xfrm>
            <a:off x="711200" y="812800"/>
            <a:ext cx="3048000" cy="528350"/>
          </a:xfrm>
          <a:prstGeom prst="rect">
            <a:avLst/>
          </a:prstGeom>
          <a:noFill/>
        </p:spPr>
        <p:txBody>
          <a:bodyPr vert="horz" lIns="76200" tIns="50800" rIns="76200" bIns="50800" rtlCol="0">
            <a:spAutoFit/>
          </a:bodyPr>
          <a:lstStyle/>
          <a:p>
            <a:r>
              <a:rPr lang="en-US" altLang="zh-CN" sz="2800" b="1">
                <a:solidFill>
                  <a:srgbClr val="FFFFFF"/>
                </a:solidFill>
                <a:latin typeface="Microsoft YaHei" panose="020B0503020204020204" pitchFamily="34" charset="-122"/>
              </a:rPr>
              <a:t>CONTENTS</a:t>
            </a:r>
            <a:endParaRPr lang="zh-CN" altLang="en-US" sz="2800" b="1">
              <a:solidFill>
                <a:srgbClr val="FFFFFF"/>
              </a:solidFill>
              <a:latin typeface="Microsoft YaHei" panose="020B0503020204020204" pitchFamily="34" charset="-122"/>
            </a:endParaRPr>
          </a:p>
        </p:txBody>
      </p:sp>
      <p:sp>
        <p:nvSpPr>
          <p:cNvPr id="26" name="文本框 25">
            <a:extLst>
              <a:ext uri="{FF2B5EF4-FFF2-40B4-BE49-F238E27FC236}">
                <a16:creationId xmlns:a16="http://schemas.microsoft.com/office/drawing/2014/main" id="{78051891-083E-4752-9BE9-071E2AE59E80}"/>
              </a:ext>
            </a:extLst>
          </p:cNvPr>
          <p:cNvSpPr txBox="1"/>
          <p:nvPr/>
        </p:nvSpPr>
        <p:spPr>
          <a:xfrm>
            <a:off x="736600" y="1397000"/>
            <a:ext cx="2667000" cy="287258"/>
          </a:xfrm>
          <a:prstGeom prst="rect">
            <a:avLst/>
          </a:prstGeom>
          <a:noFill/>
        </p:spPr>
        <p:txBody>
          <a:bodyPr vert="horz" lIns="76200" tIns="50800" rIns="76200" bIns="50800" rtlCol="0">
            <a:spAutoFit/>
          </a:bodyPr>
          <a:lstStyle/>
          <a:p>
            <a:r>
              <a:rPr lang="en-US" altLang="zh-CN" sz="1200" b="1">
                <a:solidFill>
                  <a:srgbClr val="DDAA48"/>
                </a:solidFill>
                <a:latin typeface="Microsoft YaHei" panose="020B0503020204020204" pitchFamily="34" charset="-122"/>
              </a:rPr>
              <a:t>THIRD</a:t>
            </a:r>
            <a:endParaRPr lang="zh-CN" altLang="en-US" sz="1200" b="1">
              <a:solidFill>
                <a:srgbClr val="DDAA48"/>
              </a:solidFill>
              <a:latin typeface="Microsoft YaHei" panose="020B0503020204020204" pitchFamily="34" charset="-122"/>
            </a:endParaRPr>
          </a:p>
        </p:txBody>
      </p:sp>
      <p:sp>
        <p:nvSpPr>
          <p:cNvPr id="27" name="文本框 26">
            <a:extLst>
              <a:ext uri="{FF2B5EF4-FFF2-40B4-BE49-F238E27FC236}">
                <a16:creationId xmlns:a16="http://schemas.microsoft.com/office/drawing/2014/main" id="{A71C6FEA-FD23-4D49-B019-AC6DDA42F3C4}"/>
              </a:ext>
            </a:extLst>
          </p:cNvPr>
          <p:cNvSpPr txBox="1"/>
          <p:nvPr/>
        </p:nvSpPr>
        <p:spPr>
          <a:xfrm>
            <a:off x="5024120" y="1270000"/>
            <a:ext cx="1143000" cy="933589"/>
          </a:xfrm>
          <a:prstGeom prst="rect">
            <a:avLst/>
          </a:prstGeom>
          <a:noFill/>
        </p:spPr>
        <p:txBody>
          <a:bodyPr vert="horz" lIns="76200" tIns="50800" rIns="76200" bIns="50800" rtlCol="0">
            <a:spAutoFit/>
          </a:bodyPr>
          <a:lstStyle/>
          <a:p>
            <a:r>
              <a:rPr lang="en-US" altLang="zh-CN" sz="5400" b="1">
                <a:solidFill>
                  <a:srgbClr val="2A8FA0"/>
                </a:solidFill>
                <a:latin typeface="Microsoft YaHei" panose="020B0503020204020204" pitchFamily="34" charset="-122"/>
              </a:rPr>
              <a:t>3</a:t>
            </a:r>
            <a:endParaRPr lang="zh-CN" altLang="en-US" sz="5400" b="1">
              <a:solidFill>
                <a:srgbClr val="2A8FA0"/>
              </a:solidFill>
              <a:latin typeface="Microsoft YaHei" panose="020B0503020204020204" pitchFamily="34" charset="-122"/>
            </a:endParaRPr>
          </a:p>
        </p:txBody>
      </p:sp>
      <p:sp>
        <p:nvSpPr>
          <p:cNvPr id="32" name="文本框 31">
            <a:extLst>
              <a:ext uri="{FF2B5EF4-FFF2-40B4-BE49-F238E27FC236}">
                <a16:creationId xmlns:a16="http://schemas.microsoft.com/office/drawing/2014/main" id="{674C657C-FE1C-4A51-85DA-3C58804CC8EC}"/>
              </a:ext>
            </a:extLst>
          </p:cNvPr>
          <p:cNvSpPr txBox="1"/>
          <p:nvPr/>
        </p:nvSpPr>
        <p:spPr>
          <a:xfrm>
            <a:off x="6230620" y="1333500"/>
            <a:ext cx="5842000" cy="564257"/>
          </a:xfrm>
          <a:prstGeom prst="rect">
            <a:avLst/>
          </a:prstGeom>
          <a:noFill/>
        </p:spPr>
        <p:txBody>
          <a:bodyPr vert="horz" lIns="76200" tIns="50800" rIns="76200" bIns="50800" rtlCol="0">
            <a:spAutoFit/>
          </a:bodyPr>
          <a:lstStyle/>
          <a:p>
            <a:r>
              <a:rPr lang="zh-CN" altLang="en-US" sz="3000" b="1">
                <a:solidFill>
                  <a:srgbClr val="1B3355"/>
                </a:solidFill>
                <a:latin typeface="Microsoft YaHei" panose="020B0503020204020204" pitchFamily="34" charset="-122"/>
              </a:rPr>
              <a:t>实验结果与分析</a:t>
            </a:r>
          </a:p>
        </p:txBody>
      </p:sp>
      <p:sp>
        <p:nvSpPr>
          <p:cNvPr id="33" name="文本框 32">
            <a:extLst>
              <a:ext uri="{FF2B5EF4-FFF2-40B4-BE49-F238E27FC236}">
                <a16:creationId xmlns:a16="http://schemas.microsoft.com/office/drawing/2014/main" id="{8BA3A026-C58E-478C-8BA3-C6A08BEFD9FD}"/>
              </a:ext>
            </a:extLst>
          </p:cNvPr>
          <p:cNvSpPr txBox="1"/>
          <p:nvPr/>
        </p:nvSpPr>
        <p:spPr>
          <a:xfrm>
            <a:off x="6268720" y="1955800"/>
            <a:ext cx="5207000" cy="302647"/>
          </a:xfrm>
          <a:prstGeom prst="rect">
            <a:avLst/>
          </a:prstGeom>
          <a:noFill/>
        </p:spPr>
        <p:txBody>
          <a:bodyPr vert="horz" lIns="76200" tIns="50800" rIns="76200" bIns="50800" rtlCol="0">
            <a:spAutoFit/>
          </a:bodyPr>
          <a:lstStyle/>
          <a:p>
            <a:r>
              <a:rPr lang="en-US" altLang="zh-CN" sz="1300">
                <a:solidFill>
                  <a:srgbClr val="5F6F82"/>
                </a:solidFill>
                <a:latin typeface="Microsoft YaHei" panose="020B0503020204020204" pitchFamily="34" charset="-122"/>
              </a:rPr>
              <a:t>Experimental Results</a:t>
            </a:r>
            <a:endParaRPr lang="zh-CN" altLang="en-US" sz="1300">
              <a:solidFill>
                <a:srgbClr val="5F6F82"/>
              </a:solidFill>
              <a:latin typeface="Microsoft YaHei" panose="020B0503020204020204" pitchFamily="34" charset="-122"/>
            </a:endParaRPr>
          </a:p>
        </p:txBody>
      </p:sp>
      <p:sp>
        <p:nvSpPr>
          <p:cNvPr id="35" name="矩形 34">
            <a:extLst>
              <a:ext uri="{FF2B5EF4-FFF2-40B4-BE49-F238E27FC236}">
                <a16:creationId xmlns:a16="http://schemas.microsoft.com/office/drawing/2014/main" id="{FD454891-C9FE-43A6-8787-A777F061CEB8}"/>
              </a:ext>
            </a:extLst>
          </p:cNvPr>
          <p:cNvSpPr/>
          <p:nvPr/>
        </p:nvSpPr>
        <p:spPr>
          <a:xfrm>
            <a:off x="6294120" y="2476500"/>
            <a:ext cx="2159000" cy="635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83969"/>
    </mc:Choice>
    <mc:Fallback xmlns="">
      <p:transition spd="slow" advTm="8396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77886-91D4-4A09-6FF8-C323A700082C}"/>
            </a:ext>
          </a:extLst>
        </p:cNvPr>
        <p:cNvGrpSpPr/>
        <p:nvPr/>
      </p:nvGrpSpPr>
      <p:grpSpPr>
        <a:xfrm>
          <a:off x="0" y="0"/>
          <a:ext cx="0" cy="0"/>
          <a:chOff x="0" y="0"/>
          <a:chExt cx="0" cy="0"/>
        </a:xfrm>
      </p:grpSpPr>
      <p:sp>
        <p:nvSpPr>
          <p:cNvPr id="49" name="文本框 48">
            <a:extLst>
              <a:ext uri="{FF2B5EF4-FFF2-40B4-BE49-F238E27FC236}">
                <a16:creationId xmlns:a16="http://schemas.microsoft.com/office/drawing/2014/main" id="{911F5289-3DEE-4D0D-AA73-B89696A439E0}"/>
              </a:ext>
            </a:extLst>
          </p:cNvPr>
          <p:cNvSpPr txBox="1"/>
          <p:nvPr/>
        </p:nvSpPr>
        <p:spPr>
          <a:xfrm>
            <a:off x="533400" y="304800"/>
            <a:ext cx="9906000" cy="456535"/>
          </a:xfrm>
          <a:prstGeom prst="rect">
            <a:avLst/>
          </a:prstGeom>
          <a:noFill/>
        </p:spPr>
        <p:txBody>
          <a:bodyPr vert="horz" lIns="76200" tIns="50800" rIns="76200" bIns="50800" rtlCol="0">
            <a:spAutoFit/>
          </a:bodyPr>
          <a:lstStyle/>
          <a:p>
            <a:r>
              <a:rPr lang="zh-CN" altLang="en-US" sz="2300" b="1">
                <a:solidFill>
                  <a:srgbClr val="1B3355"/>
                </a:solidFill>
                <a:latin typeface="Microsoft YaHei" panose="020B0503020204020204" pitchFamily="34" charset="-122"/>
              </a:rPr>
              <a:t>实验设置：主配置、多</a:t>
            </a:r>
            <a:r>
              <a:rPr lang="en-US" altLang="zh-CN" sz="2300" b="1">
                <a:solidFill>
                  <a:srgbClr val="1B3355"/>
                </a:solidFill>
                <a:latin typeface="Microsoft YaHei" panose="020B0503020204020204" pitchFamily="34" charset="-122"/>
              </a:rPr>
              <a:t>seed</a:t>
            </a:r>
            <a:r>
              <a:rPr lang="zh-CN" altLang="en-US" sz="2300" b="1">
                <a:solidFill>
                  <a:srgbClr val="1B3355"/>
                </a:solidFill>
                <a:latin typeface="Microsoft YaHei" panose="020B0503020204020204" pitchFamily="34" charset="-122"/>
              </a:rPr>
              <a:t>与多指标评估</a:t>
            </a:r>
          </a:p>
        </p:txBody>
      </p:sp>
      <p:sp>
        <p:nvSpPr>
          <p:cNvPr id="50" name="文本框 49">
            <a:extLst>
              <a:ext uri="{FF2B5EF4-FFF2-40B4-BE49-F238E27FC236}">
                <a16:creationId xmlns:a16="http://schemas.microsoft.com/office/drawing/2014/main" id="{3D9A316F-A9DB-4029-B0C0-FE32ABA07EDA}"/>
              </a:ext>
            </a:extLst>
          </p:cNvPr>
          <p:cNvSpPr txBox="1"/>
          <p:nvPr/>
        </p:nvSpPr>
        <p:spPr>
          <a:xfrm>
            <a:off x="10058400" y="381000"/>
            <a:ext cx="1397000" cy="256480"/>
          </a:xfrm>
          <a:prstGeom prst="rect">
            <a:avLst/>
          </a:prstGeom>
          <a:noFill/>
        </p:spPr>
        <p:txBody>
          <a:bodyPr vert="horz" lIns="76200" tIns="50800" rIns="76200" bIns="50800" rtlCol="0">
            <a:spAutoFit/>
          </a:bodyPr>
          <a:lstStyle/>
          <a:p>
            <a:pPr algn="r"/>
            <a:r>
              <a:rPr lang="en-US" altLang="zh-CN" sz="1000" b="1">
                <a:solidFill>
                  <a:srgbClr val="2A8FA0"/>
                </a:solidFill>
                <a:latin typeface="Microsoft YaHei" panose="020B0503020204020204" pitchFamily="34" charset="-122"/>
              </a:rPr>
              <a:t>3 / 5</a:t>
            </a:r>
            <a:endParaRPr lang="zh-CN" altLang="en-US" sz="1000" b="1">
              <a:solidFill>
                <a:srgbClr val="2A8FA0"/>
              </a:solidFill>
              <a:latin typeface="Microsoft YaHei" panose="020B0503020204020204" pitchFamily="34" charset="-122"/>
            </a:endParaRPr>
          </a:p>
        </p:txBody>
      </p:sp>
      <p:sp>
        <p:nvSpPr>
          <p:cNvPr id="51" name="矩形 50">
            <a:extLst>
              <a:ext uri="{FF2B5EF4-FFF2-40B4-BE49-F238E27FC236}">
                <a16:creationId xmlns:a16="http://schemas.microsoft.com/office/drawing/2014/main" id="{24E69392-D393-48CB-B058-61B05C3AB7F5}"/>
              </a:ext>
            </a:extLst>
          </p:cNvPr>
          <p:cNvSpPr/>
          <p:nvPr/>
        </p:nvSpPr>
        <p:spPr>
          <a:xfrm>
            <a:off x="609600" y="914400"/>
            <a:ext cx="1524000" cy="50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36868B1E-D9EB-4C88-AC94-F468ABCEB591}"/>
              </a:ext>
            </a:extLst>
          </p:cNvPr>
          <p:cNvSpPr txBox="1"/>
          <p:nvPr/>
        </p:nvSpPr>
        <p:spPr>
          <a:xfrm>
            <a:off x="11455400" y="6350000"/>
            <a:ext cx="381000" cy="256480"/>
          </a:xfrm>
          <a:prstGeom prst="rect">
            <a:avLst/>
          </a:prstGeom>
          <a:noFill/>
        </p:spPr>
        <p:txBody>
          <a:bodyPr vert="horz" lIns="76200" tIns="50800" rIns="76200" bIns="50800" rtlCol="0">
            <a:spAutoFit/>
          </a:bodyPr>
          <a:lstStyle/>
          <a:p>
            <a:pPr algn="r"/>
            <a:r>
              <a:rPr lang="en-US" altLang="zh-CN" sz="1000">
                <a:solidFill>
                  <a:srgbClr val="5F6F82"/>
                </a:solidFill>
                <a:latin typeface="Microsoft YaHei" panose="020B0503020204020204" pitchFamily="34" charset="-122"/>
              </a:rPr>
              <a:t>11</a:t>
            </a:r>
            <a:endParaRPr lang="zh-CN" altLang="en-US" sz="1000">
              <a:solidFill>
                <a:srgbClr val="5F6F82"/>
              </a:solidFill>
              <a:latin typeface="Microsoft YaHei" panose="020B0503020204020204" pitchFamily="34" charset="-122"/>
            </a:endParaRPr>
          </a:p>
        </p:txBody>
      </p:sp>
      <p:sp>
        <p:nvSpPr>
          <p:cNvPr id="53" name="矩形: 圆角 52">
            <a:extLst>
              <a:ext uri="{FF2B5EF4-FFF2-40B4-BE49-F238E27FC236}">
                <a16:creationId xmlns:a16="http://schemas.microsoft.com/office/drawing/2014/main" id="{1873ADE7-00D2-4DB0-B432-D7FAFABE7185}"/>
              </a:ext>
            </a:extLst>
          </p:cNvPr>
          <p:cNvSpPr/>
          <p:nvPr/>
        </p:nvSpPr>
        <p:spPr>
          <a:xfrm>
            <a:off x="736600" y="1397000"/>
            <a:ext cx="3238500" cy="31750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a:extLst>
              <a:ext uri="{FF2B5EF4-FFF2-40B4-BE49-F238E27FC236}">
                <a16:creationId xmlns:a16="http://schemas.microsoft.com/office/drawing/2014/main" id="{7D420314-6638-4A45-B687-449A5BF681F9}"/>
              </a:ext>
            </a:extLst>
          </p:cNvPr>
          <p:cNvSpPr/>
          <p:nvPr/>
        </p:nvSpPr>
        <p:spPr>
          <a:xfrm>
            <a:off x="736600" y="1498600"/>
            <a:ext cx="63500" cy="2971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E1D4A3CC-08C8-4D0E-99D6-8EEEB40D5D16}"/>
              </a:ext>
            </a:extLst>
          </p:cNvPr>
          <p:cNvSpPr txBox="1"/>
          <p:nvPr/>
        </p:nvSpPr>
        <p:spPr>
          <a:xfrm>
            <a:off x="914400" y="1524000"/>
            <a:ext cx="29337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主配置</a:t>
            </a:r>
          </a:p>
        </p:txBody>
      </p:sp>
      <p:sp>
        <p:nvSpPr>
          <p:cNvPr id="56" name="文本框 55">
            <a:extLst>
              <a:ext uri="{FF2B5EF4-FFF2-40B4-BE49-F238E27FC236}">
                <a16:creationId xmlns:a16="http://schemas.microsoft.com/office/drawing/2014/main" id="{26C06B97-D130-44FB-A375-871371E42BAA}"/>
              </a:ext>
            </a:extLst>
          </p:cNvPr>
          <p:cNvSpPr txBox="1"/>
          <p:nvPr/>
        </p:nvSpPr>
        <p:spPr>
          <a:xfrm>
            <a:off x="914400" y="1930400"/>
            <a:ext cx="2959100" cy="779701"/>
          </a:xfrm>
          <a:prstGeom prst="rect">
            <a:avLst/>
          </a:prstGeom>
          <a:noFill/>
        </p:spPr>
        <p:txBody>
          <a:bodyPr vert="horz" lIns="76200" tIns="50800" rIns="76200" bIns="50800" rtlCol="0">
            <a:spAutoFit/>
          </a:bodyPr>
          <a:lstStyle/>
          <a:p>
            <a:r>
              <a:rPr lang="en-US" altLang="zh-CN" sz="1100">
                <a:solidFill>
                  <a:srgbClr val="5F6F82"/>
                </a:solidFill>
                <a:latin typeface="Microsoft YaHei" panose="020B0503020204020204" pitchFamily="34" charset="-122"/>
              </a:rPr>
              <a:t>20</a:t>
            </a:r>
            <a:r>
              <a:rPr lang="zh-CN" altLang="en-US" sz="1100">
                <a:solidFill>
                  <a:srgbClr val="5F6F82"/>
                </a:solidFill>
                <a:latin typeface="Microsoft YaHei" panose="020B0503020204020204" pitchFamily="34" charset="-122"/>
              </a:rPr>
              <a:t>个机器人</a:t>
            </a:r>
          </a:p>
          <a:p>
            <a:r>
              <a:rPr lang="en-US" altLang="zh-CN" sz="1100">
                <a:solidFill>
                  <a:srgbClr val="5F6F82"/>
                </a:solidFill>
                <a:latin typeface="Microsoft YaHei" panose="020B0503020204020204" pitchFamily="34" charset="-122"/>
              </a:rPr>
              <a:t>10</a:t>
            </a:r>
            <a:r>
              <a:rPr lang="zh-CN" altLang="en-US" sz="1100">
                <a:solidFill>
                  <a:srgbClr val="5F6F82"/>
                </a:solidFill>
                <a:latin typeface="Microsoft YaHei" panose="020B0503020204020204" pitchFamily="34" charset="-122"/>
              </a:rPr>
              <a:t>个异构算力节点</a:t>
            </a:r>
          </a:p>
          <a:p>
            <a:r>
              <a:rPr lang="en-US" altLang="zh-CN" sz="1100">
                <a:solidFill>
                  <a:srgbClr val="5F6F82"/>
                </a:solidFill>
                <a:latin typeface="Microsoft YaHei" panose="020B0503020204020204" pitchFamily="34" charset="-122"/>
              </a:rPr>
              <a:t>local / edge / regional / cloud</a:t>
            </a:r>
          </a:p>
          <a:p>
            <a:r>
              <a:rPr lang="en-US" altLang="zh-CN" sz="1100">
                <a:solidFill>
                  <a:srgbClr val="5F6F82"/>
                </a:solidFill>
                <a:latin typeface="Microsoft YaHei" panose="020B0503020204020204" pitchFamily="34" charset="-122"/>
              </a:rPr>
              <a:t>5</a:t>
            </a:r>
            <a:r>
              <a:rPr lang="zh-CN" altLang="en-US" sz="1100">
                <a:solidFill>
                  <a:srgbClr val="5F6F82"/>
                </a:solidFill>
                <a:latin typeface="Microsoft YaHei" panose="020B0503020204020204" pitchFamily="34" charset="-122"/>
              </a:rPr>
              <a:t>类任务类型</a:t>
            </a:r>
          </a:p>
        </p:txBody>
      </p:sp>
      <p:sp>
        <p:nvSpPr>
          <p:cNvPr id="57" name="矩形: 圆角 56">
            <a:extLst>
              <a:ext uri="{FF2B5EF4-FFF2-40B4-BE49-F238E27FC236}">
                <a16:creationId xmlns:a16="http://schemas.microsoft.com/office/drawing/2014/main" id="{EB4CF4A0-3CCB-4048-A118-BC3C81359CBD}"/>
              </a:ext>
            </a:extLst>
          </p:cNvPr>
          <p:cNvSpPr/>
          <p:nvPr/>
        </p:nvSpPr>
        <p:spPr>
          <a:xfrm>
            <a:off x="4470400" y="1397000"/>
            <a:ext cx="3238500" cy="31750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75E07A38-0A1F-4721-93FF-54D95DB08957}"/>
              </a:ext>
            </a:extLst>
          </p:cNvPr>
          <p:cNvSpPr/>
          <p:nvPr/>
        </p:nvSpPr>
        <p:spPr>
          <a:xfrm>
            <a:off x="4470400" y="1498600"/>
            <a:ext cx="63500" cy="2971800"/>
          </a:xfrm>
          <a:prstGeom prst="rect">
            <a:avLst/>
          </a:prstGeom>
          <a:solidFill>
            <a:srgbClr val="DDAA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a:extLst>
              <a:ext uri="{FF2B5EF4-FFF2-40B4-BE49-F238E27FC236}">
                <a16:creationId xmlns:a16="http://schemas.microsoft.com/office/drawing/2014/main" id="{4EC4A3C0-3BA7-4581-97A9-DC28520FF380}"/>
              </a:ext>
            </a:extLst>
          </p:cNvPr>
          <p:cNvSpPr txBox="1"/>
          <p:nvPr/>
        </p:nvSpPr>
        <p:spPr>
          <a:xfrm>
            <a:off x="4648200" y="1524000"/>
            <a:ext cx="29337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对比方法</a:t>
            </a:r>
          </a:p>
        </p:txBody>
      </p:sp>
      <p:sp>
        <p:nvSpPr>
          <p:cNvPr id="60" name="文本框 59">
            <a:extLst>
              <a:ext uri="{FF2B5EF4-FFF2-40B4-BE49-F238E27FC236}">
                <a16:creationId xmlns:a16="http://schemas.microsoft.com/office/drawing/2014/main" id="{0A0B238A-E336-4E3E-84E2-196A7E5D85F5}"/>
              </a:ext>
            </a:extLst>
          </p:cNvPr>
          <p:cNvSpPr txBox="1"/>
          <p:nvPr/>
        </p:nvSpPr>
        <p:spPr>
          <a:xfrm>
            <a:off x="4648200" y="1930400"/>
            <a:ext cx="2959100" cy="1107996"/>
          </a:xfrm>
          <a:prstGeom prst="rect">
            <a:avLst/>
          </a:prstGeom>
          <a:noFill/>
        </p:spPr>
        <p:txBody>
          <a:bodyPr vert="horz" lIns="76200" tIns="50800" rIns="76200" bIns="50800" rtlCol="0">
            <a:spAutoFit/>
          </a:bodyPr>
          <a:lstStyle/>
          <a:p>
            <a:r>
              <a:rPr lang="en-US" altLang="zh-CN" sz="1100">
                <a:solidFill>
                  <a:srgbClr val="5F6F82"/>
                </a:solidFill>
                <a:latin typeface="Microsoft YaHei" panose="020B0503020204020204" pitchFamily="34" charset="-122"/>
              </a:rPr>
              <a:t>Random-Policy</a:t>
            </a:r>
          </a:p>
          <a:p>
            <a:r>
              <a:rPr lang="en-US" altLang="zh-CN" sz="1100">
                <a:solidFill>
                  <a:srgbClr val="5F6F82"/>
                </a:solidFill>
                <a:latin typeface="Microsoft YaHei" panose="020B0503020204020204" pitchFamily="34" charset="-122"/>
              </a:rPr>
              <a:t>RoundRobin-Policy</a:t>
            </a:r>
          </a:p>
          <a:p>
            <a:r>
              <a:rPr lang="en-US" altLang="zh-CN" sz="1100">
                <a:solidFill>
                  <a:srgbClr val="5F6F82"/>
                </a:solidFill>
                <a:latin typeface="Microsoft YaHei" panose="020B0503020204020204" pitchFamily="34" charset="-122"/>
              </a:rPr>
              <a:t>GreedyCPU-Policy</a:t>
            </a:r>
          </a:p>
          <a:p>
            <a:r>
              <a:rPr lang="en-US" altLang="zh-CN" sz="1100">
                <a:solidFill>
                  <a:srgbClr val="5F6F82"/>
                </a:solidFill>
                <a:latin typeface="Microsoft YaHei" panose="020B0503020204020204" pitchFamily="34" charset="-122"/>
              </a:rPr>
              <a:t>PPO-Baseline</a:t>
            </a:r>
          </a:p>
          <a:p>
            <a:r>
              <a:rPr lang="en-US" altLang="zh-CN" sz="1100">
                <a:solidFill>
                  <a:srgbClr val="5F6F82"/>
                </a:solidFill>
                <a:latin typeface="Microsoft YaHei" panose="020B0503020204020204" pitchFamily="34" charset="-122"/>
              </a:rPr>
              <a:t>PPO-GAT-Naive</a:t>
            </a:r>
          </a:p>
          <a:p>
            <a:r>
              <a:rPr lang="en-US" altLang="zh-CN" sz="1100">
                <a:solidFill>
                  <a:srgbClr val="5F6F82"/>
                </a:solidFill>
                <a:latin typeface="Microsoft YaHei" panose="020B0503020204020204" pitchFamily="34" charset="-122"/>
              </a:rPr>
              <a:t>PPO-GAT-Scoring</a:t>
            </a:r>
            <a:endParaRPr lang="zh-CN" altLang="en-US" sz="1100">
              <a:solidFill>
                <a:srgbClr val="5F6F82"/>
              </a:solidFill>
              <a:latin typeface="Microsoft YaHei" panose="020B0503020204020204" pitchFamily="34" charset="-122"/>
            </a:endParaRPr>
          </a:p>
        </p:txBody>
      </p:sp>
      <p:sp>
        <p:nvSpPr>
          <p:cNvPr id="61" name="矩形: 圆角 60">
            <a:extLst>
              <a:ext uri="{FF2B5EF4-FFF2-40B4-BE49-F238E27FC236}">
                <a16:creationId xmlns:a16="http://schemas.microsoft.com/office/drawing/2014/main" id="{EF63B542-C5A2-476E-A75C-590742E5FF2E}"/>
              </a:ext>
            </a:extLst>
          </p:cNvPr>
          <p:cNvSpPr/>
          <p:nvPr/>
        </p:nvSpPr>
        <p:spPr>
          <a:xfrm>
            <a:off x="8204200" y="1397000"/>
            <a:ext cx="3238500" cy="31750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78E2D058-9771-4885-ABB3-F39D0568E915}"/>
              </a:ext>
            </a:extLst>
          </p:cNvPr>
          <p:cNvSpPr/>
          <p:nvPr/>
        </p:nvSpPr>
        <p:spPr>
          <a:xfrm>
            <a:off x="8204200" y="1498600"/>
            <a:ext cx="63500" cy="2971800"/>
          </a:xfrm>
          <a:prstGeom prst="rect">
            <a:avLst/>
          </a:prstGeom>
          <a:solidFill>
            <a:srgbClr val="53A05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BC2FA94A-C8ED-42A0-B787-4C0AEC0E480E}"/>
              </a:ext>
            </a:extLst>
          </p:cNvPr>
          <p:cNvSpPr txBox="1"/>
          <p:nvPr/>
        </p:nvSpPr>
        <p:spPr>
          <a:xfrm>
            <a:off x="8382000" y="1524000"/>
            <a:ext cx="29337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评价指标</a:t>
            </a:r>
          </a:p>
        </p:txBody>
      </p:sp>
      <p:sp>
        <p:nvSpPr>
          <p:cNvPr id="64" name="文本框 63">
            <a:extLst>
              <a:ext uri="{FF2B5EF4-FFF2-40B4-BE49-F238E27FC236}">
                <a16:creationId xmlns:a16="http://schemas.microsoft.com/office/drawing/2014/main" id="{25517924-FD16-466A-BD4A-26F0713C6F04}"/>
              </a:ext>
            </a:extLst>
          </p:cNvPr>
          <p:cNvSpPr txBox="1"/>
          <p:nvPr/>
        </p:nvSpPr>
        <p:spPr>
          <a:xfrm>
            <a:off x="8382000" y="1930400"/>
            <a:ext cx="2959100" cy="1277273"/>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平均奖励</a:t>
            </a:r>
          </a:p>
          <a:p>
            <a:r>
              <a:rPr lang="zh-CN" altLang="en-US" sz="1100">
                <a:solidFill>
                  <a:srgbClr val="5F6F82"/>
                </a:solidFill>
                <a:latin typeface="Microsoft YaHei" panose="020B0503020204020204" pitchFamily="34" charset="-122"/>
              </a:rPr>
              <a:t>总完成时间</a:t>
            </a:r>
          </a:p>
          <a:p>
            <a:r>
              <a:rPr lang="zh-CN" altLang="en-US" sz="1100">
                <a:solidFill>
                  <a:srgbClr val="5F6F82"/>
                </a:solidFill>
                <a:latin typeface="Microsoft YaHei" panose="020B0503020204020204" pitchFamily="34" charset="-122"/>
              </a:rPr>
              <a:t>队列延迟</a:t>
            </a:r>
          </a:p>
          <a:p>
            <a:r>
              <a:rPr lang="zh-CN" altLang="en-US" sz="1100">
                <a:solidFill>
                  <a:srgbClr val="5F6F82"/>
                </a:solidFill>
                <a:latin typeface="Microsoft YaHei" panose="020B0503020204020204" pitchFamily="34" charset="-122"/>
              </a:rPr>
              <a:t>网络时延</a:t>
            </a:r>
          </a:p>
          <a:p>
            <a:r>
              <a:rPr lang="zh-CN" altLang="en-US" sz="1100">
                <a:solidFill>
                  <a:srgbClr val="5F6F82"/>
                </a:solidFill>
                <a:latin typeface="Microsoft YaHei" panose="020B0503020204020204" pitchFamily="34" charset="-122"/>
              </a:rPr>
              <a:t>能耗成本</a:t>
            </a:r>
          </a:p>
          <a:p>
            <a:r>
              <a:rPr lang="en-US" altLang="zh-CN" sz="1100">
                <a:solidFill>
                  <a:srgbClr val="5F6F82"/>
                </a:solidFill>
                <a:latin typeface="Microsoft YaHei" panose="020B0503020204020204" pitchFamily="34" charset="-122"/>
              </a:rPr>
              <a:t>deadline</a:t>
            </a:r>
            <a:r>
              <a:rPr lang="zh-CN" altLang="en-US" sz="1100">
                <a:solidFill>
                  <a:srgbClr val="5F6F82"/>
                </a:solidFill>
                <a:latin typeface="Microsoft YaHei" panose="020B0503020204020204" pitchFamily="34" charset="-122"/>
              </a:rPr>
              <a:t>惩罚</a:t>
            </a:r>
          </a:p>
          <a:p>
            <a:r>
              <a:rPr lang="zh-CN" altLang="en-US" sz="1100">
                <a:solidFill>
                  <a:srgbClr val="5F6F82"/>
                </a:solidFill>
                <a:latin typeface="Microsoft YaHei" panose="020B0503020204020204" pitchFamily="34" charset="-122"/>
              </a:rPr>
              <a:t>过载惩罚</a:t>
            </a:r>
          </a:p>
        </p:txBody>
      </p:sp>
      <p:sp>
        <p:nvSpPr>
          <p:cNvPr id="65" name="文本框 64">
            <a:extLst>
              <a:ext uri="{FF2B5EF4-FFF2-40B4-BE49-F238E27FC236}">
                <a16:creationId xmlns:a16="http://schemas.microsoft.com/office/drawing/2014/main" id="{76271C7D-D4D9-44C2-A6FE-3721300BC0F8}"/>
              </a:ext>
            </a:extLst>
          </p:cNvPr>
          <p:cNvSpPr txBox="1"/>
          <p:nvPr/>
        </p:nvSpPr>
        <p:spPr>
          <a:xfrm>
            <a:off x="990600" y="5105400"/>
            <a:ext cx="9906000" cy="348813"/>
          </a:xfrm>
          <a:prstGeom prst="rect">
            <a:avLst/>
          </a:prstGeom>
          <a:noFill/>
        </p:spPr>
        <p:txBody>
          <a:bodyPr vert="horz" lIns="76200" tIns="50800" rIns="76200" bIns="50800" rtlCol="0">
            <a:spAutoFit/>
          </a:bodyPr>
          <a:lstStyle/>
          <a:p>
            <a:pPr algn="ctr"/>
            <a:r>
              <a:rPr lang="zh-CN" altLang="en-US" sz="1600" b="1">
                <a:solidFill>
                  <a:srgbClr val="1B3355"/>
                </a:solidFill>
                <a:latin typeface="Microsoft YaHei" panose="020B0503020204020204" pitchFamily="34" charset="-122"/>
              </a:rPr>
              <a:t>评估策略：采用多随机种子重复评估，并使用验证阶段表现最优的模型检查点进行主要结果汇报。</a:t>
            </a:r>
          </a:p>
        </p:txBody>
      </p:sp>
    </p:spTree>
    <p:extLst>
      <p:ext uri="{BB962C8B-B14F-4D97-AF65-F5344CB8AC3E}">
        <p14:creationId xmlns:p14="http://schemas.microsoft.com/office/powerpoint/2010/main" val="42233202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0310E9B-F807-4A29-A925-5A33EC5B373D}"/>
              </a:ext>
            </a:extLst>
          </p:cNvPr>
          <p:cNvSpPr>
            <a:spLocks noGrp="1"/>
          </p:cNvSpPr>
          <p:nvPr>
            <p:ph type="title"/>
          </p:nvPr>
        </p:nvSpPr>
        <p:spPr/>
        <p:txBody>
          <a:bodyPr/>
          <a:lstStyle/>
          <a:p>
            <a:endParaRPr lang="zh-CN" altLang="en-US"/>
          </a:p>
        </p:txBody>
      </p:sp>
      <p:sp>
        <p:nvSpPr>
          <p:cNvPr id="5" name="文本框 4">
            <a:extLst>
              <a:ext uri="{FF2B5EF4-FFF2-40B4-BE49-F238E27FC236}">
                <a16:creationId xmlns:a16="http://schemas.microsoft.com/office/drawing/2014/main" id="{4B55F559-E728-4C0F-8637-04CBF4F37498}"/>
              </a:ext>
            </a:extLst>
          </p:cNvPr>
          <p:cNvSpPr txBox="1"/>
          <p:nvPr/>
        </p:nvSpPr>
        <p:spPr>
          <a:xfrm>
            <a:off x="533400" y="304800"/>
            <a:ext cx="9906000" cy="456535"/>
          </a:xfrm>
          <a:prstGeom prst="rect">
            <a:avLst/>
          </a:prstGeom>
          <a:noFill/>
        </p:spPr>
        <p:txBody>
          <a:bodyPr vert="horz" lIns="76200" tIns="50800" rIns="76200" bIns="50800" rtlCol="0">
            <a:spAutoFit/>
          </a:bodyPr>
          <a:lstStyle/>
          <a:p>
            <a:r>
              <a:rPr lang="zh-CN" altLang="en-US" sz="2300" b="1">
                <a:solidFill>
                  <a:srgbClr val="1B3355"/>
                </a:solidFill>
                <a:latin typeface="Microsoft YaHei" panose="020B0503020204020204" pitchFamily="34" charset="-122"/>
              </a:rPr>
              <a:t>传统基线对比：</a:t>
            </a:r>
            <a:r>
              <a:rPr lang="en-US" altLang="zh-CN" sz="2300" b="1">
                <a:solidFill>
                  <a:srgbClr val="1B3355"/>
                </a:solidFill>
                <a:latin typeface="Microsoft YaHei" panose="020B0503020204020204" pitchFamily="34" charset="-122"/>
              </a:rPr>
              <a:t>PPO</a:t>
            </a:r>
            <a:r>
              <a:rPr lang="zh-CN" altLang="en-US" sz="2300" b="1">
                <a:solidFill>
                  <a:srgbClr val="1B3355"/>
                </a:solidFill>
                <a:latin typeface="Microsoft YaHei" panose="020B0503020204020204" pitchFamily="34" charset="-122"/>
              </a:rPr>
              <a:t>相对静态策略具备学习优势</a:t>
            </a:r>
          </a:p>
        </p:txBody>
      </p:sp>
      <p:sp>
        <p:nvSpPr>
          <p:cNvPr id="6" name="文本框 5">
            <a:extLst>
              <a:ext uri="{FF2B5EF4-FFF2-40B4-BE49-F238E27FC236}">
                <a16:creationId xmlns:a16="http://schemas.microsoft.com/office/drawing/2014/main" id="{92B6C005-4BC6-4E75-A6C2-864A2D292D9E}"/>
              </a:ext>
            </a:extLst>
          </p:cNvPr>
          <p:cNvSpPr txBox="1"/>
          <p:nvPr/>
        </p:nvSpPr>
        <p:spPr>
          <a:xfrm>
            <a:off x="10058400" y="381000"/>
            <a:ext cx="1397000" cy="256480"/>
          </a:xfrm>
          <a:prstGeom prst="rect">
            <a:avLst/>
          </a:prstGeom>
          <a:noFill/>
        </p:spPr>
        <p:txBody>
          <a:bodyPr vert="horz" lIns="76200" tIns="50800" rIns="76200" bIns="50800" rtlCol="0">
            <a:spAutoFit/>
          </a:bodyPr>
          <a:lstStyle/>
          <a:p>
            <a:pPr algn="r"/>
            <a:r>
              <a:rPr lang="en-US" altLang="zh-CN" sz="1000" b="1">
                <a:solidFill>
                  <a:srgbClr val="2A8FA0"/>
                </a:solidFill>
                <a:latin typeface="Microsoft YaHei" panose="020B0503020204020204" pitchFamily="34" charset="-122"/>
              </a:rPr>
              <a:t>3 / 5</a:t>
            </a:r>
            <a:endParaRPr lang="zh-CN" altLang="en-US" sz="1000" b="1">
              <a:solidFill>
                <a:srgbClr val="2A8FA0"/>
              </a:solidFill>
              <a:latin typeface="Microsoft YaHei" panose="020B0503020204020204" pitchFamily="34" charset="-122"/>
            </a:endParaRPr>
          </a:p>
        </p:txBody>
      </p:sp>
      <p:sp>
        <p:nvSpPr>
          <p:cNvPr id="7" name="矩形 6">
            <a:extLst>
              <a:ext uri="{FF2B5EF4-FFF2-40B4-BE49-F238E27FC236}">
                <a16:creationId xmlns:a16="http://schemas.microsoft.com/office/drawing/2014/main" id="{6B9BBE78-7198-458E-8EFF-016E92B4C5E9}"/>
              </a:ext>
            </a:extLst>
          </p:cNvPr>
          <p:cNvSpPr/>
          <p:nvPr/>
        </p:nvSpPr>
        <p:spPr>
          <a:xfrm>
            <a:off x="609600" y="914400"/>
            <a:ext cx="1524000" cy="50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96547A29-43F1-4D35-91A5-3D481A57A88D}"/>
              </a:ext>
            </a:extLst>
          </p:cNvPr>
          <p:cNvSpPr txBox="1"/>
          <p:nvPr/>
        </p:nvSpPr>
        <p:spPr>
          <a:xfrm>
            <a:off x="11455400" y="6350000"/>
            <a:ext cx="381000" cy="256480"/>
          </a:xfrm>
          <a:prstGeom prst="rect">
            <a:avLst/>
          </a:prstGeom>
          <a:noFill/>
        </p:spPr>
        <p:txBody>
          <a:bodyPr vert="horz" lIns="76200" tIns="50800" rIns="76200" bIns="50800" rtlCol="0">
            <a:spAutoFit/>
          </a:bodyPr>
          <a:lstStyle/>
          <a:p>
            <a:pPr algn="r"/>
            <a:r>
              <a:rPr lang="en-US" altLang="zh-CN" sz="1000">
                <a:solidFill>
                  <a:srgbClr val="5F6F82"/>
                </a:solidFill>
                <a:latin typeface="Microsoft YaHei" panose="020B0503020204020204" pitchFamily="34" charset="-122"/>
              </a:rPr>
              <a:t>12</a:t>
            </a:r>
            <a:endParaRPr lang="zh-CN" altLang="en-US" sz="1000">
              <a:solidFill>
                <a:srgbClr val="5F6F82"/>
              </a:solidFill>
              <a:latin typeface="Microsoft YaHei" panose="020B0503020204020204" pitchFamily="34" charset="-122"/>
            </a:endParaRPr>
          </a:p>
        </p:txBody>
      </p:sp>
      <p:pic>
        <p:nvPicPr>
          <p:cNvPr id="10" name="图片 9">
            <a:extLst>
              <a:ext uri="{FF2B5EF4-FFF2-40B4-BE49-F238E27FC236}">
                <a16:creationId xmlns:a16="http://schemas.microsoft.com/office/drawing/2014/main" id="{A2599958-7F25-45EA-8642-6CD9834A21C3}"/>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09600" y="1206500"/>
            <a:ext cx="7090833" cy="4254500"/>
          </a:xfrm>
          <a:prstGeom prst="rect">
            <a:avLst/>
          </a:prstGeom>
        </p:spPr>
      </p:pic>
      <p:sp>
        <p:nvSpPr>
          <p:cNvPr id="20" name="矩形: 圆角 19">
            <a:extLst>
              <a:ext uri="{FF2B5EF4-FFF2-40B4-BE49-F238E27FC236}">
                <a16:creationId xmlns:a16="http://schemas.microsoft.com/office/drawing/2014/main" id="{C8E5A332-BFBD-418E-8699-94F36D4B827A}"/>
              </a:ext>
            </a:extLst>
          </p:cNvPr>
          <p:cNvSpPr/>
          <p:nvPr/>
        </p:nvSpPr>
        <p:spPr>
          <a:xfrm>
            <a:off x="8064500" y="1460500"/>
            <a:ext cx="3302000" cy="1206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12B9B5A5-0A23-44D3-8C3C-26C1A5875254}"/>
              </a:ext>
            </a:extLst>
          </p:cNvPr>
          <p:cNvSpPr/>
          <p:nvPr/>
        </p:nvSpPr>
        <p:spPr>
          <a:xfrm>
            <a:off x="8064500" y="1562100"/>
            <a:ext cx="63500" cy="10033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94CADA5C-EFC2-4258-AB35-1276750DE77E}"/>
              </a:ext>
            </a:extLst>
          </p:cNvPr>
          <p:cNvSpPr txBox="1"/>
          <p:nvPr/>
        </p:nvSpPr>
        <p:spPr>
          <a:xfrm>
            <a:off x="8242300" y="1587500"/>
            <a:ext cx="2997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主要观察</a:t>
            </a:r>
          </a:p>
        </p:txBody>
      </p:sp>
      <p:sp>
        <p:nvSpPr>
          <p:cNvPr id="25" name="文本框 24">
            <a:extLst>
              <a:ext uri="{FF2B5EF4-FFF2-40B4-BE49-F238E27FC236}">
                <a16:creationId xmlns:a16="http://schemas.microsoft.com/office/drawing/2014/main" id="{18792E36-CCC1-4CEF-8418-E45102C8E70A}"/>
              </a:ext>
            </a:extLst>
          </p:cNvPr>
          <p:cNvSpPr txBox="1"/>
          <p:nvPr/>
        </p:nvSpPr>
        <p:spPr>
          <a:xfrm>
            <a:off x="8242300" y="1993900"/>
            <a:ext cx="3022600" cy="441146"/>
          </a:xfrm>
          <a:prstGeom prst="rect">
            <a:avLst/>
          </a:prstGeom>
          <a:noFill/>
        </p:spPr>
        <p:txBody>
          <a:bodyPr vert="horz" lIns="76200" tIns="50800" rIns="76200" bIns="50800" rtlCol="0">
            <a:spAutoFit/>
          </a:bodyPr>
          <a:lstStyle/>
          <a:p>
            <a:r>
              <a:rPr lang="en-US" altLang="zh-CN" sz="1100">
                <a:solidFill>
                  <a:srgbClr val="5F6F82"/>
                </a:solidFill>
                <a:latin typeface="Microsoft YaHei" panose="020B0503020204020204" pitchFamily="34" charset="-122"/>
              </a:rPr>
              <a:t>PPO-Baseline</a:t>
            </a:r>
            <a:r>
              <a:rPr lang="zh-CN" altLang="en-US" sz="1100">
                <a:solidFill>
                  <a:srgbClr val="5F6F82"/>
                </a:solidFill>
                <a:latin typeface="Microsoft YaHei" panose="020B0503020204020204" pitchFamily="34" charset="-122"/>
              </a:rPr>
              <a:t>最优检查点在平均奖励、过载惩罚和能耗控制方面优于传统策略。</a:t>
            </a:r>
          </a:p>
        </p:txBody>
      </p:sp>
      <p:sp>
        <p:nvSpPr>
          <p:cNvPr id="27" name="矩形: 圆角 26">
            <a:extLst>
              <a:ext uri="{FF2B5EF4-FFF2-40B4-BE49-F238E27FC236}">
                <a16:creationId xmlns:a16="http://schemas.microsoft.com/office/drawing/2014/main" id="{EDD99807-3756-4586-81C1-5F3567E0AB5A}"/>
              </a:ext>
            </a:extLst>
          </p:cNvPr>
          <p:cNvSpPr/>
          <p:nvPr/>
        </p:nvSpPr>
        <p:spPr>
          <a:xfrm>
            <a:off x="8064500" y="2921000"/>
            <a:ext cx="3302000" cy="1206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1754146D-C3BF-4AFB-98F1-99C0DEC81EFA}"/>
              </a:ext>
            </a:extLst>
          </p:cNvPr>
          <p:cNvSpPr/>
          <p:nvPr/>
        </p:nvSpPr>
        <p:spPr>
          <a:xfrm>
            <a:off x="8064500" y="3022600"/>
            <a:ext cx="63500" cy="1003300"/>
          </a:xfrm>
          <a:prstGeom prst="rect">
            <a:avLst/>
          </a:prstGeom>
          <a:solidFill>
            <a:srgbClr val="DDAA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90A9F18C-8D47-4550-B8EF-478B2D7446C4}"/>
              </a:ext>
            </a:extLst>
          </p:cNvPr>
          <p:cNvSpPr txBox="1"/>
          <p:nvPr/>
        </p:nvSpPr>
        <p:spPr>
          <a:xfrm>
            <a:off x="8242300" y="3048000"/>
            <a:ext cx="2997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局限</a:t>
            </a:r>
          </a:p>
        </p:txBody>
      </p:sp>
      <p:sp>
        <p:nvSpPr>
          <p:cNvPr id="30" name="文本框 29">
            <a:extLst>
              <a:ext uri="{FF2B5EF4-FFF2-40B4-BE49-F238E27FC236}">
                <a16:creationId xmlns:a16="http://schemas.microsoft.com/office/drawing/2014/main" id="{D0DDAADE-39AA-41F3-9F35-7D3383894990}"/>
              </a:ext>
            </a:extLst>
          </p:cNvPr>
          <p:cNvSpPr txBox="1"/>
          <p:nvPr/>
        </p:nvSpPr>
        <p:spPr>
          <a:xfrm>
            <a:off x="8242300" y="3454400"/>
            <a:ext cx="3022600" cy="441146"/>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普通</a:t>
            </a:r>
            <a:r>
              <a:rPr lang="en-US" altLang="zh-CN" sz="1100">
                <a:solidFill>
                  <a:srgbClr val="5F6F82"/>
                </a:solidFill>
                <a:latin typeface="Microsoft YaHei" panose="020B0503020204020204" pitchFamily="34" charset="-122"/>
              </a:rPr>
              <a:t>PPO</a:t>
            </a:r>
            <a:r>
              <a:rPr lang="zh-CN" altLang="en-US" sz="1100">
                <a:solidFill>
                  <a:srgbClr val="5F6F82"/>
                </a:solidFill>
                <a:latin typeface="Microsoft YaHei" panose="020B0503020204020204" pitchFamily="34" charset="-122"/>
              </a:rPr>
              <a:t>队列延迟仍偏高，说明扁平状态输入对节点结构关系利用不足。</a:t>
            </a:r>
          </a:p>
        </p:txBody>
      </p:sp>
      <p:sp>
        <p:nvSpPr>
          <p:cNvPr id="31" name="矩形: 圆角 30">
            <a:extLst>
              <a:ext uri="{FF2B5EF4-FFF2-40B4-BE49-F238E27FC236}">
                <a16:creationId xmlns:a16="http://schemas.microsoft.com/office/drawing/2014/main" id="{33787C16-536C-4F8B-BFDE-A1C5416B6652}"/>
              </a:ext>
            </a:extLst>
          </p:cNvPr>
          <p:cNvSpPr/>
          <p:nvPr/>
        </p:nvSpPr>
        <p:spPr>
          <a:xfrm>
            <a:off x="8064500" y="4381500"/>
            <a:ext cx="3302000" cy="10160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B235D723-DB03-42DE-8775-63CAF811B147}"/>
              </a:ext>
            </a:extLst>
          </p:cNvPr>
          <p:cNvSpPr/>
          <p:nvPr/>
        </p:nvSpPr>
        <p:spPr>
          <a:xfrm>
            <a:off x="8064500" y="4483100"/>
            <a:ext cx="63500" cy="812800"/>
          </a:xfrm>
          <a:prstGeom prst="rect">
            <a:avLst/>
          </a:prstGeom>
          <a:solidFill>
            <a:srgbClr val="53A05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0A600E61-8DFB-49CE-BC88-858870D620AE}"/>
              </a:ext>
            </a:extLst>
          </p:cNvPr>
          <p:cNvSpPr txBox="1"/>
          <p:nvPr/>
        </p:nvSpPr>
        <p:spPr>
          <a:xfrm>
            <a:off x="8242300" y="4508500"/>
            <a:ext cx="2997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启示</a:t>
            </a:r>
          </a:p>
        </p:txBody>
      </p:sp>
      <p:sp>
        <p:nvSpPr>
          <p:cNvPr id="34" name="文本框 33">
            <a:extLst>
              <a:ext uri="{FF2B5EF4-FFF2-40B4-BE49-F238E27FC236}">
                <a16:creationId xmlns:a16="http://schemas.microsoft.com/office/drawing/2014/main" id="{024E6330-7E67-40E6-B08B-8907686D7AC5}"/>
              </a:ext>
            </a:extLst>
          </p:cNvPr>
          <p:cNvSpPr txBox="1"/>
          <p:nvPr/>
        </p:nvSpPr>
        <p:spPr>
          <a:xfrm>
            <a:off x="8242300" y="4914900"/>
            <a:ext cx="3022600" cy="271869"/>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需要把拓扑结构和候选节点动作语义显式对齐。</a:t>
            </a:r>
          </a:p>
        </p:txBody>
      </p:sp>
    </p:spTree>
  </p:cSld>
  <p:clrMapOvr>
    <a:masterClrMapping/>
  </p:clrMapOvr>
  <mc:AlternateContent xmlns:mc="http://schemas.openxmlformats.org/markup-compatibility/2006" xmlns:p14="http://schemas.microsoft.com/office/powerpoint/2010/main">
    <mc:Choice Requires="p14">
      <p:transition spd="slow" p14:dur="1500" advTm="18501"/>
    </mc:Choice>
    <mc:Fallback xmlns="">
      <p:transition spd="slow" advTm="1850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12801006-2865-455D-B143-B60894781406}"/>
              </a:ext>
            </a:extLst>
          </p:cNvPr>
          <p:cNvSpPr>
            <a:spLocks noGrp="1"/>
          </p:cNvSpPr>
          <p:nvPr>
            <p:ph type="title"/>
          </p:nvPr>
        </p:nvSpPr>
        <p:spPr/>
        <p:txBody>
          <a:bodyPr/>
          <a:lstStyle/>
          <a:p>
            <a:endParaRPr lang="zh-CN" altLang="en-US"/>
          </a:p>
        </p:txBody>
      </p:sp>
      <p:sp>
        <p:nvSpPr>
          <p:cNvPr id="17" name="文本框 16">
            <a:extLst>
              <a:ext uri="{FF2B5EF4-FFF2-40B4-BE49-F238E27FC236}">
                <a16:creationId xmlns:a16="http://schemas.microsoft.com/office/drawing/2014/main" id="{12E9A521-AE8E-4F17-B770-DD4AEEEF2FA4}"/>
              </a:ext>
            </a:extLst>
          </p:cNvPr>
          <p:cNvSpPr txBox="1"/>
          <p:nvPr/>
        </p:nvSpPr>
        <p:spPr>
          <a:xfrm>
            <a:off x="533400" y="304800"/>
            <a:ext cx="9906000" cy="456535"/>
          </a:xfrm>
          <a:prstGeom prst="rect">
            <a:avLst/>
          </a:prstGeom>
          <a:noFill/>
        </p:spPr>
        <p:txBody>
          <a:bodyPr vert="horz" lIns="76200" tIns="50800" rIns="76200" bIns="50800" rtlCol="0">
            <a:spAutoFit/>
          </a:bodyPr>
          <a:lstStyle/>
          <a:p>
            <a:r>
              <a:rPr lang="en-US" altLang="zh-CN" sz="2300" b="1">
                <a:solidFill>
                  <a:srgbClr val="1B3355"/>
                </a:solidFill>
                <a:latin typeface="Microsoft YaHei" panose="020B0503020204020204" pitchFamily="34" charset="-122"/>
              </a:rPr>
              <a:t>PPO-GAT</a:t>
            </a:r>
            <a:r>
              <a:rPr lang="zh-CN" altLang="en-US" sz="2300" b="1">
                <a:solidFill>
                  <a:srgbClr val="1B3355"/>
                </a:solidFill>
                <a:latin typeface="Microsoft YaHei" panose="020B0503020204020204" pitchFamily="34" charset="-122"/>
              </a:rPr>
              <a:t>模型族对比：节点打分式结构表现最优</a:t>
            </a:r>
          </a:p>
        </p:txBody>
      </p:sp>
      <p:sp>
        <p:nvSpPr>
          <p:cNvPr id="18" name="文本框 17">
            <a:extLst>
              <a:ext uri="{FF2B5EF4-FFF2-40B4-BE49-F238E27FC236}">
                <a16:creationId xmlns:a16="http://schemas.microsoft.com/office/drawing/2014/main" id="{A9523856-C0A9-4EE5-B14A-7D3B7F83CB58}"/>
              </a:ext>
            </a:extLst>
          </p:cNvPr>
          <p:cNvSpPr txBox="1"/>
          <p:nvPr/>
        </p:nvSpPr>
        <p:spPr>
          <a:xfrm>
            <a:off x="10058400" y="381000"/>
            <a:ext cx="1397000" cy="256480"/>
          </a:xfrm>
          <a:prstGeom prst="rect">
            <a:avLst/>
          </a:prstGeom>
          <a:noFill/>
        </p:spPr>
        <p:txBody>
          <a:bodyPr vert="horz" lIns="76200" tIns="50800" rIns="76200" bIns="50800" rtlCol="0">
            <a:spAutoFit/>
          </a:bodyPr>
          <a:lstStyle/>
          <a:p>
            <a:pPr algn="r"/>
            <a:r>
              <a:rPr lang="en-US" altLang="zh-CN" sz="1000" b="1">
                <a:solidFill>
                  <a:srgbClr val="2A8FA0"/>
                </a:solidFill>
                <a:latin typeface="Microsoft YaHei" panose="020B0503020204020204" pitchFamily="34" charset="-122"/>
              </a:rPr>
              <a:t>3 / 5</a:t>
            </a:r>
            <a:endParaRPr lang="zh-CN" altLang="en-US" sz="1000" b="1">
              <a:solidFill>
                <a:srgbClr val="2A8FA0"/>
              </a:solidFill>
              <a:latin typeface="Microsoft YaHei" panose="020B0503020204020204" pitchFamily="34" charset="-122"/>
            </a:endParaRPr>
          </a:p>
        </p:txBody>
      </p:sp>
      <p:sp>
        <p:nvSpPr>
          <p:cNvPr id="19" name="矩形 18">
            <a:extLst>
              <a:ext uri="{FF2B5EF4-FFF2-40B4-BE49-F238E27FC236}">
                <a16:creationId xmlns:a16="http://schemas.microsoft.com/office/drawing/2014/main" id="{43BAF97D-27C5-435B-82B2-DE93143E89E4}"/>
              </a:ext>
            </a:extLst>
          </p:cNvPr>
          <p:cNvSpPr/>
          <p:nvPr/>
        </p:nvSpPr>
        <p:spPr>
          <a:xfrm>
            <a:off x="609600" y="914400"/>
            <a:ext cx="1524000" cy="50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48DDF789-1233-4C88-AB69-44C43C29D424}"/>
              </a:ext>
            </a:extLst>
          </p:cNvPr>
          <p:cNvSpPr txBox="1"/>
          <p:nvPr/>
        </p:nvSpPr>
        <p:spPr>
          <a:xfrm>
            <a:off x="11455400" y="6350000"/>
            <a:ext cx="381000" cy="256480"/>
          </a:xfrm>
          <a:prstGeom prst="rect">
            <a:avLst/>
          </a:prstGeom>
          <a:noFill/>
        </p:spPr>
        <p:txBody>
          <a:bodyPr vert="horz" lIns="76200" tIns="50800" rIns="76200" bIns="50800" rtlCol="0">
            <a:spAutoFit/>
          </a:bodyPr>
          <a:lstStyle/>
          <a:p>
            <a:pPr algn="r"/>
            <a:r>
              <a:rPr lang="en-US" altLang="zh-CN" sz="1000">
                <a:solidFill>
                  <a:srgbClr val="5F6F82"/>
                </a:solidFill>
                <a:latin typeface="Microsoft YaHei" panose="020B0503020204020204" pitchFamily="34" charset="-122"/>
              </a:rPr>
              <a:t>13</a:t>
            </a:r>
            <a:endParaRPr lang="zh-CN" altLang="en-US" sz="1000">
              <a:solidFill>
                <a:srgbClr val="5F6F82"/>
              </a:solidFill>
              <a:latin typeface="Microsoft YaHei" panose="020B0503020204020204" pitchFamily="34" charset="-122"/>
            </a:endParaRPr>
          </a:p>
        </p:txBody>
      </p:sp>
      <p:pic>
        <p:nvPicPr>
          <p:cNvPr id="22" name="图片 21">
            <a:extLst>
              <a:ext uri="{FF2B5EF4-FFF2-40B4-BE49-F238E27FC236}">
                <a16:creationId xmlns:a16="http://schemas.microsoft.com/office/drawing/2014/main" id="{ADE70742-FA45-4434-870E-054BDB4A69F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84200" y="1168400"/>
            <a:ext cx="6973066" cy="4318000"/>
          </a:xfrm>
          <a:prstGeom prst="rect">
            <a:avLst/>
          </a:prstGeom>
        </p:spPr>
      </p:pic>
      <p:graphicFrame>
        <p:nvGraphicFramePr>
          <p:cNvPr id="23" name="表格 22">
            <a:extLst>
              <a:ext uri="{FF2B5EF4-FFF2-40B4-BE49-F238E27FC236}">
                <a16:creationId xmlns:a16="http://schemas.microsoft.com/office/drawing/2014/main" id="{97635E55-BCEB-4A98-B875-0BDBC8075856}"/>
              </a:ext>
            </a:extLst>
          </p:cNvPr>
          <p:cNvGraphicFramePr>
            <a:graphicFrameLocks noGrp="1"/>
          </p:cNvGraphicFramePr>
          <p:nvPr>
            <p:extLst>
              <p:ext uri="{D42A27DB-BD31-4B8C-83A1-F6EECF244321}">
                <p14:modId xmlns:p14="http://schemas.microsoft.com/office/powerpoint/2010/main" val="1186451747"/>
              </p:ext>
            </p:extLst>
          </p:nvPr>
        </p:nvGraphicFramePr>
        <p:xfrm>
          <a:off x="7937500" y="1600200"/>
          <a:ext cx="3746500" cy="2032000"/>
        </p:xfrm>
        <a:graphic>
          <a:graphicData uri="http://schemas.openxmlformats.org/drawingml/2006/table">
            <a:tbl>
              <a:tblPr firstRow="1" bandRow="1">
                <a:tableStyleId>{5C22544A-7EE6-4342-B048-85BDC9FD1C3A}</a:tableStyleId>
              </a:tblPr>
              <a:tblGrid>
                <a:gridCol w="749300">
                  <a:extLst>
                    <a:ext uri="{9D8B030D-6E8A-4147-A177-3AD203B41FA5}">
                      <a16:colId xmlns:a16="http://schemas.microsoft.com/office/drawing/2014/main" val="937003031"/>
                    </a:ext>
                  </a:extLst>
                </a:gridCol>
                <a:gridCol w="749300">
                  <a:extLst>
                    <a:ext uri="{9D8B030D-6E8A-4147-A177-3AD203B41FA5}">
                      <a16:colId xmlns:a16="http://schemas.microsoft.com/office/drawing/2014/main" val="3836769455"/>
                    </a:ext>
                  </a:extLst>
                </a:gridCol>
                <a:gridCol w="749300">
                  <a:extLst>
                    <a:ext uri="{9D8B030D-6E8A-4147-A177-3AD203B41FA5}">
                      <a16:colId xmlns:a16="http://schemas.microsoft.com/office/drawing/2014/main" val="3377833745"/>
                    </a:ext>
                  </a:extLst>
                </a:gridCol>
                <a:gridCol w="749300">
                  <a:extLst>
                    <a:ext uri="{9D8B030D-6E8A-4147-A177-3AD203B41FA5}">
                      <a16:colId xmlns:a16="http://schemas.microsoft.com/office/drawing/2014/main" val="2035886799"/>
                    </a:ext>
                  </a:extLst>
                </a:gridCol>
                <a:gridCol w="749300">
                  <a:extLst>
                    <a:ext uri="{9D8B030D-6E8A-4147-A177-3AD203B41FA5}">
                      <a16:colId xmlns:a16="http://schemas.microsoft.com/office/drawing/2014/main" val="1899695426"/>
                    </a:ext>
                  </a:extLst>
                </a:gridCol>
              </a:tblGrid>
              <a:tr h="508000">
                <a:tc>
                  <a:txBody>
                    <a:bodyPr/>
                    <a:lstStyle/>
                    <a:p>
                      <a:r>
                        <a:rPr lang="zh-CN" altLang="en-US" sz="1000" b="1">
                          <a:solidFill>
                            <a:srgbClr val="FFFFFF"/>
                          </a:solidFill>
                          <a:latin typeface="Microsoft YaHei" panose="020B0503020204020204" pitchFamily="34" charset="-122"/>
                        </a:rPr>
                        <a:t>模型</a:t>
                      </a:r>
                    </a:p>
                  </a:txBody>
                  <a:tcPr>
                    <a:solidFill>
                      <a:srgbClr val="1C67A6"/>
                    </a:solidFill>
                  </a:tcPr>
                </a:tc>
                <a:tc>
                  <a:txBody>
                    <a:bodyPr/>
                    <a:lstStyle/>
                    <a:p>
                      <a:r>
                        <a:rPr lang="zh-CN" altLang="en-US" sz="1000" b="1">
                          <a:solidFill>
                            <a:srgbClr val="FFFFFF"/>
                          </a:solidFill>
                          <a:latin typeface="Microsoft YaHei" panose="020B0503020204020204" pitchFamily="34" charset="-122"/>
                        </a:rPr>
                        <a:t>平均奖励</a:t>
                      </a:r>
                    </a:p>
                  </a:txBody>
                  <a:tcPr>
                    <a:solidFill>
                      <a:srgbClr val="1C67A6"/>
                    </a:solidFill>
                  </a:tcPr>
                </a:tc>
                <a:tc>
                  <a:txBody>
                    <a:bodyPr/>
                    <a:lstStyle/>
                    <a:p>
                      <a:r>
                        <a:rPr lang="zh-CN" altLang="en-US" sz="1000" b="1">
                          <a:solidFill>
                            <a:srgbClr val="FFFFFF"/>
                          </a:solidFill>
                          <a:latin typeface="Microsoft YaHei" panose="020B0503020204020204" pitchFamily="34" charset="-122"/>
                        </a:rPr>
                        <a:t>总完成时间</a:t>
                      </a:r>
                    </a:p>
                  </a:txBody>
                  <a:tcPr>
                    <a:solidFill>
                      <a:srgbClr val="1C67A6"/>
                    </a:solidFill>
                  </a:tcPr>
                </a:tc>
                <a:tc>
                  <a:txBody>
                    <a:bodyPr/>
                    <a:lstStyle/>
                    <a:p>
                      <a:r>
                        <a:rPr lang="zh-CN" altLang="en-US" sz="1000" b="1">
                          <a:solidFill>
                            <a:srgbClr val="FFFFFF"/>
                          </a:solidFill>
                          <a:latin typeface="Microsoft YaHei" panose="020B0503020204020204" pitchFamily="34" charset="-122"/>
                        </a:rPr>
                        <a:t>队列延迟</a:t>
                      </a:r>
                    </a:p>
                  </a:txBody>
                  <a:tcPr>
                    <a:solidFill>
                      <a:srgbClr val="1C67A6"/>
                    </a:solidFill>
                  </a:tcPr>
                </a:tc>
                <a:tc>
                  <a:txBody>
                    <a:bodyPr/>
                    <a:lstStyle/>
                    <a:p>
                      <a:r>
                        <a:rPr lang="zh-CN" altLang="en-US" sz="1000" b="1">
                          <a:solidFill>
                            <a:srgbClr val="FFFFFF"/>
                          </a:solidFill>
                          <a:latin typeface="Microsoft YaHei" panose="020B0503020204020204" pitchFamily="34" charset="-122"/>
                        </a:rPr>
                        <a:t>过载惩罚</a:t>
                      </a:r>
                    </a:p>
                  </a:txBody>
                  <a:tcPr>
                    <a:solidFill>
                      <a:srgbClr val="1C67A6"/>
                    </a:solidFill>
                  </a:tcPr>
                </a:tc>
                <a:extLst>
                  <a:ext uri="{0D108BD9-81ED-4DB2-BD59-A6C34878D82A}">
                    <a16:rowId xmlns:a16="http://schemas.microsoft.com/office/drawing/2014/main" val="2399042135"/>
                  </a:ext>
                </a:extLst>
              </a:tr>
              <a:tr h="508000">
                <a:tc>
                  <a:txBody>
                    <a:bodyPr/>
                    <a:lstStyle/>
                    <a:p>
                      <a:r>
                        <a:rPr lang="en-US" altLang="zh-CN" sz="1000">
                          <a:solidFill>
                            <a:srgbClr val="1B3355"/>
                          </a:solidFill>
                          <a:latin typeface="Microsoft YaHei" panose="020B0503020204020204" pitchFamily="34" charset="-122"/>
                        </a:rPr>
                        <a:t>Scoring</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0.5596</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1.0729</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0.0176</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0.0293</a:t>
                      </a:r>
                      <a:endParaRPr lang="zh-CN" altLang="en-US" sz="1000">
                        <a:solidFill>
                          <a:srgbClr val="1B3355"/>
                        </a:solidFill>
                        <a:latin typeface="Microsoft YaHei" panose="020B0503020204020204" pitchFamily="34" charset="-122"/>
                      </a:endParaRPr>
                    </a:p>
                  </a:txBody>
                  <a:tcPr>
                    <a:solidFill>
                      <a:srgbClr val="F5F8FB"/>
                    </a:solidFill>
                  </a:tcPr>
                </a:tc>
                <a:extLst>
                  <a:ext uri="{0D108BD9-81ED-4DB2-BD59-A6C34878D82A}">
                    <a16:rowId xmlns:a16="http://schemas.microsoft.com/office/drawing/2014/main" val="1693110807"/>
                  </a:ext>
                </a:extLst>
              </a:tr>
              <a:tr h="508000">
                <a:tc>
                  <a:txBody>
                    <a:bodyPr/>
                    <a:lstStyle/>
                    <a:p>
                      <a:r>
                        <a:rPr lang="en-US" altLang="zh-CN" sz="1000">
                          <a:solidFill>
                            <a:srgbClr val="1B3355"/>
                          </a:solidFill>
                          <a:latin typeface="Microsoft YaHei" panose="020B0503020204020204" pitchFamily="34" charset="-122"/>
                        </a:rPr>
                        <a:t>Naive</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-0.4988</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1.2573</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0.1687</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0.1132</a:t>
                      </a:r>
                      <a:endParaRPr lang="zh-CN" altLang="en-US" sz="1000">
                        <a:solidFill>
                          <a:srgbClr val="1B3355"/>
                        </a:solidFill>
                        <a:latin typeface="Microsoft YaHei" panose="020B0503020204020204" pitchFamily="34" charset="-122"/>
                      </a:endParaRPr>
                    </a:p>
                  </a:txBody>
                  <a:tcPr>
                    <a:solidFill>
                      <a:srgbClr val="F5F8FB"/>
                    </a:solidFill>
                  </a:tcPr>
                </a:tc>
                <a:extLst>
                  <a:ext uri="{0D108BD9-81ED-4DB2-BD59-A6C34878D82A}">
                    <a16:rowId xmlns:a16="http://schemas.microsoft.com/office/drawing/2014/main" val="734565416"/>
                  </a:ext>
                </a:extLst>
              </a:tr>
              <a:tr h="508000">
                <a:tc>
                  <a:txBody>
                    <a:bodyPr/>
                    <a:lstStyle/>
                    <a:p>
                      <a:r>
                        <a:rPr lang="en-US" altLang="zh-CN" sz="1000">
                          <a:solidFill>
                            <a:srgbClr val="1B3355"/>
                          </a:solidFill>
                          <a:latin typeface="Microsoft YaHei" panose="020B0503020204020204" pitchFamily="34" charset="-122"/>
                        </a:rPr>
                        <a:t>Baseline</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-1.4585</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1.4750</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0.3732</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0.2772</a:t>
                      </a:r>
                      <a:endParaRPr lang="zh-CN" altLang="en-US" sz="1000">
                        <a:solidFill>
                          <a:srgbClr val="1B3355"/>
                        </a:solidFill>
                        <a:latin typeface="Microsoft YaHei" panose="020B0503020204020204" pitchFamily="34" charset="-122"/>
                      </a:endParaRPr>
                    </a:p>
                  </a:txBody>
                  <a:tcPr>
                    <a:solidFill>
                      <a:srgbClr val="F5F8FB"/>
                    </a:solidFill>
                  </a:tcPr>
                </a:tc>
                <a:extLst>
                  <a:ext uri="{0D108BD9-81ED-4DB2-BD59-A6C34878D82A}">
                    <a16:rowId xmlns:a16="http://schemas.microsoft.com/office/drawing/2014/main" val="1170228183"/>
                  </a:ext>
                </a:extLst>
              </a:tr>
            </a:tbl>
          </a:graphicData>
        </a:graphic>
      </p:graphicFrame>
      <p:sp>
        <p:nvSpPr>
          <p:cNvPr id="28" name="文本框 27">
            <a:extLst>
              <a:ext uri="{FF2B5EF4-FFF2-40B4-BE49-F238E27FC236}">
                <a16:creationId xmlns:a16="http://schemas.microsoft.com/office/drawing/2014/main" id="{F8E0A510-DBBA-4C19-B5DF-49B2B04E19DB}"/>
              </a:ext>
            </a:extLst>
          </p:cNvPr>
          <p:cNvSpPr txBox="1"/>
          <p:nvPr/>
        </p:nvSpPr>
        <p:spPr>
          <a:xfrm>
            <a:off x="8102600" y="3962400"/>
            <a:ext cx="3302000" cy="1364476"/>
          </a:xfrm>
          <a:prstGeom prst="rect">
            <a:avLst/>
          </a:prstGeom>
          <a:noFill/>
        </p:spPr>
        <p:txBody>
          <a:bodyPr vert="horz" lIns="76200" tIns="50800" rIns="76200" bIns="50800" rtlCol="0">
            <a:spAutoFit/>
          </a:bodyPr>
          <a:lstStyle/>
          <a:p>
            <a:pPr>
              <a:spcAft>
                <a:spcPts val="600"/>
              </a:spcAft>
            </a:pPr>
            <a:r>
              <a:rPr lang="en-US" altLang="zh-CN" sz="1200">
                <a:solidFill>
                  <a:srgbClr val="1B3355"/>
                </a:solidFill>
                <a:latin typeface="Microsoft YaHei" panose="020B0503020204020204" pitchFamily="34" charset="-122"/>
              </a:rPr>
              <a:t>• Scoring</a:t>
            </a:r>
            <a:r>
              <a:rPr lang="zh-CN" altLang="en-US" sz="1200">
                <a:solidFill>
                  <a:srgbClr val="1B3355"/>
                </a:solidFill>
                <a:latin typeface="Microsoft YaHei" panose="020B0503020204020204" pitchFamily="34" charset="-122"/>
              </a:rPr>
              <a:t>在奖励、时间、队列与过载上整体最优</a:t>
            </a:r>
          </a:p>
          <a:p>
            <a:pPr>
              <a:spcAft>
                <a:spcPts val="600"/>
              </a:spcAft>
            </a:pPr>
            <a:r>
              <a:rPr lang="en-US" altLang="zh-CN" sz="1200">
                <a:solidFill>
                  <a:srgbClr val="1B3355"/>
                </a:solidFill>
                <a:latin typeface="Microsoft YaHei" panose="020B0503020204020204" pitchFamily="34" charset="-122"/>
              </a:rPr>
              <a:t>• Naive GAT</a:t>
            </a:r>
            <a:r>
              <a:rPr lang="zh-CN" altLang="en-US" sz="1200">
                <a:solidFill>
                  <a:srgbClr val="1B3355"/>
                </a:solidFill>
                <a:latin typeface="Microsoft YaHei" panose="020B0503020204020204" pitchFamily="34" charset="-122"/>
              </a:rPr>
              <a:t>未显式对齐节点动作，稳定性不足</a:t>
            </a:r>
          </a:p>
          <a:p>
            <a:pPr>
              <a:spcAft>
                <a:spcPts val="600"/>
              </a:spcAft>
            </a:pPr>
            <a:r>
              <a:rPr lang="en-US" altLang="zh-CN" sz="1200">
                <a:solidFill>
                  <a:srgbClr val="1B3355"/>
                </a:solidFill>
                <a:latin typeface="Microsoft YaHei" panose="020B0503020204020204" pitchFamily="34" charset="-122"/>
              </a:rPr>
              <a:t>• </a:t>
            </a:r>
            <a:r>
              <a:rPr lang="zh-CN" altLang="en-US" sz="1200">
                <a:solidFill>
                  <a:srgbClr val="1B3355"/>
                </a:solidFill>
                <a:latin typeface="Microsoft YaHei" panose="020B0503020204020204" pitchFamily="34" charset="-122"/>
              </a:rPr>
              <a:t>结果支撑“图结构应服务于节点级决策”的创新判断</a:t>
            </a:r>
          </a:p>
        </p:txBody>
      </p:sp>
    </p:spTree>
  </p:cSld>
  <p:clrMapOvr>
    <a:masterClrMapping/>
  </p:clrMapOvr>
  <mc:AlternateContent xmlns:mc="http://schemas.openxmlformats.org/markup-compatibility/2006" xmlns:p14="http://schemas.microsoft.com/office/powerpoint/2010/main">
    <mc:Choice Requires="p14">
      <p:transition spd="slow" p14:dur="1500" advTm="18501"/>
    </mc:Choice>
    <mc:Fallback xmlns="">
      <p:transition spd="slow" advTm="1850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AF851C48-DEBD-4F0E-A8C1-2022318A1EA8}"/>
              </a:ext>
            </a:extLst>
          </p:cNvPr>
          <p:cNvSpPr>
            <a:spLocks noGrp="1"/>
          </p:cNvSpPr>
          <p:nvPr>
            <p:ph type="title"/>
          </p:nvPr>
        </p:nvSpPr>
        <p:spPr/>
        <p:txBody>
          <a:bodyPr/>
          <a:lstStyle/>
          <a:p>
            <a:endParaRPr lang="zh-CN" altLang="en-US"/>
          </a:p>
        </p:txBody>
      </p:sp>
      <p:sp>
        <p:nvSpPr>
          <p:cNvPr id="7" name="文本框 6">
            <a:extLst>
              <a:ext uri="{FF2B5EF4-FFF2-40B4-BE49-F238E27FC236}">
                <a16:creationId xmlns:a16="http://schemas.microsoft.com/office/drawing/2014/main" id="{8FAA88AD-CF44-4D44-AE40-58273F308640}"/>
              </a:ext>
            </a:extLst>
          </p:cNvPr>
          <p:cNvSpPr txBox="1"/>
          <p:nvPr/>
        </p:nvSpPr>
        <p:spPr>
          <a:xfrm>
            <a:off x="533400" y="304800"/>
            <a:ext cx="9906000" cy="456535"/>
          </a:xfrm>
          <a:prstGeom prst="rect">
            <a:avLst/>
          </a:prstGeom>
          <a:noFill/>
        </p:spPr>
        <p:txBody>
          <a:bodyPr vert="horz" lIns="76200" tIns="50800" rIns="76200" bIns="50800" rtlCol="0">
            <a:spAutoFit/>
          </a:bodyPr>
          <a:lstStyle/>
          <a:p>
            <a:r>
              <a:rPr lang="zh-CN" altLang="en-US" sz="2300" b="1">
                <a:solidFill>
                  <a:srgbClr val="1B3355"/>
                </a:solidFill>
                <a:latin typeface="Microsoft YaHei" panose="020B0503020204020204" pitchFamily="34" charset="-122"/>
              </a:rPr>
              <a:t>多场景动态验证：</a:t>
            </a:r>
            <a:r>
              <a:rPr lang="en-US" altLang="zh-CN" sz="2300" b="1">
                <a:solidFill>
                  <a:srgbClr val="1B3355"/>
                </a:solidFill>
                <a:latin typeface="Microsoft YaHei" panose="020B0503020204020204" pitchFamily="34" charset="-122"/>
              </a:rPr>
              <a:t>Scoring</a:t>
            </a:r>
            <a:r>
              <a:rPr lang="zh-CN" altLang="en-US" sz="2300" b="1">
                <a:solidFill>
                  <a:srgbClr val="1B3355"/>
                </a:solidFill>
                <a:latin typeface="Microsoft YaHei" panose="020B0503020204020204" pitchFamily="34" charset="-122"/>
              </a:rPr>
              <a:t>在四类场景中均胜出</a:t>
            </a:r>
          </a:p>
        </p:txBody>
      </p:sp>
      <p:sp>
        <p:nvSpPr>
          <p:cNvPr id="8" name="文本框 7">
            <a:extLst>
              <a:ext uri="{FF2B5EF4-FFF2-40B4-BE49-F238E27FC236}">
                <a16:creationId xmlns:a16="http://schemas.microsoft.com/office/drawing/2014/main" id="{AB23661B-7517-4C6F-B6A4-E0E237FA6FE9}"/>
              </a:ext>
            </a:extLst>
          </p:cNvPr>
          <p:cNvSpPr txBox="1"/>
          <p:nvPr/>
        </p:nvSpPr>
        <p:spPr>
          <a:xfrm>
            <a:off x="10058400" y="381000"/>
            <a:ext cx="1397000" cy="256480"/>
          </a:xfrm>
          <a:prstGeom prst="rect">
            <a:avLst/>
          </a:prstGeom>
          <a:noFill/>
        </p:spPr>
        <p:txBody>
          <a:bodyPr vert="horz" lIns="76200" tIns="50800" rIns="76200" bIns="50800" rtlCol="0">
            <a:spAutoFit/>
          </a:bodyPr>
          <a:lstStyle/>
          <a:p>
            <a:pPr algn="r"/>
            <a:r>
              <a:rPr lang="en-US" altLang="zh-CN" sz="1000" b="1">
                <a:solidFill>
                  <a:srgbClr val="2A8FA0"/>
                </a:solidFill>
                <a:latin typeface="Microsoft YaHei" panose="020B0503020204020204" pitchFamily="34" charset="-122"/>
              </a:rPr>
              <a:t>3 / 5</a:t>
            </a:r>
            <a:endParaRPr lang="zh-CN" altLang="en-US" sz="1000" b="1">
              <a:solidFill>
                <a:srgbClr val="2A8FA0"/>
              </a:solidFill>
              <a:latin typeface="Microsoft YaHei" panose="020B0503020204020204" pitchFamily="34" charset="-122"/>
            </a:endParaRPr>
          </a:p>
        </p:txBody>
      </p:sp>
      <p:sp>
        <p:nvSpPr>
          <p:cNvPr id="10" name="矩形 9">
            <a:extLst>
              <a:ext uri="{FF2B5EF4-FFF2-40B4-BE49-F238E27FC236}">
                <a16:creationId xmlns:a16="http://schemas.microsoft.com/office/drawing/2014/main" id="{4171E81D-47F2-4251-972A-B73053D7355C}"/>
              </a:ext>
            </a:extLst>
          </p:cNvPr>
          <p:cNvSpPr/>
          <p:nvPr/>
        </p:nvSpPr>
        <p:spPr>
          <a:xfrm>
            <a:off x="609600" y="914400"/>
            <a:ext cx="1524000" cy="50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A734CE4D-D31B-459A-8601-E20D91EA76D8}"/>
              </a:ext>
            </a:extLst>
          </p:cNvPr>
          <p:cNvSpPr txBox="1"/>
          <p:nvPr/>
        </p:nvSpPr>
        <p:spPr>
          <a:xfrm>
            <a:off x="11455400" y="6350000"/>
            <a:ext cx="381000" cy="256480"/>
          </a:xfrm>
          <a:prstGeom prst="rect">
            <a:avLst/>
          </a:prstGeom>
          <a:noFill/>
        </p:spPr>
        <p:txBody>
          <a:bodyPr vert="horz" lIns="76200" tIns="50800" rIns="76200" bIns="50800" rtlCol="0">
            <a:spAutoFit/>
          </a:bodyPr>
          <a:lstStyle/>
          <a:p>
            <a:pPr algn="r"/>
            <a:r>
              <a:rPr lang="en-US" altLang="zh-CN" sz="1000">
                <a:solidFill>
                  <a:srgbClr val="5F6F82"/>
                </a:solidFill>
                <a:latin typeface="Microsoft YaHei" panose="020B0503020204020204" pitchFamily="34" charset="-122"/>
              </a:rPr>
              <a:t>14</a:t>
            </a:r>
            <a:endParaRPr lang="zh-CN" altLang="en-US" sz="1000">
              <a:solidFill>
                <a:srgbClr val="5F6F82"/>
              </a:solidFill>
              <a:latin typeface="Microsoft YaHei" panose="020B0503020204020204" pitchFamily="34" charset="-122"/>
            </a:endParaRPr>
          </a:p>
        </p:txBody>
      </p:sp>
      <p:graphicFrame>
        <p:nvGraphicFramePr>
          <p:cNvPr id="13" name="表格 12">
            <a:extLst>
              <a:ext uri="{FF2B5EF4-FFF2-40B4-BE49-F238E27FC236}">
                <a16:creationId xmlns:a16="http://schemas.microsoft.com/office/drawing/2014/main" id="{FDF9F358-5F5E-4AC4-8A2C-1C935BE2E0E9}"/>
              </a:ext>
            </a:extLst>
          </p:cNvPr>
          <p:cNvGraphicFramePr>
            <a:graphicFrameLocks noGrp="1"/>
          </p:cNvGraphicFramePr>
          <p:nvPr>
            <p:extLst>
              <p:ext uri="{D42A27DB-BD31-4B8C-83A1-F6EECF244321}">
                <p14:modId xmlns:p14="http://schemas.microsoft.com/office/powerpoint/2010/main" val="1665344987"/>
              </p:ext>
            </p:extLst>
          </p:nvPr>
        </p:nvGraphicFramePr>
        <p:xfrm>
          <a:off x="1016000" y="1333500"/>
          <a:ext cx="6096000" cy="31115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308653509"/>
                    </a:ext>
                  </a:extLst>
                </a:gridCol>
                <a:gridCol w="1524000">
                  <a:extLst>
                    <a:ext uri="{9D8B030D-6E8A-4147-A177-3AD203B41FA5}">
                      <a16:colId xmlns:a16="http://schemas.microsoft.com/office/drawing/2014/main" val="4179974498"/>
                    </a:ext>
                  </a:extLst>
                </a:gridCol>
                <a:gridCol w="1524000">
                  <a:extLst>
                    <a:ext uri="{9D8B030D-6E8A-4147-A177-3AD203B41FA5}">
                      <a16:colId xmlns:a16="http://schemas.microsoft.com/office/drawing/2014/main" val="2705885340"/>
                    </a:ext>
                  </a:extLst>
                </a:gridCol>
                <a:gridCol w="1524000">
                  <a:extLst>
                    <a:ext uri="{9D8B030D-6E8A-4147-A177-3AD203B41FA5}">
                      <a16:colId xmlns:a16="http://schemas.microsoft.com/office/drawing/2014/main" val="3404943936"/>
                    </a:ext>
                  </a:extLst>
                </a:gridCol>
              </a:tblGrid>
              <a:tr h="518583">
                <a:tc>
                  <a:txBody>
                    <a:bodyPr/>
                    <a:lstStyle/>
                    <a:p>
                      <a:r>
                        <a:rPr lang="zh-CN" altLang="en-US" sz="1000" b="1">
                          <a:solidFill>
                            <a:srgbClr val="FFFFFF"/>
                          </a:solidFill>
                          <a:latin typeface="Microsoft YaHei" panose="020B0503020204020204" pitchFamily="34" charset="-122"/>
                        </a:rPr>
                        <a:t>场景</a:t>
                      </a:r>
                    </a:p>
                  </a:txBody>
                  <a:tcPr>
                    <a:solidFill>
                      <a:srgbClr val="1C67A6"/>
                    </a:solidFill>
                  </a:tcPr>
                </a:tc>
                <a:tc>
                  <a:txBody>
                    <a:bodyPr/>
                    <a:lstStyle/>
                    <a:p>
                      <a:r>
                        <a:rPr lang="en-US" altLang="zh-CN" sz="1000" b="1">
                          <a:solidFill>
                            <a:srgbClr val="FFFFFF"/>
                          </a:solidFill>
                          <a:latin typeface="Microsoft YaHei" panose="020B0503020204020204" pitchFamily="34" charset="-122"/>
                        </a:rPr>
                        <a:t>Scoring</a:t>
                      </a:r>
                      <a:endParaRPr lang="zh-CN" altLang="en-US" sz="1000" b="1">
                        <a:solidFill>
                          <a:srgbClr val="FFFFFF"/>
                        </a:solidFill>
                        <a:latin typeface="Microsoft YaHei" panose="020B0503020204020204" pitchFamily="34" charset="-122"/>
                      </a:endParaRPr>
                    </a:p>
                  </a:txBody>
                  <a:tcPr>
                    <a:solidFill>
                      <a:srgbClr val="1C67A6"/>
                    </a:solidFill>
                  </a:tcPr>
                </a:tc>
                <a:tc>
                  <a:txBody>
                    <a:bodyPr/>
                    <a:lstStyle/>
                    <a:p>
                      <a:r>
                        <a:rPr lang="en-US" altLang="zh-CN" sz="1000" b="1">
                          <a:solidFill>
                            <a:srgbClr val="FFFFFF"/>
                          </a:solidFill>
                          <a:latin typeface="Microsoft YaHei" panose="020B0503020204020204" pitchFamily="34" charset="-122"/>
                        </a:rPr>
                        <a:t>Baseline</a:t>
                      </a:r>
                      <a:endParaRPr lang="zh-CN" altLang="en-US" sz="1000" b="1">
                        <a:solidFill>
                          <a:srgbClr val="FFFFFF"/>
                        </a:solidFill>
                        <a:latin typeface="Microsoft YaHei" panose="020B0503020204020204" pitchFamily="34" charset="-122"/>
                      </a:endParaRPr>
                    </a:p>
                  </a:txBody>
                  <a:tcPr>
                    <a:solidFill>
                      <a:srgbClr val="1C67A6"/>
                    </a:solidFill>
                  </a:tcPr>
                </a:tc>
                <a:tc>
                  <a:txBody>
                    <a:bodyPr/>
                    <a:lstStyle/>
                    <a:p>
                      <a:r>
                        <a:rPr lang="en-US" altLang="zh-CN" sz="1000" b="1">
                          <a:solidFill>
                            <a:srgbClr val="FFFFFF"/>
                          </a:solidFill>
                          <a:latin typeface="Microsoft YaHei" panose="020B0503020204020204" pitchFamily="34" charset="-122"/>
                        </a:rPr>
                        <a:t>Naive</a:t>
                      </a:r>
                      <a:endParaRPr lang="zh-CN" altLang="en-US" sz="1000" b="1">
                        <a:solidFill>
                          <a:srgbClr val="FFFFFF"/>
                        </a:solidFill>
                        <a:latin typeface="Microsoft YaHei" panose="020B0503020204020204" pitchFamily="34" charset="-122"/>
                      </a:endParaRPr>
                    </a:p>
                  </a:txBody>
                  <a:tcPr>
                    <a:solidFill>
                      <a:srgbClr val="1C67A6"/>
                    </a:solidFill>
                  </a:tcPr>
                </a:tc>
                <a:extLst>
                  <a:ext uri="{0D108BD9-81ED-4DB2-BD59-A6C34878D82A}">
                    <a16:rowId xmlns:a16="http://schemas.microsoft.com/office/drawing/2014/main" val="1615437509"/>
                  </a:ext>
                </a:extLst>
              </a:tr>
              <a:tr h="518583">
                <a:tc>
                  <a:txBody>
                    <a:bodyPr/>
                    <a:lstStyle/>
                    <a:p>
                      <a:r>
                        <a:rPr lang="zh-CN" altLang="en-US" sz="1000">
                          <a:solidFill>
                            <a:srgbClr val="1B3355"/>
                          </a:solidFill>
                          <a:latin typeface="Microsoft YaHei" panose="020B0503020204020204" pitchFamily="34" charset="-122"/>
                        </a:rPr>
                        <a:t>低电量</a:t>
                      </a:r>
                    </a:p>
                  </a:txBody>
                  <a:tcPr>
                    <a:solidFill>
                      <a:srgbClr val="F5F8FB"/>
                    </a:solidFill>
                  </a:tcPr>
                </a:tc>
                <a:tc>
                  <a:txBody>
                    <a:bodyPr/>
                    <a:lstStyle/>
                    <a:p>
                      <a:r>
                        <a:rPr lang="en-US" altLang="zh-CN" sz="1000">
                          <a:solidFill>
                            <a:srgbClr val="1B3355"/>
                          </a:solidFill>
                          <a:latin typeface="Microsoft YaHei" panose="020B0503020204020204" pitchFamily="34" charset="-122"/>
                        </a:rPr>
                        <a:t>-1.893</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-3.661</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-6.153</a:t>
                      </a:r>
                      <a:endParaRPr lang="zh-CN" altLang="en-US" sz="1000">
                        <a:solidFill>
                          <a:srgbClr val="1B3355"/>
                        </a:solidFill>
                        <a:latin typeface="Microsoft YaHei" panose="020B0503020204020204" pitchFamily="34" charset="-122"/>
                      </a:endParaRPr>
                    </a:p>
                  </a:txBody>
                  <a:tcPr>
                    <a:solidFill>
                      <a:srgbClr val="F5F8FB"/>
                    </a:solidFill>
                  </a:tcPr>
                </a:tc>
                <a:extLst>
                  <a:ext uri="{0D108BD9-81ED-4DB2-BD59-A6C34878D82A}">
                    <a16:rowId xmlns:a16="http://schemas.microsoft.com/office/drawing/2014/main" val="1054892513"/>
                  </a:ext>
                </a:extLst>
              </a:tr>
              <a:tr h="518583">
                <a:tc>
                  <a:txBody>
                    <a:bodyPr/>
                    <a:lstStyle/>
                    <a:p>
                      <a:r>
                        <a:rPr lang="zh-CN" altLang="en-US" sz="1000">
                          <a:solidFill>
                            <a:srgbClr val="1B3355"/>
                          </a:solidFill>
                          <a:latin typeface="Microsoft YaHei" panose="020B0503020204020204" pitchFamily="34" charset="-122"/>
                        </a:rPr>
                        <a:t>高负载</a:t>
                      </a:r>
                    </a:p>
                  </a:txBody>
                  <a:tcPr>
                    <a:solidFill>
                      <a:srgbClr val="F5F8FB"/>
                    </a:solidFill>
                  </a:tcPr>
                </a:tc>
                <a:tc>
                  <a:txBody>
                    <a:bodyPr/>
                    <a:lstStyle/>
                    <a:p>
                      <a:r>
                        <a:rPr lang="en-US" altLang="zh-CN" sz="1000">
                          <a:solidFill>
                            <a:srgbClr val="1B3355"/>
                          </a:solidFill>
                          <a:latin typeface="Microsoft YaHei" panose="020B0503020204020204" pitchFamily="34" charset="-122"/>
                        </a:rPr>
                        <a:t>-9.909</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-14.591</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-15.507</a:t>
                      </a:r>
                      <a:endParaRPr lang="zh-CN" altLang="en-US" sz="1000">
                        <a:solidFill>
                          <a:srgbClr val="1B3355"/>
                        </a:solidFill>
                        <a:latin typeface="Microsoft YaHei" panose="020B0503020204020204" pitchFamily="34" charset="-122"/>
                      </a:endParaRPr>
                    </a:p>
                  </a:txBody>
                  <a:tcPr>
                    <a:solidFill>
                      <a:srgbClr val="F5F8FB"/>
                    </a:solidFill>
                  </a:tcPr>
                </a:tc>
                <a:extLst>
                  <a:ext uri="{0D108BD9-81ED-4DB2-BD59-A6C34878D82A}">
                    <a16:rowId xmlns:a16="http://schemas.microsoft.com/office/drawing/2014/main" val="4032827970"/>
                  </a:ext>
                </a:extLst>
              </a:tr>
              <a:tr h="518583">
                <a:tc>
                  <a:txBody>
                    <a:bodyPr/>
                    <a:lstStyle/>
                    <a:p>
                      <a:r>
                        <a:rPr lang="zh-CN" altLang="en-US" sz="1000">
                          <a:solidFill>
                            <a:srgbClr val="1B3355"/>
                          </a:solidFill>
                          <a:latin typeface="Microsoft YaHei" panose="020B0503020204020204" pitchFamily="34" charset="-122"/>
                        </a:rPr>
                        <a:t>紧急任务</a:t>
                      </a:r>
                    </a:p>
                  </a:txBody>
                  <a:tcPr>
                    <a:solidFill>
                      <a:srgbClr val="F5F8FB"/>
                    </a:solidFill>
                  </a:tcPr>
                </a:tc>
                <a:tc>
                  <a:txBody>
                    <a:bodyPr/>
                    <a:lstStyle/>
                    <a:p>
                      <a:r>
                        <a:rPr lang="en-US" altLang="zh-CN" sz="1000">
                          <a:solidFill>
                            <a:srgbClr val="1B3355"/>
                          </a:solidFill>
                          <a:latin typeface="Microsoft YaHei" panose="020B0503020204020204" pitchFamily="34" charset="-122"/>
                        </a:rPr>
                        <a:t>-12.035</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-25.857</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-23.185</a:t>
                      </a:r>
                      <a:endParaRPr lang="zh-CN" altLang="en-US" sz="1000">
                        <a:solidFill>
                          <a:srgbClr val="1B3355"/>
                        </a:solidFill>
                        <a:latin typeface="Microsoft YaHei" panose="020B0503020204020204" pitchFamily="34" charset="-122"/>
                      </a:endParaRPr>
                    </a:p>
                  </a:txBody>
                  <a:tcPr>
                    <a:solidFill>
                      <a:srgbClr val="F5F8FB"/>
                    </a:solidFill>
                  </a:tcPr>
                </a:tc>
                <a:extLst>
                  <a:ext uri="{0D108BD9-81ED-4DB2-BD59-A6C34878D82A}">
                    <a16:rowId xmlns:a16="http://schemas.microsoft.com/office/drawing/2014/main" val="3660343533"/>
                  </a:ext>
                </a:extLst>
              </a:tr>
              <a:tr h="518583">
                <a:tc>
                  <a:txBody>
                    <a:bodyPr/>
                    <a:lstStyle/>
                    <a:p>
                      <a:r>
                        <a:rPr lang="zh-CN" altLang="en-US" sz="1000">
                          <a:solidFill>
                            <a:srgbClr val="1B3355"/>
                          </a:solidFill>
                          <a:latin typeface="Microsoft YaHei" panose="020B0503020204020204" pitchFamily="34" charset="-122"/>
                        </a:rPr>
                        <a:t>高延迟</a:t>
                      </a:r>
                    </a:p>
                  </a:txBody>
                  <a:tcPr>
                    <a:solidFill>
                      <a:srgbClr val="F5F8FB"/>
                    </a:solidFill>
                  </a:tcPr>
                </a:tc>
                <a:tc>
                  <a:txBody>
                    <a:bodyPr/>
                    <a:lstStyle/>
                    <a:p>
                      <a:r>
                        <a:rPr lang="en-US" altLang="zh-CN" sz="1000">
                          <a:solidFill>
                            <a:srgbClr val="1B3355"/>
                          </a:solidFill>
                          <a:latin typeface="Microsoft YaHei" panose="020B0503020204020204" pitchFamily="34" charset="-122"/>
                        </a:rPr>
                        <a:t>-3.283</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-9.724</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-9.300</a:t>
                      </a:r>
                      <a:endParaRPr lang="zh-CN" altLang="en-US" sz="1000">
                        <a:solidFill>
                          <a:srgbClr val="1B3355"/>
                        </a:solidFill>
                        <a:latin typeface="Microsoft YaHei" panose="020B0503020204020204" pitchFamily="34" charset="-122"/>
                      </a:endParaRPr>
                    </a:p>
                  </a:txBody>
                  <a:tcPr>
                    <a:solidFill>
                      <a:srgbClr val="F5F8FB"/>
                    </a:solidFill>
                  </a:tcPr>
                </a:tc>
                <a:extLst>
                  <a:ext uri="{0D108BD9-81ED-4DB2-BD59-A6C34878D82A}">
                    <a16:rowId xmlns:a16="http://schemas.microsoft.com/office/drawing/2014/main" val="3007252411"/>
                  </a:ext>
                </a:extLst>
              </a:tr>
              <a:tr h="518583">
                <a:tc>
                  <a:txBody>
                    <a:bodyPr/>
                    <a:lstStyle/>
                    <a:p>
                      <a:r>
                        <a:rPr lang="en-US" altLang="zh-CN" sz="1000">
                          <a:solidFill>
                            <a:srgbClr val="1B3355"/>
                          </a:solidFill>
                          <a:latin typeface="Microsoft YaHei" panose="020B0503020204020204" pitchFamily="34" charset="-122"/>
                        </a:rPr>
                        <a:t>Mixed-context</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-10.810</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-15.539</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en-US" altLang="zh-CN" sz="1000">
                          <a:solidFill>
                            <a:srgbClr val="1B3355"/>
                          </a:solidFill>
                          <a:latin typeface="Microsoft YaHei" panose="020B0503020204020204" pitchFamily="34" charset="-122"/>
                        </a:rPr>
                        <a:t>-20.507</a:t>
                      </a:r>
                      <a:endParaRPr lang="zh-CN" altLang="en-US" sz="1000">
                        <a:solidFill>
                          <a:srgbClr val="1B3355"/>
                        </a:solidFill>
                        <a:latin typeface="Microsoft YaHei" panose="020B0503020204020204" pitchFamily="34" charset="-122"/>
                      </a:endParaRPr>
                    </a:p>
                  </a:txBody>
                  <a:tcPr>
                    <a:solidFill>
                      <a:srgbClr val="F5F8FB"/>
                    </a:solidFill>
                  </a:tcPr>
                </a:tc>
                <a:extLst>
                  <a:ext uri="{0D108BD9-81ED-4DB2-BD59-A6C34878D82A}">
                    <a16:rowId xmlns:a16="http://schemas.microsoft.com/office/drawing/2014/main" val="4209629338"/>
                  </a:ext>
                </a:extLst>
              </a:tr>
            </a:tbl>
          </a:graphicData>
        </a:graphic>
      </p:graphicFrame>
      <p:sp>
        <p:nvSpPr>
          <p:cNvPr id="14" name="矩形: 圆角 13">
            <a:extLst>
              <a:ext uri="{FF2B5EF4-FFF2-40B4-BE49-F238E27FC236}">
                <a16:creationId xmlns:a16="http://schemas.microsoft.com/office/drawing/2014/main" id="{4316E831-CAA4-4E2C-80D0-25E69183DFFC}"/>
              </a:ext>
            </a:extLst>
          </p:cNvPr>
          <p:cNvSpPr/>
          <p:nvPr/>
        </p:nvSpPr>
        <p:spPr>
          <a:xfrm>
            <a:off x="7747000" y="1422400"/>
            <a:ext cx="3556000" cy="1333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94D4F765-7337-468B-B9BA-860C33CA2F6B}"/>
              </a:ext>
            </a:extLst>
          </p:cNvPr>
          <p:cNvSpPr/>
          <p:nvPr/>
        </p:nvSpPr>
        <p:spPr>
          <a:xfrm>
            <a:off x="7747000" y="1524000"/>
            <a:ext cx="63500" cy="11303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434DF735-AAD4-4AF0-82BE-DF0BEFB35B76}"/>
              </a:ext>
            </a:extLst>
          </p:cNvPr>
          <p:cNvSpPr txBox="1"/>
          <p:nvPr/>
        </p:nvSpPr>
        <p:spPr>
          <a:xfrm>
            <a:off x="7924800" y="1549400"/>
            <a:ext cx="3251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结论</a:t>
            </a:r>
            <a:r>
              <a:rPr lang="en-US" altLang="zh-CN" sz="1500" b="1">
                <a:solidFill>
                  <a:srgbClr val="1B3355"/>
                </a:solidFill>
                <a:latin typeface="Microsoft YaHei" panose="020B0503020204020204" pitchFamily="34" charset="-122"/>
              </a:rPr>
              <a:t>1</a:t>
            </a:r>
            <a:endParaRPr lang="zh-CN" altLang="en-US" sz="1500" b="1">
              <a:solidFill>
                <a:srgbClr val="1B3355"/>
              </a:solidFill>
              <a:latin typeface="Microsoft YaHei" panose="020B0503020204020204" pitchFamily="34" charset="-122"/>
            </a:endParaRPr>
          </a:p>
        </p:txBody>
      </p:sp>
      <p:sp>
        <p:nvSpPr>
          <p:cNvPr id="17" name="文本框 16">
            <a:extLst>
              <a:ext uri="{FF2B5EF4-FFF2-40B4-BE49-F238E27FC236}">
                <a16:creationId xmlns:a16="http://schemas.microsoft.com/office/drawing/2014/main" id="{135DB102-AB3D-4428-9D23-444F00811B6E}"/>
              </a:ext>
            </a:extLst>
          </p:cNvPr>
          <p:cNvSpPr txBox="1"/>
          <p:nvPr/>
        </p:nvSpPr>
        <p:spPr>
          <a:xfrm>
            <a:off x="7924800" y="1955800"/>
            <a:ext cx="3276600" cy="610424"/>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在四个专门场景中，</a:t>
            </a:r>
            <a:r>
              <a:rPr lang="en-US" altLang="zh-CN" sz="1100">
                <a:solidFill>
                  <a:srgbClr val="5F6F82"/>
                </a:solidFill>
                <a:latin typeface="Microsoft YaHei" panose="020B0503020204020204" pitchFamily="34" charset="-122"/>
              </a:rPr>
              <a:t>PPO-GAT-Scoring</a:t>
            </a:r>
            <a:r>
              <a:rPr lang="zh-CN" altLang="en-US" sz="1100">
                <a:solidFill>
                  <a:srgbClr val="5F6F82"/>
                </a:solidFill>
                <a:latin typeface="Microsoft YaHei" panose="020B0503020204020204" pitchFamily="34" charset="-122"/>
              </a:rPr>
              <a:t>均取得最高平均奖励，并在每个场景的</a:t>
            </a:r>
            <a:r>
              <a:rPr lang="en-US" altLang="zh-CN" sz="1100">
                <a:solidFill>
                  <a:srgbClr val="5F6F82"/>
                </a:solidFill>
                <a:latin typeface="Microsoft YaHei" panose="020B0503020204020204" pitchFamily="34" charset="-122"/>
              </a:rPr>
              <a:t>5</a:t>
            </a:r>
            <a:r>
              <a:rPr lang="zh-CN" altLang="en-US" sz="1100">
                <a:solidFill>
                  <a:srgbClr val="5F6F82"/>
                </a:solidFill>
                <a:latin typeface="Microsoft YaHei" panose="020B0503020204020204" pitchFamily="34" charset="-122"/>
              </a:rPr>
              <a:t>个评估</a:t>
            </a:r>
            <a:r>
              <a:rPr lang="en-US" altLang="zh-CN" sz="1100">
                <a:solidFill>
                  <a:srgbClr val="5F6F82"/>
                </a:solidFill>
                <a:latin typeface="Microsoft YaHei" panose="020B0503020204020204" pitchFamily="34" charset="-122"/>
              </a:rPr>
              <a:t>seed</a:t>
            </a:r>
            <a:r>
              <a:rPr lang="zh-CN" altLang="en-US" sz="1100">
                <a:solidFill>
                  <a:srgbClr val="5F6F82"/>
                </a:solidFill>
                <a:latin typeface="Microsoft YaHei" panose="020B0503020204020204" pitchFamily="34" charset="-122"/>
              </a:rPr>
              <a:t>中全部胜出。</a:t>
            </a:r>
          </a:p>
        </p:txBody>
      </p:sp>
      <p:sp>
        <p:nvSpPr>
          <p:cNvPr id="18" name="矩形: 圆角 17">
            <a:extLst>
              <a:ext uri="{FF2B5EF4-FFF2-40B4-BE49-F238E27FC236}">
                <a16:creationId xmlns:a16="http://schemas.microsoft.com/office/drawing/2014/main" id="{75586280-0C4C-4DE2-9D5E-1EEDD4D76FD1}"/>
              </a:ext>
            </a:extLst>
          </p:cNvPr>
          <p:cNvSpPr/>
          <p:nvPr/>
        </p:nvSpPr>
        <p:spPr>
          <a:xfrm>
            <a:off x="7747000" y="3048000"/>
            <a:ext cx="3556000" cy="1333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9812370C-7416-4448-92AF-D38005C78F19}"/>
              </a:ext>
            </a:extLst>
          </p:cNvPr>
          <p:cNvSpPr/>
          <p:nvPr/>
        </p:nvSpPr>
        <p:spPr>
          <a:xfrm>
            <a:off x="7747000" y="3149600"/>
            <a:ext cx="63500" cy="1130300"/>
          </a:xfrm>
          <a:prstGeom prst="rect">
            <a:avLst/>
          </a:prstGeom>
          <a:solidFill>
            <a:srgbClr val="DDAA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1C2861FD-FCDF-48BF-B416-CEFD51C201EE}"/>
              </a:ext>
            </a:extLst>
          </p:cNvPr>
          <p:cNvSpPr txBox="1"/>
          <p:nvPr/>
        </p:nvSpPr>
        <p:spPr>
          <a:xfrm>
            <a:off x="7924800" y="3175000"/>
            <a:ext cx="3251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结论</a:t>
            </a:r>
            <a:r>
              <a:rPr lang="en-US" altLang="zh-CN" sz="1500" b="1">
                <a:solidFill>
                  <a:srgbClr val="1B3355"/>
                </a:solidFill>
                <a:latin typeface="Microsoft YaHei" panose="020B0503020204020204" pitchFamily="34" charset="-122"/>
              </a:rPr>
              <a:t>2</a:t>
            </a:r>
            <a:endParaRPr lang="zh-CN" altLang="en-US" sz="1500" b="1">
              <a:solidFill>
                <a:srgbClr val="1B3355"/>
              </a:solidFill>
              <a:latin typeface="Microsoft YaHei" panose="020B0503020204020204" pitchFamily="34" charset="-122"/>
            </a:endParaRPr>
          </a:p>
        </p:txBody>
      </p:sp>
      <p:sp>
        <p:nvSpPr>
          <p:cNvPr id="21" name="文本框 20">
            <a:extLst>
              <a:ext uri="{FF2B5EF4-FFF2-40B4-BE49-F238E27FC236}">
                <a16:creationId xmlns:a16="http://schemas.microsoft.com/office/drawing/2014/main" id="{A18FC585-978F-421F-AF3E-95706E1FC3CB}"/>
              </a:ext>
            </a:extLst>
          </p:cNvPr>
          <p:cNvSpPr txBox="1"/>
          <p:nvPr/>
        </p:nvSpPr>
        <p:spPr>
          <a:xfrm>
            <a:off x="7924800" y="3581400"/>
            <a:ext cx="3276600" cy="441146"/>
          </a:xfrm>
          <a:prstGeom prst="rect">
            <a:avLst/>
          </a:prstGeom>
          <a:noFill/>
        </p:spPr>
        <p:txBody>
          <a:bodyPr vert="horz" lIns="76200" tIns="50800" rIns="76200" bIns="50800" rtlCol="0">
            <a:spAutoFit/>
          </a:bodyPr>
          <a:lstStyle/>
          <a:p>
            <a:r>
              <a:rPr lang="en-US" altLang="zh-CN" sz="1100">
                <a:solidFill>
                  <a:srgbClr val="5F6F82"/>
                </a:solidFill>
                <a:latin typeface="Microsoft YaHei" panose="020B0503020204020204" pitchFamily="34" charset="-122"/>
              </a:rPr>
              <a:t>Mixed-context</a:t>
            </a:r>
            <a:r>
              <a:rPr lang="zh-CN" altLang="en-US" sz="1100">
                <a:solidFill>
                  <a:srgbClr val="5F6F82"/>
                </a:solidFill>
                <a:latin typeface="Microsoft YaHei" panose="020B0503020204020204" pitchFamily="34" charset="-122"/>
              </a:rPr>
              <a:t>中</a:t>
            </a:r>
            <a:r>
              <a:rPr lang="en-US" altLang="zh-CN" sz="1100">
                <a:solidFill>
                  <a:srgbClr val="5F6F82"/>
                </a:solidFill>
                <a:latin typeface="Microsoft YaHei" panose="020B0503020204020204" pitchFamily="34" charset="-122"/>
              </a:rPr>
              <a:t>Scoring</a:t>
            </a:r>
            <a:r>
              <a:rPr lang="zh-CN" altLang="en-US" sz="1100">
                <a:solidFill>
                  <a:srgbClr val="5F6F82"/>
                </a:solidFill>
                <a:latin typeface="Microsoft YaHei" panose="020B0503020204020204" pitchFamily="34" charset="-122"/>
              </a:rPr>
              <a:t>队列延迟约</a:t>
            </a:r>
            <a:r>
              <a:rPr lang="en-US" altLang="zh-CN" sz="1100">
                <a:solidFill>
                  <a:srgbClr val="5F6F82"/>
                </a:solidFill>
                <a:latin typeface="Microsoft YaHei" panose="020B0503020204020204" pitchFamily="34" charset="-122"/>
              </a:rPr>
              <a:t>0.098</a:t>
            </a:r>
            <a:r>
              <a:rPr lang="zh-CN" altLang="en-US" sz="1100">
                <a:solidFill>
                  <a:srgbClr val="5F6F82"/>
                </a:solidFill>
                <a:latin typeface="Microsoft YaHei" panose="020B0503020204020204" pitchFamily="34" charset="-122"/>
              </a:rPr>
              <a:t>，低于</a:t>
            </a:r>
            <a:r>
              <a:rPr lang="en-US" altLang="zh-CN" sz="1100">
                <a:solidFill>
                  <a:srgbClr val="5F6F82"/>
                </a:solidFill>
                <a:latin typeface="Microsoft YaHei" panose="020B0503020204020204" pitchFamily="34" charset="-122"/>
              </a:rPr>
              <a:t>Baseline</a:t>
            </a:r>
            <a:r>
              <a:rPr lang="zh-CN" altLang="en-US" sz="1100">
                <a:solidFill>
                  <a:srgbClr val="5F6F82"/>
                </a:solidFill>
                <a:latin typeface="Microsoft YaHei" panose="020B0503020204020204" pitchFamily="34" charset="-122"/>
              </a:rPr>
              <a:t>约</a:t>
            </a:r>
            <a:r>
              <a:rPr lang="en-US" altLang="zh-CN" sz="1100">
                <a:solidFill>
                  <a:srgbClr val="5F6F82"/>
                </a:solidFill>
                <a:latin typeface="Microsoft YaHei" panose="020B0503020204020204" pitchFamily="34" charset="-122"/>
              </a:rPr>
              <a:t>0.384</a:t>
            </a:r>
            <a:r>
              <a:rPr lang="zh-CN" altLang="en-US" sz="1100">
                <a:solidFill>
                  <a:srgbClr val="5F6F82"/>
                </a:solidFill>
                <a:latin typeface="Microsoft YaHei" panose="020B0503020204020204" pitchFamily="34" charset="-122"/>
              </a:rPr>
              <a:t>和</a:t>
            </a:r>
            <a:r>
              <a:rPr lang="en-US" altLang="zh-CN" sz="1100">
                <a:solidFill>
                  <a:srgbClr val="5F6F82"/>
                </a:solidFill>
                <a:latin typeface="Microsoft YaHei" panose="020B0503020204020204" pitchFamily="34" charset="-122"/>
              </a:rPr>
              <a:t>Naive</a:t>
            </a:r>
            <a:r>
              <a:rPr lang="zh-CN" altLang="en-US" sz="1100">
                <a:solidFill>
                  <a:srgbClr val="5F6F82"/>
                </a:solidFill>
                <a:latin typeface="Microsoft YaHei" panose="020B0503020204020204" pitchFamily="34" charset="-122"/>
              </a:rPr>
              <a:t>约</a:t>
            </a:r>
            <a:r>
              <a:rPr lang="en-US" altLang="zh-CN" sz="1100">
                <a:solidFill>
                  <a:srgbClr val="5F6F82"/>
                </a:solidFill>
                <a:latin typeface="Microsoft YaHei" panose="020B0503020204020204" pitchFamily="34" charset="-122"/>
              </a:rPr>
              <a:t>0.733</a:t>
            </a:r>
            <a:r>
              <a:rPr lang="zh-CN" altLang="en-US" sz="1100">
                <a:solidFill>
                  <a:srgbClr val="5F6F82"/>
                </a:solidFill>
                <a:latin typeface="Microsoft YaHei" panose="020B0503020204020204" pitchFamily="34" charset="-122"/>
              </a:rPr>
              <a:t>。</a:t>
            </a:r>
          </a:p>
        </p:txBody>
      </p:sp>
      <p:sp>
        <p:nvSpPr>
          <p:cNvPr id="22" name="文本框 21">
            <a:extLst>
              <a:ext uri="{FF2B5EF4-FFF2-40B4-BE49-F238E27FC236}">
                <a16:creationId xmlns:a16="http://schemas.microsoft.com/office/drawing/2014/main" id="{76ED0074-55F5-46DF-9D10-1A7560AEFAA5}"/>
              </a:ext>
            </a:extLst>
          </p:cNvPr>
          <p:cNvSpPr txBox="1"/>
          <p:nvPr/>
        </p:nvSpPr>
        <p:spPr>
          <a:xfrm>
            <a:off x="1193800" y="4889500"/>
            <a:ext cx="9652000" cy="595035"/>
          </a:xfrm>
          <a:prstGeom prst="rect">
            <a:avLst/>
          </a:prstGeom>
          <a:noFill/>
        </p:spPr>
        <p:txBody>
          <a:bodyPr vert="horz" lIns="76200" tIns="50800" rIns="76200" bIns="50800" rtlCol="0">
            <a:spAutoFit/>
          </a:bodyPr>
          <a:lstStyle/>
          <a:p>
            <a:pPr algn="ctr"/>
            <a:r>
              <a:rPr lang="zh-CN" altLang="en-US" sz="1600" b="1">
                <a:solidFill>
                  <a:srgbClr val="1B3355"/>
                </a:solidFill>
                <a:latin typeface="Microsoft YaHei" panose="020B0503020204020204" pitchFamily="34" charset="-122"/>
              </a:rPr>
              <a:t>动态奖励与场景识别机制已经进入训练与评估轨迹，低电量、充电恢复、高负载和高延迟等状态可被记录和分析。</a:t>
            </a:r>
          </a:p>
        </p:txBody>
      </p:sp>
    </p:spTree>
  </p:cSld>
  <p:clrMapOvr>
    <a:masterClrMapping/>
  </p:clrMapOvr>
  <mc:AlternateContent xmlns:mc="http://schemas.openxmlformats.org/markup-compatibility/2006" xmlns:p14="http://schemas.microsoft.com/office/powerpoint/2010/main">
    <mc:Choice Requires="p14">
      <p:transition spd="slow" p14:dur="1500" advTm="18501"/>
    </mc:Choice>
    <mc:Fallback xmlns="">
      <p:transition spd="slow" advTm="1850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23AB4-C13A-9F21-3FA7-23A1097B366B}"/>
            </a:ext>
          </a:extLst>
        </p:cNvPr>
        <p:cNvGrpSpPr/>
        <p:nvPr/>
      </p:nvGrpSpPr>
      <p:grpSpPr>
        <a:xfrm>
          <a:off x="0" y="0"/>
          <a:ext cx="0" cy="0"/>
          <a:chOff x="0" y="0"/>
          <a:chExt cx="0" cy="0"/>
        </a:xfrm>
      </p:grpSpPr>
      <p:sp>
        <p:nvSpPr>
          <p:cNvPr id="49" name="矩形 48">
            <a:extLst>
              <a:ext uri="{FF2B5EF4-FFF2-40B4-BE49-F238E27FC236}">
                <a16:creationId xmlns:a16="http://schemas.microsoft.com/office/drawing/2014/main" id="{528F65EC-F643-4D82-9185-BF7D67F95B2C}"/>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7DD93042-B77E-460E-8854-5B42D63AB70B}"/>
              </a:ext>
            </a:extLst>
          </p:cNvPr>
          <p:cNvSpPr/>
          <p:nvPr/>
        </p:nvSpPr>
        <p:spPr>
          <a:xfrm>
            <a:off x="0" y="0"/>
            <a:ext cx="4389120" cy="6858000"/>
          </a:xfrm>
          <a:prstGeom prst="rect">
            <a:avLst/>
          </a:prstGeom>
          <a:solidFill>
            <a:srgbClr val="1B335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EAC1466C-2144-40E8-A0D7-05C786E0B97F}"/>
              </a:ext>
            </a:extLst>
          </p:cNvPr>
          <p:cNvSpPr txBox="1"/>
          <p:nvPr/>
        </p:nvSpPr>
        <p:spPr>
          <a:xfrm>
            <a:off x="711200" y="812800"/>
            <a:ext cx="3048000" cy="528350"/>
          </a:xfrm>
          <a:prstGeom prst="rect">
            <a:avLst/>
          </a:prstGeom>
          <a:noFill/>
        </p:spPr>
        <p:txBody>
          <a:bodyPr vert="horz" lIns="76200" tIns="50800" rIns="76200" bIns="50800" rtlCol="0">
            <a:spAutoFit/>
          </a:bodyPr>
          <a:lstStyle/>
          <a:p>
            <a:r>
              <a:rPr lang="en-US" altLang="zh-CN" sz="2800" b="1">
                <a:solidFill>
                  <a:srgbClr val="FFFFFF"/>
                </a:solidFill>
                <a:latin typeface="Microsoft YaHei" panose="020B0503020204020204" pitchFamily="34" charset="-122"/>
              </a:rPr>
              <a:t>CONTENTS</a:t>
            </a:r>
            <a:endParaRPr lang="zh-CN" altLang="en-US" sz="2800" b="1">
              <a:solidFill>
                <a:srgbClr val="FFFFFF"/>
              </a:solidFill>
              <a:latin typeface="Microsoft YaHei" panose="020B0503020204020204" pitchFamily="34" charset="-122"/>
            </a:endParaRPr>
          </a:p>
        </p:txBody>
      </p:sp>
      <p:sp>
        <p:nvSpPr>
          <p:cNvPr id="52" name="文本框 51">
            <a:extLst>
              <a:ext uri="{FF2B5EF4-FFF2-40B4-BE49-F238E27FC236}">
                <a16:creationId xmlns:a16="http://schemas.microsoft.com/office/drawing/2014/main" id="{3335CABB-7BD1-4BCB-9070-F6BE03279ECD}"/>
              </a:ext>
            </a:extLst>
          </p:cNvPr>
          <p:cNvSpPr txBox="1"/>
          <p:nvPr/>
        </p:nvSpPr>
        <p:spPr>
          <a:xfrm>
            <a:off x="736600" y="1397000"/>
            <a:ext cx="2667000" cy="287258"/>
          </a:xfrm>
          <a:prstGeom prst="rect">
            <a:avLst/>
          </a:prstGeom>
          <a:noFill/>
        </p:spPr>
        <p:txBody>
          <a:bodyPr vert="horz" lIns="76200" tIns="50800" rIns="76200" bIns="50800" rtlCol="0">
            <a:spAutoFit/>
          </a:bodyPr>
          <a:lstStyle/>
          <a:p>
            <a:r>
              <a:rPr lang="en-US" altLang="zh-CN" sz="1200" b="1">
                <a:solidFill>
                  <a:srgbClr val="DDAA48"/>
                </a:solidFill>
                <a:latin typeface="Microsoft YaHei" panose="020B0503020204020204" pitchFamily="34" charset="-122"/>
              </a:rPr>
              <a:t>FORTH</a:t>
            </a:r>
            <a:endParaRPr lang="zh-CN" altLang="en-US" sz="1200" b="1">
              <a:solidFill>
                <a:srgbClr val="DDAA48"/>
              </a:solidFill>
              <a:latin typeface="Microsoft YaHei" panose="020B0503020204020204" pitchFamily="34" charset="-122"/>
            </a:endParaRPr>
          </a:p>
        </p:txBody>
      </p:sp>
      <p:sp>
        <p:nvSpPr>
          <p:cNvPr id="53" name="文本框 52">
            <a:extLst>
              <a:ext uri="{FF2B5EF4-FFF2-40B4-BE49-F238E27FC236}">
                <a16:creationId xmlns:a16="http://schemas.microsoft.com/office/drawing/2014/main" id="{1F080005-9B76-4FC7-BFD1-DEA16E965258}"/>
              </a:ext>
            </a:extLst>
          </p:cNvPr>
          <p:cNvSpPr txBox="1"/>
          <p:nvPr/>
        </p:nvSpPr>
        <p:spPr>
          <a:xfrm>
            <a:off x="5024120" y="1270000"/>
            <a:ext cx="1143000" cy="933589"/>
          </a:xfrm>
          <a:prstGeom prst="rect">
            <a:avLst/>
          </a:prstGeom>
          <a:noFill/>
        </p:spPr>
        <p:txBody>
          <a:bodyPr vert="horz" lIns="76200" tIns="50800" rIns="76200" bIns="50800" rtlCol="0">
            <a:spAutoFit/>
          </a:bodyPr>
          <a:lstStyle/>
          <a:p>
            <a:r>
              <a:rPr lang="en-US" altLang="zh-CN" sz="5400" b="1">
                <a:solidFill>
                  <a:srgbClr val="2A8FA0"/>
                </a:solidFill>
                <a:latin typeface="Microsoft YaHei" panose="020B0503020204020204" pitchFamily="34" charset="-122"/>
              </a:rPr>
              <a:t>4</a:t>
            </a:r>
            <a:endParaRPr lang="zh-CN" altLang="en-US" sz="5400" b="1">
              <a:solidFill>
                <a:srgbClr val="2A8FA0"/>
              </a:solidFill>
              <a:latin typeface="Microsoft YaHei" panose="020B0503020204020204" pitchFamily="34" charset="-122"/>
            </a:endParaRPr>
          </a:p>
        </p:txBody>
      </p:sp>
      <p:sp>
        <p:nvSpPr>
          <p:cNvPr id="54" name="文本框 53">
            <a:extLst>
              <a:ext uri="{FF2B5EF4-FFF2-40B4-BE49-F238E27FC236}">
                <a16:creationId xmlns:a16="http://schemas.microsoft.com/office/drawing/2014/main" id="{F1808B9D-2E1A-497D-9756-2B3668D7DE21}"/>
              </a:ext>
            </a:extLst>
          </p:cNvPr>
          <p:cNvSpPr txBox="1"/>
          <p:nvPr/>
        </p:nvSpPr>
        <p:spPr>
          <a:xfrm>
            <a:off x="6230620" y="1333500"/>
            <a:ext cx="5842000" cy="564257"/>
          </a:xfrm>
          <a:prstGeom prst="rect">
            <a:avLst/>
          </a:prstGeom>
          <a:noFill/>
        </p:spPr>
        <p:txBody>
          <a:bodyPr vert="horz" lIns="76200" tIns="50800" rIns="76200" bIns="50800" rtlCol="0">
            <a:spAutoFit/>
          </a:bodyPr>
          <a:lstStyle/>
          <a:p>
            <a:r>
              <a:rPr lang="zh-CN" altLang="en-US" sz="3000" b="1">
                <a:solidFill>
                  <a:srgbClr val="1B3355"/>
                </a:solidFill>
                <a:latin typeface="Microsoft YaHei" panose="020B0503020204020204" pitchFamily="34" charset="-122"/>
              </a:rPr>
              <a:t>关键技术与创新点</a:t>
            </a:r>
          </a:p>
        </p:txBody>
      </p:sp>
      <p:sp>
        <p:nvSpPr>
          <p:cNvPr id="55" name="文本框 54">
            <a:extLst>
              <a:ext uri="{FF2B5EF4-FFF2-40B4-BE49-F238E27FC236}">
                <a16:creationId xmlns:a16="http://schemas.microsoft.com/office/drawing/2014/main" id="{B9E8E3C6-EB2A-4EFD-9B31-4A298CD2C969}"/>
              </a:ext>
            </a:extLst>
          </p:cNvPr>
          <p:cNvSpPr txBox="1"/>
          <p:nvPr/>
        </p:nvSpPr>
        <p:spPr>
          <a:xfrm>
            <a:off x="6268720" y="1955800"/>
            <a:ext cx="5207000" cy="302647"/>
          </a:xfrm>
          <a:prstGeom prst="rect">
            <a:avLst/>
          </a:prstGeom>
          <a:noFill/>
        </p:spPr>
        <p:txBody>
          <a:bodyPr vert="horz" lIns="76200" tIns="50800" rIns="76200" bIns="50800" rtlCol="0">
            <a:spAutoFit/>
          </a:bodyPr>
          <a:lstStyle/>
          <a:p>
            <a:r>
              <a:rPr lang="en-US" altLang="zh-CN" sz="1300">
                <a:solidFill>
                  <a:srgbClr val="5F6F82"/>
                </a:solidFill>
                <a:latin typeface="Microsoft YaHei" panose="020B0503020204020204" pitchFamily="34" charset="-122"/>
              </a:rPr>
              <a:t>Key Techniques</a:t>
            </a:r>
            <a:endParaRPr lang="zh-CN" altLang="en-US" sz="1300">
              <a:solidFill>
                <a:srgbClr val="5F6F82"/>
              </a:solidFill>
              <a:latin typeface="Microsoft YaHei" panose="020B0503020204020204" pitchFamily="34" charset="-122"/>
            </a:endParaRPr>
          </a:p>
        </p:txBody>
      </p:sp>
      <p:sp>
        <p:nvSpPr>
          <p:cNvPr id="56" name="矩形 55">
            <a:extLst>
              <a:ext uri="{FF2B5EF4-FFF2-40B4-BE49-F238E27FC236}">
                <a16:creationId xmlns:a16="http://schemas.microsoft.com/office/drawing/2014/main" id="{2CE70634-62BE-441D-A472-B05B3E3C69AC}"/>
              </a:ext>
            </a:extLst>
          </p:cNvPr>
          <p:cNvSpPr/>
          <p:nvPr/>
        </p:nvSpPr>
        <p:spPr>
          <a:xfrm>
            <a:off x="6294120" y="2476500"/>
            <a:ext cx="2159000" cy="635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992069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CCAC68E2-E286-49A1-BE68-C000E31956DC}"/>
              </a:ext>
            </a:extLst>
          </p:cNvPr>
          <p:cNvSpPr>
            <a:spLocks noGrp="1"/>
          </p:cNvSpPr>
          <p:nvPr>
            <p:ph type="title"/>
          </p:nvPr>
        </p:nvSpPr>
        <p:spPr/>
        <p:txBody>
          <a:bodyPr/>
          <a:lstStyle/>
          <a:p>
            <a:endParaRPr lang="zh-CN" altLang="en-US"/>
          </a:p>
        </p:txBody>
      </p:sp>
      <p:sp>
        <p:nvSpPr>
          <p:cNvPr id="6" name="文本框 5">
            <a:extLst>
              <a:ext uri="{FF2B5EF4-FFF2-40B4-BE49-F238E27FC236}">
                <a16:creationId xmlns:a16="http://schemas.microsoft.com/office/drawing/2014/main" id="{AAB82938-726A-403E-988E-AC1C3790C5DB}"/>
              </a:ext>
            </a:extLst>
          </p:cNvPr>
          <p:cNvSpPr txBox="1"/>
          <p:nvPr/>
        </p:nvSpPr>
        <p:spPr>
          <a:xfrm>
            <a:off x="533400" y="304800"/>
            <a:ext cx="9906000" cy="456535"/>
          </a:xfrm>
          <a:prstGeom prst="rect">
            <a:avLst/>
          </a:prstGeom>
          <a:noFill/>
        </p:spPr>
        <p:txBody>
          <a:bodyPr vert="horz" lIns="76200" tIns="50800" rIns="76200" bIns="50800" rtlCol="0">
            <a:spAutoFit/>
          </a:bodyPr>
          <a:lstStyle/>
          <a:p>
            <a:r>
              <a:rPr lang="zh-CN" altLang="en-US" sz="2300" b="1">
                <a:solidFill>
                  <a:srgbClr val="1B3355"/>
                </a:solidFill>
                <a:latin typeface="Microsoft YaHei" panose="020B0503020204020204" pitchFamily="34" charset="-122"/>
              </a:rPr>
              <a:t>阶段性创新点：从建模、算法到奖励机制</a:t>
            </a:r>
          </a:p>
        </p:txBody>
      </p:sp>
      <p:sp>
        <p:nvSpPr>
          <p:cNvPr id="7" name="文本框 6">
            <a:extLst>
              <a:ext uri="{FF2B5EF4-FFF2-40B4-BE49-F238E27FC236}">
                <a16:creationId xmlns:a16="http://schemas.microsoft.com/office/drawing/2014/main" id="{B5290C3D-83CE-4EB8-BA79-D9944E2CAC55}"/>
              </a:ext>
            </a:extLst>
          </p:cNvPr>
          <p:cNvSpPr txBox="1"/>
          <p:nvPr/>
        </p:nvSpPr>
        <p:spPr>
          <a:xfrm>
            <a:off x="10058400" y="381000"/>
            <a:ext cx="1397000" cy="256480"/>
          </a:xfrm>
          <a:prstGeom prst="rect">
            <a:avLst/>
          </a:prstGeom>
          <a:noFill/>
        </p:spPr>
        <p:txBody>
          <a:bodyPr vert="horz" lIns="76200" tIns="50800" rIns="76200" bIns="50800" rtlCol="0">
            <a:spAutoFit/>
          </a:bodyPr>
          <a:lstStyle/>
          <a:p>
            <a:pPr algn="r"/>
            <a:r>
              <a:rPr lang="en-US" altLang="zh-CN" sz="1000" b="1">
                <a:solidFill>
                  <a:srgbClr val="2A8FA0"/>
                </a:solidFill>
                <a:latin typeface="Microsoft YaHei" panose="020B0503020204020204" pitchFamily="34" charset="-122"/>
              </a:rPr>
              <a:t>4 / 5</a:t>
            </a:r>
            <a:endParaRPr lang="zh-CN" altLang="en-US" sz="1000" b="1">
              <a:solidFill>
                <a:srgbClr val="2A8FA0"/>
              </a:solidFill>
              <a:latin typeface="Microsoft YaHei" panose="020B0503020204020204" pitchFamily="34" charset="-122"/>
            </a:endParaRPr>
          </a:p>
        </p:txBody>
      </p:sp>
      <p:sp>
        <p:nvSpPr>
          <p:cNvPr id="8" name="矩形 7">
            <a:extLst>
              <a:ext uri="{FF2B5EF4-FFF2-40B4-BE49-F238E27FC236}">
                <a16:creationId xmlns:a16="http://schemas.microsoft.com/office/drawing/2014/main" id="{ACEBA3A9-64FC-40F5-99A4-17BDB8EF406D}"/>
              </a:ext>
            </a:extLst>
          </p:cNvPr>
          <p:cNvSpPr/>
          <p:nvPr/>
        </p:nvSpPr>
        <p:spPr>
          <a:xfrm>
            <a:off x="609600" y="914400"/>
            <a:ext cx="1524000" cy="50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A45BD209-4F41-48E1-8F49-46498F333D00}"/>
              </a:ext>
            </a:extLst>
          </p:cNvPr>
          <p:cNvSpPr txBox="1"/>
          <p:nvPr/>
        </p:nvSpPr>
        <p:spPr>
          <a:xfrm>
            <a:off x="11455400" y="6350000"/>
            <a:ext cx="381000" cy="256480"/>
          </a:xfrm>
          <a:prstGeom prst="rect">
            <a:avLst/>
          </a:prstGeom>
          <a:noFill/>
        </p:spPr>
        <p:txBody>
          <a:bodyPr vert="horz" lIns="76200" tIns="50800" rIns="76200" bIns="50800" rtlCol="0">
            <a:spAutoFit/>
          </a:bodyPr>
          <a:lstStyle/>
          <a:p>
            <a:pPr algn="r"/>
            <a:r>
              <a:rPr lang="en-US" altLang="zh-CN" sz="1000">
                <a:solidFill>
                  <a:srgbClr val="5F6F82"/>
                </a:solidFill>
                <a:latin typeface="Microsoft YaHei" panose="020B0503020204020204" pitchFamily="34" charset="-122"/>
              </a:rPr>
              <a:t>16</a:t>
            </a:r>
            <a:endParaRPr lang="zh-CN" altLang="en-US" sz="1000">
              <a:solidFill>
                <a:srgbClr val="5F6F82"/>
              </a:solidFill>
              <a:latin typeface="Microsoft YaHei" panose="020B0503020204020204" pitchFamily="34" charset="-122"/>
            </a:endParaRPr>
          </a:p>
        </p:txBody>
      </p:sp>
      <p:sp>
        <p:nvSpPr>
          <p:cNvPr id="10" name="矩形: 圆角 9">
            <a:extLst>
              <a:ext uri="{FF2B5EF4-FFF2-40B4-BE49-F238E27FC236}">
                <a16:creationId xmlns:a16="http://schemas.microsoft.com/office/drawing/2014/main" id="{5C5545F2-86CB-4522-A4C9-82349B3FBEB6}"/>
              </a:ext>
            </a:extLst>
          </p:cNvPr>
          <p:cNvSpPr/>
          <p:nvPr/>
        </p:nvSpPr>
        <p:spPr>
          <a:xfrm>
            <a:off x="698500" y="1371600"/>
            <a:ext cx="3175000" cy="1714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B44900F9-C2E2-4ABA-BEA4-B04A1972F5C2}"/>
              </a:ext>
            </a:extLst>
          </p:cNvPr>
          <p:cNvSpPr/>
          <p:nvPr/>
        </p:nvSpPr>
        <p:spPr>
          <a:xfrm>
            <a:off x="698500" y="1473200"/>
            <a:ext cx="63500" cy="15113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39599DF9-D707-4CB1-8742-9B2EE4E3A0E3}"/>
              </a:ext>
            </a:extLst>
          </p:cNvPr>
          <p:cNvSpPr txBox="1"/>
          <p:nvPr/>
        </p:nvSpPr>
        <p:spPr>
          <a:xfrm>
            <a:off x="876300" y="1498600"/>
            <a:ext cx="2870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算力</a:t>
            </a:r>
            <a:r>
              <a:rPr lang="en-US" altLang="zh-CN" sz="1500" b="1">
                <a:solidFill>
                  <a:srgbClr val="1B3355"/>
                </a:solidFill>
                <a:latin typeface="Microsoft YaHei" panose="020B0503020204020204" pitchFamily="34" charset="-122"/>
              </a:rPr>
              <a:t>-</a:t>
            </a:r>
            <a:r>
              <a:rPr lang="zh-CN" altLang="en-US" sz="1500" b="1">
                <a:solidFill>
                  <a:srgbClr val="1B3355"/>
                </a:solidFill>
                <a:latin typeface="Microsoft YaHei" panose="020B0503020204020204" pitchFamily="34" charset="-122"/>
              </a:rPr>
              <a:t>任务</a:t>
            </a:r>
            <a:r>
              <a:rPr lang="en-US" altLang="zh-CN" sz="1500" b="1">
                <a:solidFill>
                  <a:srgbClr val="1B3355"/>
                </a:solidFill>
                <a:latin typeface="Microsoft YaHei" panose="020B0503020204020204" pitchFamily="34" charset="-122"/>
              </a:rPr>
              <a:t>-</a:t>
            </a:r>
            <a:r>
              <a:rPr lang="zh-CN" altLang="en-US" sz="1500" b="1">
                <a:solidFill>
                  <a:srgbClr val="1B3355"/>
                </a:solidFill>
                <a:latin typeface="Microsoft YaHei" panose="020B0503020204020204" pitchFamily="34" charset="-122"/>
              </a:rPr>
              <a:t>机器人协同建模</a:t>
            </a:r>
          </a:p>
        </p:txBody>
      </p:sp>
      <p:sp>
        <p:nvSpPr>
          <p:cNvPr id="13" name="文本框 12">
            <a:extLst>
              <a:ext uri="{FF2B5EF4-FFF2-40B4-BE49-F238E27FC236}">
                <a16:creationId xmlns:a16="http://schemas.microsoft.com/office/drawing/2014/main" id="{42506745-C1B1-4413-9DAF-6FF8EAF825A8}"/>
              </a:ext>
            </a:extLst>
          </p:cNvPr>
          <p:cNvSpPr txBox="1"/>
          <p:nvPr/>
        </p:nvSpPr>
        <p:spPr>
          <a:xfrm>
            <a:off x="876300" y="1905000"/>
            <a:ext cx="2895600" cy="441146"/>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解决机器人状态、任务属性和算力节点状态相互割裂的问题。</a:t>
            </a:r>
          </a:p>
        </p:txBody>
      </p:sp>
      <p:sp>
        <p:nvSpPr>
          <p:cNvPr id="14" name="矩形: 圆角 13">
            <a:extLst>
              <a:ext uri="{FF2B5EF4-FFF2-40B4-BE49-F238E27FC236}">
                <a16:creationId xmlns:a16="http://schemas.microsoft.com/office/drawing/2014/main" id="{C2151CF7-2FCB-4F8F-83E0-2E20D33BAC0A}"/>
              </a:ext>
            </a:extLst>
          </p:cNvPr>
          <p:cNvSpPr/>
          <p:nvPr/>
        </p:nvSpPr>
        <p:spPr>
          <a:xfrm>
            <a:off x="4445000" y="1371600"/>
            <a:ext cx="3175000" cy="1714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48CA562C-50F7-4C08-BEDA-810ABB87268C}"/>
              </a:ext>
            </a:extLst>
          </p:cNvPr>
          <p:cNvSpPr/>
          <p:nvPr/>
        </p:nvSpPr>
        <p:spPr>
          <a:xfrm>
            <a:off x="4445000" y="1473200"/>
            <a:ext cx="63500" cy="1511300"/>
          </a:xfrm>
          <a:prstGeom prst="rect">
            <a:avLst/>
          </a:prstGeom>
          <a:solidFill>
            <a:srgbClr val="DDAA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F1FE9B81-8658-4F9C-8E7A-7890B142A77B}"/>
              </a:ext>
            </a:extLst>
          </p:cNvPr>
          <p:cNvSpPr txBox="1"/>
          <p:nvPr/>
        </p:nvSpPr>
        <p:spPr>
          <a:xfrm>
            <a:off x="4622800" y="1498600"/>
            <a:ext cx="2870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面向拓扑的</a:t>
            </a:r>
            <a:r>
              <a:rPr lang="en-US" altLang="zh-CN" sz="1500" b="1">
                <a:solidFill>
                  <a:srgbClr val="1B3355"/>
                </a:solidFill>
                <a:latin typeface="Microsoft YaHei" panose="020B0503020204020204" pitchFamily="34" charset="-122"/>
              </a:rPr>
              <a:t>GAT</a:t>
            </a:r>
            <a:r>
              <a:rPr lang="zh-CN" altLang="en-US" sz="1500" b="1">
                <a:solidFill>
                  <a:srgbClr val="1B3355"/>
                </a:solidFill>
                <a:latin typeface="Microsoft YaHei" panose="020B0503020204020204" pitchFamily="34" charset="-122"/>
              </a:rPr>
              <a:t>特征提取</a:t>
            </a:r>
          </a:p>
        </p:txBody>
      </p:sp>
      <p:sp>
        <p:nvSpPr>
          <p:cNvPr id="17" name="文本框 16">
            <a:extLst>
              <a:ext uri="{FF2B5EF4-FFF2-40B4-BE49-F238E27FC236}">
                <a16:creationId xmlns:a16="http://schemas.microsoft.com/office/drawing/2014/main" id="{B6643415-AAAC-4081-86E3-927E0EC1B365}"/>
              </a:ext>
            </a:extLst>
          </p:cNvPr>
          <p:cNvSpPr txBox="1"/>
          <p:nvPr/>
        </p:nvSpPr>
        <p:spPr>
          <a:xfrm>
            <a:off x="4622800" y="1905000"/>
            <a:ext cx="2895600" cy="441146"/>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解决复杂拓扑关系难以被普通状态表示充分利用的问题。</a:t>
            </a:r>
          </a:p>
        </p:txBody>
      </p:sp>
      <p:sp>
        <p:nvSpPr>
          <p:cNvPr id="18" name="矩形: 圆角 17">
            <a:extLst>
              <a:ext uri="{FF2B5EF4-FFF2-40B4-BE49-F238E27FC236}">
                <a16:creationId xmlns:a16="http://schemas.microsoft.com/office/drawing/2014/main" id="{E932F1E6-141E-4B90-BF95-8B3CE2427A3C}"/>
              </a:ext>
            </a:extLst>
          </p:cNvPr>
          <p:cNvSpPr/>
          <p:nvPr/>
        </p:nvSpPr>
        <p:spPr>
          <a:xfrm>
            <a:off x="8191500" y="1371600"/>
            <a:ext cx="3175000" cy="1714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1F8D7BE2-47B9-4949-997F-1ADD76D70E3A}"/>
              </a:ext>
            </a:extLst>
          </p:cNvPr>
          <p:cNvSpPr/>
          <p:nvPr/>
        </p:nvSpPr>
        <p:spPr>
          <a:xfrm>
            <a:off x="8191500" y="1473200"/>
            <a:ext cx="63500" cy="1511300"/>
          </a:xfrm>
          <a:prstGeom prst="rect">
            <a:avLst/>
          </a:prstGeom>
          <a:solidFill>
            <a:srgbClr val="53A05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5CDEDA6-EED0-4B62-AE6C-558211EF0871}"/>
              </a:ext>
            </a:extLst>
          </p:cNvPr>
          <p:cNvSpPr txBox="1"/>
          <p:nvPr/>
        </p:nvSpPr>
        <p:spPr>
          <a:xfrm>
            <a:off x="8369300" y="1498600"/>
            <a:ext cx="2870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节点打分式</a:t>
            </a:r>
            <a:r>
              <a:rPr lang="en-US" altLang="zh-CN" sz="1500" b="1">
                <a:solidFill>
                  <a:srgbClr val="1B3355"/>
                </a:solidFill>
                <a:latin typeface="Microsoft YaHei" panose="020B0503020204020204" pitchFamily="34" charset="-122"/>
              </a:rPr>
              <a:t>PPO-GAT</a:t>
            </a:r>
            <a:endParaRPr lang="zh-CN" altLang="en-US" sz="1500" b="1">
              <a:solidFill>
                <a:srgbClr val="1B3355"/>
              </a:solidFill>
              <a:latin typeface="Microsoft YaHei" panose="020B0503020204020204" pitchFamily="34" charset="-122"/>
            </a:endParaRPr>
          </a:p>
        </p:txBody>
      </p:sp>
      <p:sp>
        <p:nvSpPr>
          <p:cNvPr id="21" name="文本框 20">
            <a:extLst>
              <a:ext uri="{FF2B5EF4-FFF2-40B4-BE49-F238E27FC236}">
                <a16:creationId xmlns:a16="http://schemas.microsoft.com/office/drawing/2014/main" id="{897BB24D-7743-454E-91DE-0DA24F8BDE03}"/>
              </a:ext>
            </a:extLst>
          </p:cNvPr>
          <p:cNvSpPr txBox="1"/>
          <p:nvPr/>
        </p:nvSpPr>
        <p:spPr>
          <a:xfrm>
            <a:off x="8369300" y="1905000"/>
            <a:ext cx="2895600" cy="441146"/>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解决图嵌入与离散节点选择动作不对齐的问题。</a:t>
            </a:r>
          </a:p>
        </p:txBody>
      </p:sp>
      <p:sp>
        <p:nvSpPr>
          <p:cNvPr id="22" name="矩形: 圆角 21">
            <a:extLst>
              <a:ext uri="{FF2B5EF4-FFF2-40B4-BE49-F238E27FC236}">
                <a16:creationId xmlns:a16="http://schemas.microsoft.com/office/drawing/2014/main" id="{72E72FEB-4A48-4E0D-9692-94AE22F09C3E}"/>
              </a:ext>
            </a:extLst>
          </p:cNvPr>
          <p:cNvSpPr/>
          <p:nvPr/>
        </p:nvSpPr>
        <p:spPr>
          <a:xfrm>
            <a:off x="2540000" y="3581400"/>
            <a:ext cx="3175000" cy="1714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9E2E3CA0-1E03-41CB-9C9A-7ADAD0587890}"/>
              </a:ext>
            </a:extLst>
          </p:cNvPr>
          <p:cNvSpPr/>
          <p:nvPr/>
        </p:nvSpPr>
        <p:spPr>
          <a:xfrm>
            <a:off x="2540000" y="3683000"/>
            <a:ext cx="63500" cy="1511300"/>
          </a:xfrm>
          <a:prstGeom prst="rect">
            <a:avLst/>
          </a:prstGeom>
          <a:solidFill>
            <a:srgbClr val="1C67A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28258474-F4BE-4C43-BADD-D49526C53EAF}"/>
              </a:ext>
            </a:extLst>
          </p:cNvPr>
          <p:cNvSpPr txBox="1"/>
          <p:nvPr/>
        </p:nvSpPr>
        <p:spPr>
          <a:xfrm>
            <a:off x="2717800" y="3708400"/>
            <a:ext cx="2870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上下文动态奖励函数</a:t>
            </a:r>
          </a:p>
        </p:txBody>
      </p:sp>
      <p:sp>
        <p:nvSpPr>
          <p:cNvPr id="25" name="文本框 24">
            <a:extLst>
              <a:ext uri="{FF2B5EF4-FFF2-40B4-BE49-F238E27FC236}">
                <a16:creationId xmlns:a16="http://schemas.microsoft.com/office/drawing/2014/main" id="{A2D58A83-D22D-4B0C-80BE-DA2C26288F46}"/>
              </a:ext>
            </a:extLst>
          </p:cNvPr>
          <p:cNvSpPr txBox="1"/>
          <p:nvPr/>
        </p:nvSpPr>
        <p:spPr>
          <a:xfrm>
            <a:off x="2717800" y="4114800"/>
            <a:ext cx="2895600" cy="441146"/>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解决固定奖励权重难以适应多场景调度目标变化的问题。</a:t>
            </a:r>
          </a:p>
        </p:txBody>
      </p:sp>
      <p:sp>
        <p:nvSpPr>
          <p:cNvPr id="26" name="矩形: 圆角 25">
            <a:extLst>
              <a:ext uri="{FF2B5EF4-FFF2-40B4-BE49-F238E27FC236}">
                <a16:creationId xmlns:a16="http://schemas.microsoft.com/office/drawing/2014/main" id="{A33199D2-2555-4C86-B04A-B175203A2CCA}"/>
              </a:ext>
            </a:extLst>
          </p:cNvPr>
          <p:cNvSpPr/>
          <p:nvPr/>
        </p:nvSpPr>
        <p:spPr>
          <a:xfrm>
            <a:off x="6502400" y="3581400"/>
            <a:ext cx="3175000" cy="1714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FD87520E-7F2E-4394-910D-739BB0133156}"/>
              </a:ext>
            </a:extLst>
          </p:cNvPr>
          <p:cNvSpPr/>
          <p:nvPr/>
        </p:nvSpPr>
        <p:spPr>
          <a:xfrm>
            <a:off x="6502400" y="3683000"/>
            <a:ext cx="63500" cy="1511300"/>
          </a:xfrm>
          <a:prstGeom prst="rect">
            <a:avLst/>
          </a:prstGeom>
          <a:solidFill>
            <a:srgbClr val="A33B7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C64970FF-8537-45C4-B536-2A37E6105FB0}"/>
              </a:ext>
            </a:extLst>
          </p:cNvPr>
          <p:cNvSpPr txBox="1"/>
          <p:nvPr/>
        </p:nvSpPr>
        <p:spPr>
          <a:xfrm>
            <a:off x="6680200" y="3708400"/>
            <a:ext cx="28702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可复现实验流程</a:t>
            </a:r>
          </a:p>
        </p:txBody>
      </p:sp>
      <p:sp>
        <p:nvSpPr>
          <p:cNvPr id="29" name="文本框 28">
            <a:extLst>
              <a:ext uri="{FF2B5EF4-FFF2-40B4-BE49-F238E27FC236}">
                <a16:creationId xmlns:a16="http://schemas.microsoft.com/office/drawing/2014/main" id="{E4E77654-1D46-46E3-8214-518E25142ABE}"/>
              </a:ext>
            </a:extLst>
          </p:cNvPr>
          <p:cNvSpPr txBox="1"/>
          <p:nvPr/>
        </p:nvSpPr>
        <p:spPr>
          <a:xfrm>
            <a:off x="6680200" y="4114800"/>
            <a:ext cx="2895600" cy="441146"/>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解决调度实验难以追踪、难以复核、难以解释的问题。</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7C85134-CACE-4DF4-B155-CAEE2B2ED245}"/>
              </a:ext>
            </a:extLst>
          </p:cNvPr>
          <p:cNvSpPr>
            <a:spLocks noGrp="1"/>
          </p:cNvSpPr>
          <p:nvPr>
            <p:ph type="title"/>
          </p:nvPr>
        </p:nvSpPr>
        <p:spPr/>
        <p:txBody>
          <a:bodyPr/>
          <a:lstStyle/>
          <a:p>
            <a:endParaRPr lang="zh-CN" altLang="en-US"/>
          </a:p>
        </p:txBody>
      </p:sp>
      <p:sp>
        <p:nvSpPr>
          <p:cNvPr id="6" name="文本框 5">
            <a:extLst>
              <a:ext uri="{FF2B5EF4-FFF2-40B4-BE49-F238E27FC236}">
                <a16:creationId xmlns:a16="http://schemas.microsoft.com/office/drawing/2014/main" id="{858D6B93-2005-47D5-BBB3-5E5170A2151F}"/>
              </a:ext>
            </a:extLst>
          </p:cNvPr>
          <p:cNvSpPr txBox="1"/>
          <p:nvPr/>
        </p:nvSpPr>
        <p:spPr>
          <a:xfrm>
            <a:off x="533400" y="304800"/>
            <a:ext cx="9906000" cy="456535"/>
          </a:xfrm>
          <a:prstGeom prst="rect">
            <a:avLst/>
          </a:prstGeom>
          <a:noFill/>
        </p:spPr>
        <p:txBody>
          <a:bodyPr vert="horz" lIns="76200" tIns="50800" rIns="76200" bIns="50800" rtlCol="0">
            <a:spAutoFit/>
          </a:bodyPr>
          <a:lstStyle/>
          <a:p>
            <a:r>
              <a:rPr lang="zh-CN" altLang="en-US" sz="2300" b="1">
                <a:solidFill>
                  <a:srgbClr val="1B3355"/>
                </a:solidFill>
                <a:latin typeface="Microsoft YaHei" panose="020B0503020204020204" pitchFamily="34" charset="-122"/>
              </a:rPr>
              <a:t>当前不足：从“有效性验证”走向“严谨性验证”</a:t>
            </a:r>
          </a:p>
        </p:txBody>
      </p:sp>
      <p:sp>
        <p:nvSpPr>
          <p:cNvPr id="7" name="文本框 6">
            <a:extLst>
              <a:ext uri="{FF2B5EF4-FFF2-40B4-BE49-F238E27FC236}">
                <a16:creationId xmlns:a16="http://schemas.microsoft.com/office/drawing/2014/main" id="{21B47D32-DF8E-4A23-AB2E-07BDE756DFE9}"/>
              </a:ext>
            </a:extLst>
          </p:cNvPr>
          <p:cNvSpPr txBox="1"/>
          <p:nvPr/>
        </p:nvSpPr>
        <p:spPr>
          <a:xfrm>
            <a:off x="10058400" y="381000"/>
            <a:ext cx="1397000" cy="256480"/>
          </a:xfrm>
          <a:prstGeom prst="rect">
            <a:avLst/>
          </a:prstGeom>
          <a:noFill/>
        </p:spPr>
        <p:txBody>
          <a:bodyPr vert="horz" lIns="76200" tIns="50800" rIns="76200" bIns="50800" rtlCol="0">
            <a:spAutoFit/>
          </a:bodyPr>
          <a:lstStyle/>
          <a:p>
            <a:pPr algn="r"/>
            <a:r>
              <a:rPr lang="en-US" altLang="zh-CN" sz="1000" b="1">
                <a:solidFill>
                  <a:srgbClr val="2A8FA0"/>
                </a:solidFill>
                <a:latin typeface="Microsoft YaHei" panose="020B0503020204020204" pitchFamily="34" charset="-122"/>
              </a:rPr>
              <a:t>5 / 5</a:t>
            </a:r>
            <a:endParaRPr lang="zh-CN" altLang="en-US" sz="1000" b="1">
              <a:solidFill>
                <a:srgbClr val="2A8FA0"/>
              </a:solidFill>
              <a:latin typeface="Microsoft YaHei" panose="020B0503020204020204" pitchFamily="34" charset="-122"/>
            </a:endParaRPr>
          </a:p>
        </p:txBody>
      </p:sp>
      <p:sp>
        <p:nvSpPr>
          <p:cNvPr id="8" name="矩形 7">
            <a:extLst>
              <a:ext uri="{FF2B5EF4-FFF2-40B4-BE49-F238E27FC236}">
                <a16:creationId xmlns:a16="http://schemas.microsoft.com/office/drawing/2014/main" id="{2DE50983-9472-4023-82CC-9DCAEAC02F43}"/>
              </a:ext>
            </a:extLst>
          </p:cNvPr>
          <p:cNvSpPr/>
          <p:nvPr/>
        </p:nvSpPr>
        <p:spPr>
          <a:xfrm>
            <a:off x="609600" y="914400"/>
            <a:ext cx="1524000" cy="50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817FEBF5-4C15-4144-8A0A-CDB2431110EE}"/>
              </a:ext>
            </a:extLst>
          </p:cNvPr>
          <p:cNvSpPr txBox="1"/>
          <p:nvPr/>
        </p:nvSpPr>
        <p:spPr>
          <a:xfrm>
            <a:off x="11455400" y="6350000"/>
            <a:ext cx="381000" cy="256480"/>
          </a:xfrm>
          <a:prstGeom prst="rect">
            <a:avLst/>
          </a:prstGeom>
          <a:noFill/>
        </p:spPr>
        <p:txBody>
          <a:bodyPr vert="horz" lIns="76200" tIns="50800" rIns="76200" bIns="50800" rtlCol="0">
            <a:spAutoFit/>
          </a:bodyPr>
          <a:lstStyle/>
          <a:p>
            <a:pPr algn="r"/>
            <a:r>
              <a:rPr lang="en-US" altLang="zh-CN" sz="1000">
                <a:solidFill>
                  <a:srgbClr val="5F6F82"/>
                </a:solidFill>
                <a:latin typeface="Microsoft YaHei" panose="020B0503020204020204" pitchFamily="34" charset="-122"/>
              </a:rPr>
              <a:t>17</a:t>
            </a:r>
            <a:endParaRPr lang="zh-CN" altLang="en-US" sz="1000">
              <a:solidFill>
                <a:srgbClr val="5F6F82"/>
              </a:solidFill>
              <a:latin typeface="Microsoft YaHei" panose="020B0503020204020204" pitchFamily="34" charset="-122"/>
            </a:endParaRPr>
          </a:p>
        </p:txBody>
      </p:sp>
      <p:sp>
        <p:nvSpPr>
          <p:cNvPr id="10" name="矩形: 圆角 9">
            <a:extLst>
              <a:ext uri="{FF2B5EF4-FFF2-40B4-BE49-F238E27FC236}">
                <a16:creationId xmlns:a16="http://schemas.microsoft.com/office/drawing/2014/main" id="{6A663024-CEC2-4300-AA5E-CEC3054FC14D}"/>
              </a:ext>
            </a:extLst>
          </p:cNvPr>
          <p:cNvSpPr/>
          <p:nvPr/>
        </p:nvSpPr>
        <p:spPr>
          <a:xfrm>
            <a:off x="889000" y="1460500"/>
            <a:ext cx="3111500" cy="3111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951A8DAC-4F6A-4EFF-A0FC-6A1F73F68A10}"/>
              </a:ext>
            </a:extLst>
          </p:cNvPr>
          <p:cNvSpPr/>
          <p:nvPr/>
        </p:nvSpPr>
        <p:spPr>
          <a:xfrm>
            <a:off x="889000" y="1562100"/>
            <a:ext cx="63500" cy="29083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8FC49176-571B-4775-9E64-4487BAF54B96}"/>
              </a:ext>
            </a:extLst>
          </p:cNvPr>
          <p:cNvSpPr txBox="1"/>
          <p:nvPr/>
        </p:nvSpPr>
        <p:spPr>
          <a:xfrm>
            <a:off x="1066800" y="1587500"/>
            <a:ext cx="28067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规模与泛化</a:t>
            </a:r>
          </a:p>
        </p:txBody>
      </p:sp>
      <p:sp>
        <p:nvSpPr>
          <p:cNvPr id="13" name="文本框 12">
            <a:extLst>
              <a:ext uri="{FF2B5EF4-FFF2-40B4-BE49-F238E27FC236}">
                <a16:creationId xmlns:a16="http://schemas.microsoft.com/office/drawing/2014/main" id="{AEEF88A2-9969-426F-B842-27707F4420D0}"/>
              </a:ext>
            </a:extLst>
          </p:cNvPr>
          <p:cNvSpPr txBox="1"/>
          <p:nvPr/>
        </p:nvSpPr>
        <p:spPr>
          <a:xfrm>
            <a:off x="1066800" y="1993900"/>
            <a:ext cx="2832100" cy="441146"/>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已扩展到</a:t>
            </a:r>
            <a:r>
              <a:rPr lang="en-US" altLang="zh-CN" sz="1100">
                <a:solidFill>
                  <a:srgbClr val="5F6F82"/>
                </a:solidFill>
                <a:latin typeface="Microsoft YaHei" panose="020B0503020204020204" pitchFamily="34" charset="-122"/>
              </a:rPr>
              <a:t>20</a:t>
            </a:r>
            <a:r>
              <a:rPr lang="zh-CN" altLang="en-US" sz="1100">
                <a:solidFill>
                  <a:srgbClr val="5F6F82"/>
                </a:solidFill>
                <a:latin typeface="Microsoft YaHei" panose="020B0503020204020204" pitchFamily="34" charset="-122"/>
              </a:rPr>
              <a:t>机器人</a:t>
            </a:r>
            <a:r>
              <a:rPr lang="en-US" altLang="zh-CN" sz="1100">
                <a:solidFill>
                  <a:srgbClr val="5F6F82"/>
                </a:solidFill>
                <a:latin typeface="Microsoft YaHei" panose="020B0503020204020204" pitchFamily="34" charset="-122"/>
              </a:rPr>
              <a:t>/10</a:t>
            </a:r>
            <a:r>
              <a:rPr lang="zh-CN" altLang="en-US" sz="1100">
                <a:solidFill>
                  <a:srgbClr val="5F6F82"/>
                </a:solidFill>
                <a:latin typeface="Microsoft YaHei" panose="020B0503020204020204" pitchFamily="34" charset="-122"/>
              </a:rPr>
              <a:t>节点，但仍需更大规模和更多拓扑结构验证训练稳定性。</a:t>
            </a:r>
          </a:p>
        </p:txBody>
      </p:sp>
      <p:sp>
        <p:nvSpPr>
          <p:cNvPr id="14" name="矩形: 圆角 13">
            <a:extLst>
              <a:ext uri="{FF2B5EF4-FFF2-40B4-BE49-F238E27FC236}">
                <a16:creationId xmlns:a16="http://schemas.microsoft.com/office/drawing/2014/main" id="{DD0C2FEF-1BEC-4D7F-BE02-6ABA8D7C0D80}"/>
              </a:ext>
            </a:extLst>
          </p:cNvPr>
          <p:cNvSpPr/>
          <p:nvPr/>
        </p:nvSpPr>
        <p:spPr>
          <a:xfrm>
            <a:off x="4635500" y="1460500"/>
            <a:ext cx="3111500" cy="3111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B379617B-B72A-428B-A67F-C85D11C80679}"/>
              </a:ext>
            </a:extLst>
          </p:cNvPr>
          <p:cNvSpPr/>
          <p:nvPr/>
        </p:nvSpPr>
        <p:spPr>
          <a:xfrm>
            <a:off x="4635500" y="1562100"/>
            <a:ext cx="63500" cy="2908300"/>
          </a:xfrm>
          <a:prstGeom prst="rect">
            <a:avLst/>
          </a:prstGeom>
          <a:solidFill>
            <a:srgbClr val="DDAA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99B70346-61CB-43D2-A099-96CFE27FDD1B}"/>
              </a:ext>
            </a:extLst>
          </p:cNvPr>
          <p:cNvSpPr txBox="1"/>
          <p:nvPr/>
        </p:nvSpPr>
        <p:spPr>
          <a:xfrm>
            <a:off x="4813300" y="1587500"/>
            <a:ext cx="28067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消融与统计</a:t>
            </a:r>
          </a:p>
        </p:txBody>
      </p:sp>
      <p:sp>
        <p:nvSpPr>
          <p:cNvPr id="17" name="文本框 16">
            <a:extLst>
              <a:ext uri="{FF2B5EF4-FFF2-40B4-BE49-F238E27FC236}">
                <a16:creationId xmlns:a16="http://schemas.microsoft.com/office/drawing/2014/main" id="{959A10DB-108A-49F6-8797-B1F69DF6D8AA}"/>
              </a:ext>
            </a:extLst>
          </p:cNvPr>
          <p:cNvSpPr txBox="1"/>
          <p:nvPr/>
        </p:nvSpPr>
        <p:spPr>
          <a:xfrm>
            <a:off x="4813300" y="1993900"/>
            <a:ext cx="2832100" cy="441146"/>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需要补充去除</a:t>
            </a:r>
            <a:r>
              <a:rPr lang="en-US" altLang="zh-CN" sz="1100">
                <a:solidFill>
                  <a:srgbClr val="5F6F82"/>
                </a:solidFill>
                <a:latin typeface="Microsoft YaHei" panose="020B0503020204020204" pitchFamily="34" charset="-122"/>
              </a:rPr>
              <a:t>GAT</a:t>
            </a:r>
            <a:r>
              <a:rPr lang="zh-CN" altLang="en-US" sz="1100">
                <a:solidFill>
                  <a:srgbClr val="5F6F82"/>
                </a:solidFill>
                <a:latin typeface="Microsoft YaHei" panose="020B0503020204020204" pitchFamily="34" charset="-122"/>
              </a:rPr>
              <a:t>、去除节点打分、去除动态奖励、去除充电机制等消融实验。</a:t>
            </a:r>
          </a:p>
        </p:txBody>
      </p:sp>
      <p:sp>
        <p:nvSpPr>
          <p:cNvPr id="18" name="矩形: 圆角 17">
            <a:extLst>
              <a:ext uri="{FF2B5EF4-FFF2-40B4-BE49-F238E27FC236}">
                <a16:creationId xmlns:a16="http://schemas.microsoft.com/office/drawing/2014/main" id="{57F274A6-81BE-4F24-A614-AE1F8F0B5117}"/>
              </a:ext>
            </a:extLst>
          </p:cNvPr>
          <p:cNvSpPr/>
          <p:nvPr/>
        </p:nvSpPr>
        <p:spPr>
          <a:xfrm>
            <a:off x="8382000" y="1460500"/>
            <a:ext cx="3111500" cy="3111500"/>
          </a:xfrm>
          <a:prstGeom prst="roundRect">
            <a:avLst>
              <a:gd name="adj" fmla="val 8000"/>
            </a:avLst>
          </a:prstGeom>
          <a:solidFill>
            <a:srgbClr val="F5F8FB"/>
          </a:solidFill>
          <a:ln>
            <a:solidFill>
              <a:srgbClr val="D9E2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A76FC529-777C-4299-A0D4-443000EF67B7}"/>
              </a:ext>
            </a:extLst>
          </p:cNvPr>
          <p:cNvSpPr/>
          <p:nvPr/>
        </p:nvSpPr>
        <p:spPr>
          <a:xfrm>
            <a:off x="8382000" y="1562100"/>
            <a:ext cx="63500" cy="2908300"/>
          </a:xfrm>
          <a:prstGeom prst="rect">
            <a:avLst/>
          </a:prstGeom>
          <a:solidFill>
            <a:srgbClr val="53A05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CFD6EE4-D1B9-4675-84EF-E1885CA0B316}"/>
              </a:ext>
            </a:extLst>
          </p:cNvPr>
          <p:cNvSpPr txBox="1"/>
          <p:nvPr/>
        </p:nvSpPr>
        <p:spPr>
          <a:xfrm>
            <a:off x="8559800" y="1587500"/>
            <a:ext cx="2806700" cy="333425"/>
          </a:xfrm>
          <a:prstGeom prst="rect">
            <a:avLst/>
          </a:prstGeom>
          <a:noFill/>
        </p:spPr>
        <p:txBody>
          <a:bodyPr vert="horz" lIns="76200" tIns="50800" rIns="76200" bIns="50800" rtlCol="0">
            <a:spAutoFit/>
          </a:bodyPr>
          <a:lstStyle/>
          <a:p>
            <a:r>
              <a:rPr lang="zh-CN" altLang="en-US" sz="1500" b="1">
                <a:solidFill>
                  <a:srgbClr val="1B3355"/>
                </a:solidFill>
                <a:latin typeface="Microsoft YaHei" panose="020B0503020204020204" pitchFamily="34" charset="-122"/>
              </a:rPr>
              <a:t>系统真实性</a:t>
            </a:r>
          </a:p>
        </p:txBody>
      </p:sp>
      <p:sp>
        <p:nvSpPr>
          <p:cNvPr id="21" name="文本框 20">
            <a:extLst>
              <a:ext uri="{FF2B5EF4-FFF2-40B4-BE49-F238E27FC236}">
                <a16:creationId xmlns:a16="http://schemas.microsoft.com/office/drawing/2014/main" id="{0480E8F4-0555-458A-8C3A-6F822E7638AC}"/>
              </a:ext>
            </a:extLst>
          </p:cNvPr>
          <p:cNvSpPr txBox="1"/>
          <p:nvPr/>
        </p:nvSpPr>
        <p:spPr>
          <a:xfrm>
            <a:off x="8559800" y="1993900"/>
            <a:ext cx="2832100" cy="441146"/>
          </a:xfrm>
          <a:prstGeom prst="rect">
            <a:avLst/>
          </a:prstGeom>
          <a:noFill/>
        </p:spPr>
        <p:txBody>
          <a:bodyPr vert="horz" lIns="76200" tIns="50800" rIns="76200" bIns="50800" rtlCol="0">
            <a:spAutoFit/>
          </a:bodyPr>
          <a:lstStyle/>
          <a:p>
            <a:r>
              <a:rPr lang="zh-CN" altLang="en-US" sz="1100">
                <a:solidFill>
                  <a:srgbClr val="5F6F82"/>
                </a:solidFill>
                <a:latin typeface="Microsoft YaHei" panose="020B0503020204020204" pitchFamily="34" charset="-122"/>
              </a:rPr>
              <a:t>轻量验证已经跑通，但</a:t>
            </a:r>
            <a:r>
              <a:rPr lang="en-US" altLang="zh-CN" sz="1100">
                <a:solidFill>
                  <a:srgbClr val="5F6F82"/>
                </a:solidFill>
                <a:latin typeface="Microsoft YaHei" panose="020B0503020204020204" pitchFamily="34" charset="-122"/>
              </a:rPr>
              <a:t>Gazebo/ROS2</a:t>
            </a:r>
            <a:r>
              <a:rPr lang="zh-CN" altLang="en-US" sz="1100">
                <a:solidFill>
                  <a:srgbClr val="5F6F82"/>
                </a:solidFill>
                <a:latin typeface="Microsoft YaHei" panose="020B0503020204020204" pitchFamily="34" charset="-122"/>
              </a:rPr>
              <a:t>或更真实通信过程仍需接入。</a:t>
            </a:r>
          </a:p>
        </p:txBody>
      </p:sp>
      <p:sp>
        <p:nvSpPr>
          <p:cNvPr id="22" name="文本框 21">
            <a:extLst>
              <a:ext uri="{FF2B5EF4-FFF2-40B4-BE49-F238E27FC236}">
                <a16:creationId xmlns:a16="http://schemas.microsoft.com/office/drawing/2014/main" id="{88447168-096D-4AF9-8691-9E8510DC6D8C}"/>
              </a:ext>
            </a:extLst>
          </p:cNvPr>
          <p:cNvSpPr txBox="1"/>
          <p:nvPr/>
        </p:nvSpPr>
        <p:spPr>
          <a:xfrm>
            <a:off x="1117600" y="5143500"/>
            <a:ext cx="9652000" cy="364202"/>
          </a:xfrm>
          <a:prstGeom prst="rect">
            <a:avLst/>
          </a:prstGeom>
          <a:noFill/>
        </p:spPr>
        <p:txBody>
          <a:bodyPr vert="horz" lIns="76200" tIns="50800" rIns="76200" bIns="50800" rtlCol="0">
            <a:spAutoFit/>
          </a:bodyPr>
          <a:lstStyle/>
          <a:p>
            <a:pPr algn="ctr"/>
            <a:r>
              <a:rPr lang="zh-CN" altLang="en-US" sz="1700" b="1">
                <a:solidFill>
                  <a:srgbClr val="1B3355"/>
                </a:solidFill>
                <a:latin typeface="Microsoft YaHei" panose="020B0503020204020204" pitchFamily="34" charset="-122"/>
              </a:rPr>
              <a:t>论文写作重点：方法公式化、实验图表解释、相关工作归纳、创新点凝练。</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060224F-1D8D-4055-974B-4043AFA4AE25}"/>
              </a:ext>
            </a:extLst>
          </p:cNvPr>
          <p:cNvSpPr>
            <a:spLocks noGrp="1"/>
          </p:cNvSpPr>
          <p:nvPr>
            <p:ph type="title"/>
          </p:nvPr>
        </p:nvSpPr>
        <p:spPr/>
        <p:txBody>
          <a:bodyPr/>
          <a:lstStyle/>
          <a:p>
            <a:endParaRPr lang="zh-CN" altLang="en-US"/>
          </a:p>
        </p:txBody>
      </p:sp>
      <p:sp>
        <p:nvSpPr>
          <p:cNvPr id="6" name="文本框 5">
            <a:extLst>
              <a:ext uri="{FF2B5EF4-FFF2-40B4-BE49-F238E27FC236}">
                <a16:creationId xmlns:a16="http://schemas.microsoft.com/office/drawing/2014/main" id="{B837DD69-720D-432D-ABAA-71AE7C9D34C2}"/>
              </a:ext>
            </a:extLst>
          </p:cNvPr>
          <p:cNvSpPr txBox="1"/>
          <p:nvPr/>
        </p:nvSpPr>
        <p:spPr>
          <a:xfrm>
            <a:off x="533400" y="304800"/>
            <a:ext cx="9906000" cy="456535"/>
          </a:xfrm>
          <a:prstGeom prst="rect">
            <a:avLst/>
          </a:prstGeom>
          <a:noFill/>
        </p:spPr>
        <p:txBody>
          <a:bodyPr vert="horz" lIns="76200" tIns="50800" rIns="76200" bIns="50800" rtlCol="0">
            <a:spAutoFit/>
          </a:bodyPr>
          <a:lstStyle/>
          <a:p>
            <a:r>
              <a:rPr lang="zh-CN" altLang="en-US" sz="2300" b="1">
                <a:solidFill>
                  <a:srgbClr val="1B3355"/>
                </a:solidFill>
                <a:latin typeface="Microsoft YaHei" panose="020B0503020204020204" pitchFamily="34" charset="-122"/>
              </a:rPr>
              <a:t>下一阶段计划：明确实验产出与论文推进节奏</a:t>
            </a:r>
          </a:p>
        </p:txBody>
      </p:sp>
      <p:sp>
        <p:nvSpPr>
          <p:cNvPr id="7" name="文本框 6">
            <a:extLst>
              <a:ext uri="{FF2B5EF4-FFF2-40B4-BE49-F238E27FC236}">
                <a16:creationId xmlns:a16="http://schemas.microsoft.com/office/drawing/2014/main" id="{291B875F-0B29-4959-AC3F-69BBDEF0C6AE}"/>
              </a:ext>
            </a:extLst>
          </p:cNvPr>
          <p:cNvSpPr txBox="1"/>
          <p:nvPr/>
        </p:nvSpPr>
        <p:spPr>
          <a:xfrm>
            <a:off x="10058400" y="381000"/>
            <a:ext cx="1397000" cy="256480"/>
          </a:xfrm>
          <a:prstGeom prst="rect">
            <a:avLst/>
          </a:prstGeom>
          <a:noFill/>
        </p:spPr>
        <p:txBody>
          <a:bodyPr vert="horz" lIns="76200" tIns="50800" rIns="76200" bIns="50800" rtlCol="0">
            <a:spAutoFit/>
          </a:bodyPr>
          <a:lstStyle/>
          <a:p>
            <a:pPr algn="r"/>
            <a:r>
              <a:rPr lang="en-US" altLang="zh-CN" sz="1000" b="1">
                <a:solidFill>
                  <a:srgbClr val="2A8FA0"/>
                </a:solidFill>
                <a:latin typeface="Microsoft YaHei" panose="020B0503020204020204" pitchFamily="34" charset="-122"/>
              </a:rPr>
              <a:t>5 / 5</a:t>
            </a:r>
            <a:endParaRPr lang="zh-CN" altLang="en-US" sz="1000" b="1">
              <a:solidFill>
                <a:srgbClr val="2A8FA0"/>
              </a:solidFill>
              <a:latin typeface="Microsoft YaHei" panose="020B0503020204020204" pitchFamily="34" charset="-122"/>
            </a:endParaRPr>
          </a:p>
        </p:txBody>
      </p:sp>
      <p:sp>
        <p:nvSpPr>
          <p:cNvPr id="8" name="矩形 7">
            <a:extLst>
              <a:ext uri="{FF2B5EF4-FFF2-40B4-BE49-F238E27FC236}">
                <a16:creationId xmlns:a16="http://schemas.microsoft.com/office/drawing/2014/main" id="{05ADC2AE-619F-413F-A3B7-729A838CF3E1}"/>
              </a:ext>
            </a:extLst>
          </p:cNvPr>
          <p:cNvSpPr/>
          <p:nvPr/>
        </p:nvSpPr>
        <p:spPr>
          <a:xfrm>
            <a:off x="609600" y="914400"/>
            <a:ext cx="1524000" cy="50800"/>
          </a:xfrm>
          <a:prstGeom prst="rect">
            <a:avLst/>
          </a:prstGeom>
          <a:solidFill>
            <a:srgbClr val="2A8FA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994DDEA8-D4B8-433D-8267-01A76F6CB330}"/>
              </a:ext>
            </a:extLst>
          </p:cNvPr>
          <p:cNvSpPr txBox="1"/>
          <p:nvPr/>
        </p:nvSpPr>
        <p:spPr>
          <a:xfrm>
            <a:off x="11455400" y="6350000"/>
            <a:ext cx="381000" cy="256480"/>
          </a:xfrm>
          <a:prstGeom prst="rect">
            <a:avLst/>
          </a:prstGeom>
          <a:noFill/>
        </p:spPr>
        <p:txBody>
          <a:bodyPr vert="horz" lIns="76200" tIns="50800" rIns="76200" bIns="50800" rtlCol="0">
            <a:spAutoFit/>
          </a:bodyPr>
          <a:lstStyle/>
          <a:p>
            <a:pPr algn="r"/>
            <a:r>
              <a:rPr lang="en-US" altLang="zh-CN" sz="1000">
                <a:solidFill>
                  <a:srgbClr val="5F6F82"/>
                </a:solidFill>
                <a:latin typeface="Microsoft YaHei" panose="020B0503020204020204" pitchFamily="34" charset="-122"/>
              </a:rPr>
              <a:t>18</a:t>
            </a:r>
            <a:endParaRPr lang="zh-CN" altLang="en-US" sz="1000">
              <a:solidFill>
                <a:srgbClr val="5F6F82"/>
              </a:solidFill>
              <a:latin typeface="Microsoft YaHei" panose="020B0503020204020204" pitchFamily="34" charset="-122"/>
            </a:endParaRPr>
          </a:p>
        </p:txBody>
      </p:sp>
      <p:graphicFrame>
        <p:nvGraphicFramePr>
          <p:cNvPr id="10" name="表格 9">
            <a:extLst>
              <a:ext uri="{FF2B5EF4-FFF2-40B4-BE49-F238E27FC236}">
                <a16:creationId xmlns:a16="http://schemas.microsoft.com/office/drawing/2014/main" id="{6C44E9B8-0101-460C-B9A2-F9DCD655B36F}"/>
              </a:ext>
            </a:extLst>
          </p:cNvPr>
          <p:cNvGraphicFramePr>
            <a:graphicFrameLocks noGrp="1"/>
          </p:cNvGraphicFramePr>
          <p:nvPr>
            <p:extLst>
              <p:ext uri="{D42A27DB-BD31-4B8C-83A1-F6EECF244321}">
                <p14:modId xmlns:p14="http://schemas.microsoft.com/office/powerpoint/2010/main" val="3870149416"/>
              </p:ext>
            </p:extLst>
          </p:nvPr>
        </p:nvGraphicFramePr>
        <p:xfrm>
          <a:off x="736600" y="1333500"/>
          <a:ext cx="10604500" cy="3429000"/>
        </p:xfrm>
        <a:graphic>
          <a:graphicData uri="http://schemas.openxmlformats.org/drawingml/2006/table">
            <a:tbl>
              <a:tblPr firstRow="1" bandRow="1">
                <a:tableStyleId>{5C22544A-7EE6-4342-B048-85BDC9FD1C3A}</a:tableStyleId>
              </a:tblPr>
              <a:tblGrid>
                <a:gridCol w="3534833">
                  <a:extLst>
                    <a:ext uri="{9D8B030D-6E8A-4147-A177-3AD203B41FA5}">
                      <a16:colId xmlns:a16="http://schemas.microsoft.com/office/drawing/2014/main" val="3221248539"/>
                    </a:ext>
                  </a:extLst>
                </a:gridCol>
                <a:gridCol w="3534833">
                  <a:extLst>
                    <a:ext uri="{9D8B030D-6E8A-4147-A177-3AD203B41FA5}">
                      <a16:colId xmlns:a16="http://schemas.microsoft.com/office/drawing/2014/main" val="4163670215"/>
                    </a:ext>
                  </a:extLst>
                </a:gridCol>
                <a:gridCol w="3534833">
                  <a:extLst>
                    <a:ext uri="{9D8B030D-6E8A-4147-A177-3AD203B41FA5}">
                      <a16:colId xmlns:a16="http://schemas.microsoft.com/office/drawing/2014/main" val="2418657482"/>
                    </a:ext>
                  </a:extLst>
                </a:gridCol>
              </a:tblGrid>
              <a:tr h="571500">
                <a:tc>
                  <a:txBody>
                    <a:bodyPr/>
                    <a:lstStyle/>
                    <a:p>
                      <a:r>
                        <a:rPr lang="zh-CN" altLang="en-US" sz="1000" b="1">
                          <a:solidFill>
                            <a:srgbClr val="FFFFFF"/>
                          </a:solidFill>
                          <a:latin typeface="Microsoft YaHei" panose="020B0503020204020204" pitchFamily="34" charset="-122"/>
                        </a:rPr>
                        <a:t>时间</a:t>
                      </a:r>
                    </a:p>
                  </a:txBody>
                  <a:tcPr>
                    <a:solidFill>
                      <a:srgbClr val="1C67A6"/>
                    </a:solidFill>
                  </a:tcPr>
                </a:tc>
                <a:tc>
                  <a:txBody>
                    <a:bodyPr/>
                    <a:lstStyle/>
                    <a:p>
                      <a:r>
                        <a:rPr lang="zh-CN" altLang="en-US" sz="1000" b="1">
                          <a:solidFill>
                            <a:srgbClr val="FFFFFF"/>
                          </a:solidFill>
                          <a:latin typeface="Microsoft YaHei" panose="020B0503020204020204" pitchFamily="34" charset="-122"/>
                        </a:rPr>
                        <a:t>重点任务</a:t>
                      </a:r>
                    </a:p>
                  </a:txBody>
                  <a:tcPr>
                    <a:solidFill>
                      <a:srgbClr val="1C67A6"/>
                    </a:solidFill>
                  </a:tcPr>
                </a:tc>
                <a:tc>
                  <a:txBody>
                    <a:bodyPr/>
                    <a:lstStyle/>
                    <a:p>
                      <a:r>
                        <a:rPr lang="zh-CN" altLang="en-US" sz="1000" b="1">
                          <a:solidFill>
                            <a:srgbClr val="FFFFFF"/>
                          </a:solidFill>
                          <a:latin typeface="Microsoft YaHei" panose="020B0503020204020204" pitchFamily="34" charset="-122"/>
                        </a:rPr>
                        <a:t>预期产出</a:t>
                      </a:r>
                    </a:p>
                  </a:txBody>
                  <a:tcPr>
                    <a:solidFill>
                      <a:srgbClr val="1C67A6"/>
                    </a:solidFill>
                  </a:tcPr>
                </a:tc>
                <a:extLst>
                  <a:ext uri="{0D108BD9-81ED-4DB2-BD59-A6C34878D82A}">
                    <a16:rowId xmlns:a16="http://schemas.microsoft.com/office/drawing/2014/main" val="874349466"/>
                  </a:ext>
                </a:extLst>
              </a:tr>
              <a:tr h="571500">
                <a:tc>
                  <a:txBody>
                    <a:bodyPr/>
                    <a:lstStyle/>
                    <a:p>
                      <a:r>
                        <a:rPr lang="en-US" altLang="zh-CN" sz="1000">
                          <a:solidFill>
                            <a:srgbClr val="1B3355"/>
                          </a:solidFill>
                          <a:latin typeface="Microsoft YaHei" panose="020B0503020204020204" pitchFamily="34" charset="-122"/>
                        </a:rPr>
                        <a:t>2026.06</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zh-CN" altLang="en-US" sz="1000">
                          <a:solidFill>
                            <a:srgbClr val="1B3355"/>
                          </a:solidFill>
                          <a:latin typeface="Microsoft YaHei" panose="020B0503020204020204" pitchFamily="34" charset="-122"/>
                        </a:rPr>
                        <a:t>规模扩展与结果整理</a:t>
                      </a:r>
                    </a:p>
                  </a:txBody>
                  <a:tcPr>
                    <a:solidFill>
                      <a:srgbClr val="F5F8FB"/>
                    </a:solidFill>
                  </a:tcPr>
                </a:tc>
                <a:tc>
                  <a:txBody>
                    <a:bodyPr/>
                    <a:lstStyle/>
                    <a:p>
                      <a:r>
                        <a:rPr lang="zh-CN" altLang="en-US" sz="1000">
                          <a:solidFill>
                            <a:srgbClr val="1B3355"/>
                          </a:solidFill>
                          <a:latin typeface="Microsoft YaHei" panose="020B0503020204020204" pitchFamily="34" charset="-122"/>
                        </a:rPr>
                        <a:t>对比表、节点选择分布、置信区间</a:t>
                      </a:r>
                    </a:p>
                  </a:txBody>
                  <a:tcPr>
                    <a:solidFill>
                      <a:srgbClr val="F5F8FB"/>
                    </a:solidFill>
                  </a:tcPr>
                </a:tc>
                <a:extLst>
                  <a:ext uri="{0D108BD9-81ED-4DB2-BD59-A6C34878D82A}">
                    <a16:rowId xmlns:a16="http://schemas.microsoft.com/office/drawing/2014/main" val="3626887056"/>
                  </a:ext>
                </a:extLst>
              </a:tr>
              <a:tr h="571500">
                <a:tc>
                  <a:txBody>
                    <a:bodyPr/>
                    <a:lstStyle/>
                    <a:p>
                      <a:r>
                        <a:rPr lang="en-US" altLang="zh-CN" sz="1000">
                          <a:solidFill>
                            <a:srgbClr val="1B3355"/>
                          </a:solidFill>
                          <a:latin typeface="Microsoft YaHei" panose="020B0503020204020204" pitchFamily="34" charset="-122"/>
                        </a:rPr>
                        <a:t>2026.07</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zh-CN" altLang="en-US" sz="1000">
                          <a:solidFill>
                            <a:srgbClr val="1B3355"/>
                          </a:solidFill>
                          <a:latin typeface="Microsoft YaHei" panose="020B0503020204020204" pitchFamily="34" charset="-122"/>
                        </a:rPr>
                        <a:t>传统算法补充与消融实验</a:t>
                      </a:r>
                    </a:p>
                  </a:txBody>
                  <a:tcPr>
                    <a:solidFill>
                      <a:srgbClr val="F5F8FB"/>
                    </a:solidFill>
                  </a:tcPr>
                </a:tc>
                <a:tc>
                  <a:txBody>
                    <a:bodyPr/>
                    <a:lstStyle/>
                    <a:p>
                      <a:r>
                        <a:rPr lang="zh-CN" altLang="en-US" sz="1000">
                          <a:solidFill>
                            <a:srgbClr val="1B3355"/>
                          </a:solidFill>
                          <a:latin typeface="Microsoft YaHei" panose="020B0503020204020204" pitchFamily="34" charset="-122"/>
                        </a:rPr>
                        <a:t>不少于</a:t>
                      </a:r>
                      <a:r>
                        <a:rPr lang="en-US" altLang="zh-CN" sz="1000">
                          <a:solidFill>
                            <a:srgbClr val="1B3355"/>
                          </a:solidFill>
                          <a:latin typeface="Microsoft YaHei" panose="020B0503020204020204" pitchFamily="34" charset="-122"/>
                        </a:rPr>
                        <a:t>4</a:t>
                      </a:r>
                      <a:r>
                        <a:rPr lang="zh-CN" altLang="en-US" sz="1000">
                          <a:solidFill>
                            <a:srgbClr val="1B3355"/>
                          </a:solidFill>
                          <a:latin typeface="Microsoft YaHei" panose="020B0503020204020204" pitchFamily="34" charset="-122"/>
                        </a:rPr>
                        <a:t>组消融实验图表</a:t>
                      </a:r>
                    </a:p>
                  </a:txBody>
                  <a:tcPr>
                    <a:solidFill>
                      <a:srgbClr val="F5F8FB"/>
                    </a:solidFill>
                  </a:tcPr>
                </a:tc>
                <a:extLst>
                  <a:ext uri="{0D108BD9-81ED-4DB2-BD59-A6C34878D82A}">
                    <a16:rowId xmlns:a16="http://schemas.microsoft.com/office/drawing/2014/main" val="953989331"/>
                  </a:ext>
                </a:extLst>
              </a:tr>
              <a:tr h="571500">
                <a:tc>
                  <a:txBody>
                    <a:bodyPr/>
                    <a:lstStyle/>
                    <a:p>
                      <a:r>
                        <a:rPr lang="en-US" altLang="zh-CN" sz="1000">
                          <a:solidFill>
                            <a:srgbClr val="1B3355"/>
                          </a:solidFill>
                          <a:latin typeface="Microsoft YaHei" panose="020B0503020204020204" pitchFamily="34" charset="-122"/>
                        </a:rPr>
                        <a:t>2026.08</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zh-CN" altLang="en-US" sz="1000">
                          <a:solidFill>
                            <a:srgbClr val="1B3355"/>
                          </a:solidFill>
                          <a:latin typeface="Microsoft YaHei" panose="020B0503020204020204" pitchFamily="34" charset="-122"/>
                        </a:rPr>
                        <a:t>动态奖励公式化与多场景分析</a:t>
                      </a:r>
                    </a:p>
                  </a:txBody>
                  <a:tcPr>
                    <a:solidFill>
                      <a:srgbClr val="F5F8FB"/>
                    </a:solidFill>
                  </a:tcPr>
                </a:tc>
                <a:tc>
                  <a:txBody>
                    <a:bodyPr/>
                    <a:lstStyle/>
                    <a:p>
                      <a:r>
                        <a:rPr lang="zh-CN" altLang="en-US" sz="1000">
                          <a:solidFill>
                            <a:srgbClr val="1B3355"/>
                          </a:solidFill>
                          <a:latin typeface="Microsoft YaHei" panose="020B0503020204020204" pitchFamily="34" charset="-122"/>
                        </a:rPr>
                        <a:t>场景权重说明、失败案例分析</a:t>
                      </a:r>
                    </a:p>
                  </a:txBody>
                  <a:tcPr>
                    <a:solidFill>
                      <a:srgbClr val="F5F8FB"/>
                    </a:solidFill>
                  </a:tcPr>
                </a:tc>
                <a:extLst>
                  <a:ext uri="{0D108BD9-81ED-4DB2-BD59-A6C34878D82A}">
                    <a16:rowId xmlns:a16="http://schemas.microsoft.com/office/drawing/2014/main" val="1398255507"/>
                  </a:ext>
                </a:extLst>
              </a:tr>
              <a:tr h="571500">
                <a:tc>
                  <a:txBody>
                    <a:bodyPr/>
                    <a:lstStyle/>
                    <a:p>
                      <a:r>
                        <a:rPr lang="en-US" altLang="zh-CN" sz="1000">
                          <a:solidFill>
                            <a:srgbClr val="1B3355"/>
                          </a:solidFill>
                          <a:latin typeface="Microsoft YaHei" panose="020B0503020204020204" pitchFamily="34" charset="-122"/>
                        </a:rPr>
                        <a:t>2026.09</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zh-CN" altLang="en-US" sz="1000">
                          <a:solidFill>
                            <a:srgbClr val="1B3355"/>
                          </a:solidFill>
                          <a:latin typeface="Microsoft YaHei" panose="020B0503020204020204" pitchFamily="34" charset="-122"/>
                        </a:rPr>
                        <a:t>大规模重复实验与统计检验</a:t>
                      </a:r>
                    </a:p>
                  </a:txBody>
                  <a:tcPr>
                    <a:solidFill>
                      <a:srgbClr val="F5F8FB"/>
                    </a:solidFill>
                  </a:tcPr>
                </a:tc>
                <a:tc>
                  <a:txBody>
                    <a:bodyPr/>
                    <a:lstStyle/>
                    <a:p>
                      <a:r>
                        <a:rPr lang="zh-CN" altLang="en-US" sz="1000">
                          <a:solidFill>
                            <a:srgbClr val="1B3355"/>
                          </a:solidFill>
                          <a:latin typeface="Microsoft YaHei" panose="020B0503020204020204" pitchFamily="34" charset="-122"/>
                        </a:rPr>
                        <a:t>最终图表、显著性检验、实验结论</a:t>
                      </a:r>
                    </a:p>
                  </a:txBody>
                  <a:tcPr>
                    <a:solidFill>
                      <a:srgbClr val="F5F8FB"/>
                    </a:solidFill>
                  </a:tcPr>
                </a:tc>
                <a:extLst>
                  <a:ext uri="{0D108BD9-81ED-4DB2-BD59-A6C34878D82A}">
                    <a16:rowId xmlns:a16="http://schemas.microsoft.com/office/drawing/2014/main" val="532367422"/>
                  </a:ext>
                </a:extLst>
              </a:tr>
              <a:tr h="571500">
                <a:tc>
                  <a:txBody>
                    <a:bodyPr/>
                    <a:lstStyle/>
                    <a:p>
                      <a:r>
                        <a:rPr lang="en-US" altLang="zh-CN" sz="1000">
                          <a:solidFill>
                            <a:srgbClr val="1B3355"/>
                          </a:solidFill>
                          <a:latin typeface="Microsoft YaHei" panose="020B0503020204020204" pitchFamily="34" charset="-122"/>
                        </a:rPr>
                        <a:t>2026.10-2027.01</a:t>
                      </a:r>
                      <a:endParaRPr lang="zh-CN" altLang="en-US" sz="1000">
                        <a:solidFill>
                          <a:srgbClr val="1B3355"/>
                        </a:solidFill>
                        <a:latin typeface="Microsoft YaHei" panose="020B0503020204020204" pitchFamily="34" charset="-122"/>
                      </a:endParaRPr>
                    </a:p>
                  </a:txBody>
                  <a:tcPr>
                    <a:solidFill>
                      <a:srgbClr val="F5F8FB"/>
                    </a:solidFill>
                  </a:tcPr>
                </a:tc>
                <a:tc>
                  <a:txBody>
                    <a:bodyPr/>
                    <a:lstStyle/>
                    <a:p>
                      <a:r>
                        <a:rPr lang="zh-CN" altLang="en-US" sz="1000">
                          <a:solidFill>
                            <a:srgbClr val="1B3355"/>
                          </a:solidFill>
                          <a:latin typeface="Microsoft YaHei" panose="020B0503020204020204" pitchFamily="34" charset="-122"/>
                        </a:rPr>
                        <a:t>论文撰写与修改</a:t>
                      </a:r>
                    </a:p>
                  </a:txBody>
                  <a:tcPr>
                    <a:solidFill>
                      <a:srgbClr val="F5F8FB"/>
                    </a:solidFill>
                  </a:tcPr>
                </a:tc>
                <a:tc>
                  <a:txBody>
                    <a:bodyPr/>
                    <a:lstStyle/>
                    <a:p>
                      <a:r>
                        <a:rPr lang="zh-CN" altLang="en-US" sz="1000">
                          <a:solidFill>
                            <a:srgbClr val="1B3355"/>
                          </a:solidFill>
                          <a:latin typeface="Microsoft YaHei" panose="020B0503020204020204" pitchFamily="34" charset="-122"/>
                        </a:rPr>
                        <a:t>论文主体、代码与数据整理</a:t>
                      </a:r>
                    </a:p>
                  </a:txBody>
                  <a:tcPr>
                    <a:solidFill>
                      <a:srgbClr val="F5F8FB"/>
                    </a:solidFill>
                  </a:tcPr>
                </a:tc>
                <a:extLst>
                  <a:ext uri="{0D108BD9-81ED-4DB2-BD59-A6C34878D82A}">
                    <a16:rowId xmlns:a16="http://schemas.microsoft.com/office/drawing/2014/main" val="2443920143"/>
                  </a:ext>
                </a:extLst>
              </a:tr>
            </a:tbl>
          </a:graphicData>
        </a:graphic>
      </p:graphicFrame>
      <p:sp>
        <p:nvSpPr>
          <p:cNvPr id="11" name="文本框 10">
            <a:extLst>
              <a:ext uri="{FF2B5EF4-FFF2-40B4-BE49-F238E27FC236}">
                <a16:creationId xmlns:a16="http://schemas.microsoft.com/office/drawing/2014/main" id="{0BC6E8C3-D2D4-4C7F-8189-00A673BEDD53}"/>
              </a:ext>
            </a:extLst>
          </p:cNvPr>
          <p:cNvSpPr txBox="1"/>
          <p:nvPr/>
        </p:nvSpPr>
        <p:spPr>
          <a:xfrm>
            <a:off x="1143000" y="5143500"/>
            <a:ext cx="9652000" cy="364202"/>
          </a:xfrm>
          <a:prstGeom prst="rect">
            <a:avLst/>
          </a:prstGeom>
          <a:noFill/>
        </p:spPr>
        <p:txBody>
          <a:bodyPr vert="horz" lIns="76200" tIns="50800" rIns="76200" bIns="50800" rtlCol="0">
            <a:spAutoFit/>
          </a:bodyPr>
          <a:lstStyle/>
          <a:p>
            <a:pPr algn="ctr"/>
            <a:r>
              <a:rPr lang="zh-CN" altLang="en-US" sz="1700" b="1">
                <a:solidFill>
                  <a:srgbClr val="2A8FA0"/>
                </a:solidFill>
                <a:latin typeface="Microsoft YaHei" panose="020B0503020204020204" pitchFamily="34" charset="-122"/>
              </a:rPr>
              <a:t>总体目标：固定最终模型与实验配置，形成可复现、可解释、可写入论文主体的完整实验链条。</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4DD0B75-2985-4ECE-BA8F-08141C202139}"/>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2C537EDB-D3D1-4F6B-A3A8-4B61D575BEF9}"/>
              </a:ext>
            </a:extLst>
          </p:cNvPr>
          <p:cNvSpPr/>
          <p:nvPr/>
        </p:nvSpPr>
        <p:spPr>
          <a:xfrm>
            <a:off x="0" y="0"/>
            <a:ext cx="4389120" cy="6858000"/>
          </a:xfrm>
          <a:prstGeom prst="rect">
            <a:avLst/>
          </a:prstGeom>
          <a:solidFill>
            <a:srgbClr val="1B335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A3BF2FE7-2AD0-4472-B29D-3BF5BB009FF8}"/>
              </a:ext>
            </a:extLst>
          </p:cNvPr>
          <p:cNvSpPr txBox="1"/>
          <p:nvPr/>
        </p:nvSpPr>
        <p:spPr>
          <a:xfrm>
            <a:off x="5405120" y="2032000"/>
            <a:ext cx="5461000" cy="779701"/>
          </a:xfrm>
          <a:prstGeom prst="rect">
            <a:avLst/>
          </a:prstGeom>
          <a:noFill/>
        </p:spPr>
        <p:txBody>
          <a:bodyPr vert="horz" lIns="76200" tIns="50800" rIns="76200" bIns="50800" rtlCol="0">
            <a:spAutoFit/>
          </a:bodyPr>
          <a:lstStyle/>
          <a:p>
            <a:r>
              <a:rPr lang="zh-CN" altLang="en-US" sz="4400" b="1">
                <a:solidFill>
                  <a:srgbClr val="1B3355"/>
                </a:solidFill>
                <a:latin typeface="Microsoft YaHei" panose="020B0503020204020204" pitchFamily="34" charset="-122"/>
              </a:rPr>
              <a:t>感谢聆听</a:t>
            </a:r>
          </a:p>
        </p:txBody>
      </p:sp>
      <p:sp>
        <p:nvSpPr>
          <p:cNvPr id="6" name="文本框 5">
            <a:extLst>
              <a:ext uri="{FF2B5EF4-FFF2-40B4-BE49-F238E27FC236}">
                <a16:creationId xmlns:a16="http://schemas.microsoft.com/office/drawing/2014/main" id="{F689BAC2-BADE-499A-BEC4-0AF2E72E1AA3}"/>
              </a:ext>
            </a:extLst>
          </p:cNvPr>
          <p:cNvSpPr txBox="1"/>
          <p:nvPr/>
        </p:nvSpPr>
        <p:spPr>
          <a:xfrm>
            <a:off x="5455920" y="2984500"/>
            <a:ext cx="4572000" cy="441146"/>
          </a:xfrm>
          <a:prstGeom prst="rect">
            <a:avLst/>
          </a:prstGeom>
          <a:noFill/>
        </p:spPr>
        <p:txBody>
          <a:bodyPr vert="horz" lIns="76200" tIns="50800" rIns="76200" bIns="50800" rtlCol="0">
            <a:spAutoFit/>
          </a:bodyPr>
          <a:lstStyle/>
          <a:p>
            <a:r>
              <a:rPr lang="zh-CN" altLang="en-US" sz="2200" b="1">
                <a:solidFill>
                  <a:srgbClr val="2A8FA0"/>
                </a:solidFill>
                <a:latin typeface="Microsoft YaHei" panose="020B0503020204020204" pitchFamily="34" charset="-122"/>
              </a:rPr>
              <a:t>请各位老师批评指正</a:t>
            </a:r>
          </a:p>
        </p:txBody>
      </p:sp>
      <p:sp>
        <p:nvSpPr>
          <p:cNvPr id="7" name="矩形 6">
            <a:extLst>
              <a:ext uri="{FF2B5EF4-FFF2-40B4-BE49-F238E27FC236}">
                <a16:creationId xmlns:a16="http://schemas.microsoft.com/office/drawing/2014/main" id="{F4855D6D-A327-4B09-8C02-3677693A9B2A}"/>
              </a:ext>
            </a:extLst>
          </p:cNvPr>
          <p:cNvSpPr/>
          <p:nvPr/>
        </p:nvSpPr>
        <p:spPr>
          <a:xfrm>
            <a:off x="5506720" y="3708400"/>
            <a:ext cx="2032000" cy="63500"/>
          </a:xfrm>
          <a:prstGeom prst="rect">
            <a:avLst/>
          </a:prstGeom>
          <a:solidFill>
            <a:srgbClr val="DDAA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0A56EFE-79DA-4888-9BF3-FA393F5403F6}"/>
              </a:ext>
            </a:extLst>
          </p:cNvPr>
          <p:cNvSpPr txBox="1"/>
          <p:nvPr/>
        </p:nvSpPr>
        <p:spPr>
          <a:xfrm>
            <a:off x="812800" y="1397000"/>
            <a:ext cx="2921000" cy="528350"/>
          </a:xfrm>
          <a:prstGeom prst="rect">
            <a:avLst/>
          </a:prstGeom>
          <a:noFill/>
        </p:spPr>
        <p:txBody>
          <a:bodyPr vert="horz" lIns="76200" tIns="50800" rIns="76200" bIns="50800" rtlCol="0">
            <a:spAutoFit/>
          </a:bodyPr>
          <a:lstStyle/>
          <a:p>
            <a:r>
              <a:rPr lang="en-US" altLang="zh-CN" sz="2800" b="1">
                <a:solidFill>
                  <a:srgbClr val="DDAA48"/>
                </a:solidFill>
                <a:latin typeface="Microsoft YaHei" panose="020B0503020204020204" pitchFamily="34" charset="-122"/>
              </a:rPr>
              <a:t>THANK YOU</a:t>
            </a:r>
            <a:endParaRPr lang="zh-CN" altLang="en-US" sz="2800" b="1">
              <a:solidFill>
                <a:srgbClr val="DDAA48"/>
              </a:solidFill>
              <a:latin typeface="Microsoft YaHei" panose="020B0503020204020204" pitchFamily="34" charset="-122"/>
            </a:endParaRPr>
          </a:p>
        </p:txBody>
      </p:sp>
      <p:sp>
        <p:nvSpPr>
          <p:cNvPr id="9" name="文本框 8">
            <a:extLst>
              <a:ext uri="{FF2B5EF4-FFF2-40B4-BE49-F238E27FC236}">
                <a16:creationId xmlns:a16="http://schemas.microsoft.com/office/drawing/2014/main" id="{81FDE0B8-2CA7-4322-AA3F-6FF273A502E8}"/>
              </a:ext>
            </a:extLst>
          </p:cNvPr>
          <p:cNvSpPr txBox="1"/>
          <p:nvPr/>
        </p:nvSpPr>
        <p:spPr>
          <a:xfrm>
            <a:off x="838200" y="1968500"/>
            <a:ext cx="2286000" cy="302647"/>
          </a:xfrm>
          <a:prstGeom prst="rect">
            <a:avLst/>
          </a:prstGeom>
          <a:noFill/>
        </p:spPr>
        <p:txBody>
          <a:bodyPr vert="horz" lIns="76200" tIns="50800" rIns="76200" bIns="50800" rtlCol="0">
            <a:spAutoFit/>
          </a:bodyPr>
          <a:lstStyle/>
          <a:p>
            <a:r>
              <a:rPr lang="zh-CN" altLang="en-US" sz="1300">
                <a:solidFill>
                  <a:srgbClr val="FFFFFF"/>
                </a:solidFill>
                <a:latin typeface="Microsoft YaHei" panose="020B0503020204020204" pitchFamily="34" charset="-122"/>
              </a:rPr>
              <a:t>中期报告</a:t>
            </a:r>
          </a:p>
        </p:txBody>
      </p:sp>
    </p:spTree>
  </p:cSld>
  <p:clrMapOvr>
    <a:masterClrMapping/>
  </p:clrMapOvr>
  <mc:AlternateContent xmlns:mc="http://schemas.openxmlformats.org/markup-compatibility/2006" xmlns:p14="http://schemas.microsoft.com/office/powerpoint/2010/main">
    <mc:Choice Requires="p14">
      <p:transition spd="slow" p14:dur="2000" advTm="6165"/>
    </mc:Choice>
    <mc:Fallback xmlns="">
      <p:transition spd="slow" advTm="6165"/>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fb35fd71-8e29-4bd1-8ba7-3e3afef52b59"/>
  <p:tag name="COMMONDATA" val="eyJoZGlkIjoiZTNmNzMyOGIxMzg3M2IyMGEzOGQ5NjliODIwZjJhODQifQ=="/>
</p:tagLst>
</file>

<file path=ppt/theme/theme1.xml><?xml version="1.0" encoding="utf-8"?>
<a:theme xmlns:a="http://schemas.openxmlformats.org/drawingml/2006/main" name="Office 主题​​">
  <a:themeElements>
    <a:clrScheme name="自定义 99">
      <a:dk1>
        <a:sysClr val="windowText" lastClr="000000"/>
      </a:dk1>
      <a:lt1>
        <a:sysClr val="window" lastClr="FFFFFF"/>
      </a:lt1>
      <a:dk2>
        <a:srgbClr val="44546A"/>
      </a:dk2>
      <a:lt2>
        <a:srgbClr val="E7E6E6"/>
      </a:lt2>
      <a:accent1>
        <a:srgbClr val="000A59"/>
      </a:accent1>
      <a:accent2>
        <a:srgbClr val="F17D07"/>
      </a:accent2>
      <a:accent3>
        <a:srgbClr val="000A59"/>
      </a:accent3>
      <a:accent4>
        <a:srgbClr val="F17D07"/>
      </a:accent4>
      <a:accent5>
        <a:srgbClr val="000A59"/>
      </a:accent5>
      <a:accent6>
        <a:srgbClr val="F17D07"/>
      </a:accent6>
      <a:hlink>
        <a:srgbClr val="0563C1"/>
      </a:hlink>
      <a:folHlink>
        <a:srgbClr val="954F7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2441</TotalTime>
  <Words>1817</Words>
  <Application>Microsoft Office PowerPoint</Application>
  <PresentationFormat>宽屏</PresentationFormat>
  <Paragraphs>279</Paragraphs>
  <Slides>19</Slides>
  <Notes>12</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19</vt:i4>
      </vt:variant>
    </vt:vector>
  </HeadingPairs>
  <TitlesOfParts>
    <vt:vector size="27" baseType="lpstr">
      <vt:lpstr>Source Han Sans CN</vt:lpstr>
      <vt:lpstr>等线</vt:lpstr>
      <vt:lpstr>微软雅黑</vt:lpstr>
      <vt:lpstr>微软雅黑</vt:lpstr>
      <vt:lpstr>Arial</vt:lpstr>
      <vt:lpstr>Calibri</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神州网信技术有限公司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对展现形式要进行大幅改动 具体内容多用图片、微视频等生动的形式来展现 简洁、直观 有冲击力、印象深刻、容易让人记住 </dc:title>
  <dc:creator>孙婧娴</dc:creator>
  <cp:lastModifiedBy>星宇 王</cp:lastModifiedBy>
  <cp:revision>1471</cp:revision>
  <cp:lastPrinted>2022-02-21T09:51:00Z</cp:lastPrinted>
  <dcterms:created xsi:type="dcterms:W3CDTF">2022-02-21T09:51:00Z</dcterms:created>
  <dcterms:modified xsi:type="dcterms:W3CDTF">2026-05-28T06:51:13Z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A60CEF01DDEC4F6E90CCC32C7667000E_13</vt:lpwstr>
  </property>
</Properties>
</file>